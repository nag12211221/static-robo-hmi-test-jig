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 type="wide"/>
  <p:notesSz cx="6858000" cy="9144000"/>
  <p:defaultTextStyle>
    <a:defPPr>
      <a:defRPr lang="en-US"/>
    </a:defPPr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727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502920" y="502920"/>
            <a:ext cx="11155680" cy="5715000"/>
          </a:xfrm>
          <a:prstGeom prst="roundRect">
            <a:avLst/>
          </a:prstGeom>
          <a:solidFill>
            <a:srgbClr val="0B1F33"/>
          </a:solidFill>
          <a:ln w="15240">
            <a:solidFill>
              <a:srgbClr val="254B6E"/>
            </a:solidFill>
          </a:ln>
        </p:spPr>
      </p:sp>
      <p:sp>
        <p:nvSpPr>
          <p:cNvPr id="4" name="text 4"/>
          <p:cNvSpPr txBox="1"/>
          <p:nvPr/>
        </p:nvSpPr>
        <p:spPr>
          <a:xfrm>
            <a:off x="868680" y="960120"/>
            <a:ext cx="6949440" cy="47548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2500" dirty="0" b="1">
                <a:solidFill>
                  <a:srgbClr val="FFFFFF"/>
                </a:solidFill>
              </a:rPr>
              <a:t>STATIC ROBO HMI TEST JIG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896112" y="1572768"/>
            <a:ext cx="7223760" cy="56692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400" dirty="0">
                <a:solidFill>
                  <a:srgbClr val="C9D7E5"/>
                </a:solidFill>
              </a:rPr>
              <a:t>Professional research report: effectiveness, versatility, operating cost, and strategic advantages versus a robotic hand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96112" y="2505456"/>
            <a:ext cx="146304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000" dirty="0" b="1">
                <a:solidFill>
                  <a:srgbClr val="7DD3FC"/>
                </a:solidFill>
              </a:rPr>
              <a:t>Core thesis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896112" y="2816352"/>
            <a:ext cx="672084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800" dirty="0" b="1">
                <a:solidFill>
                  <a:srgbClr val="FFFFFF"/>
                </a:solidFill>
              </a:rPr>
              <a:t>For fixed HMI validation, a purpose-built static fixture provides higher repeatability, lower total cost, easier service, and better integration of camera feedback and cloud data than a dexterous robotic hand.</a:t>
            </a:r>
          </a:p>
        </p:txBody>
      </p:sp>
      <p:sp>
        <p:nvSpPr>
          <p:cNvPr id="8" name="shape 8"/>
          <p:cNvSpPr/>
          <p:nvPr/>
        </p:nvSpPr>
        <p:spPr>
          <a:xfrm>
            <a:off x="8366760" y="1143000"/>
            <a:ext cx="2514600" cy="352044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6B7C8D"/>
            </a:solidFill>
          </a:ln>
        </p:spPr>
      </p:sp>
      <p:sp>
        <p:nvSpPr>
          <p:cNvPr id="9" name="shape 9"/>
          <p:cNvSpPr/>
          <p:nvPr/>
        </p:nvSpPr>
        <p:spPr>
          <a:xfrm>
            <a:off x="8705088" y="1627632"/>
            <a:ext cx="1828800" cy="960120"/>
          </a:xfrm>
          <a:prstGeom prst="roundRect">
            <a:avLst/>
          </a:prstGeom>
          <a:solidFill>
            <a:srgbClr val="173B57"/>
          </a:solidFill>
          <a:ln w="12700">
            <a:solidFill>
              <a:srgbClr val="7DD3FC"/>
            </a:solidFill>
          </a:ln>
        </p:spPr>
      </p:sp>
      <p:sp>
        <p:nvSpPr>
          <p:cNvPr id="10" name="text 10"/>
          <p:cNvSpPr txBox="1"/>
          <p:nvPr/>
        </p:nvSpPr>
        <p:spPr>
          <a:xfrm>
            <a:off x="9052560" y="2002536"/>
            <a:ext cx="11430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800" dirty="0" b="1">
                <a:solidFill>
                  <a:srgbClr val="FFFFFF"/>
                </a:solidFill>
              </a:rPr>
              <a:t>HMI DISPLAY</a:t>
            </a:r>
          </a:p>
        </p:txBody>
      </p:sp>
      <p:sp>
        <p:nvSpPr>
          <p:cNvPr id="11" name="shape 11"/>
          <p:cNvSpPr/>
          <p:nvPr/>
        </p:nvSpPr>
        <p:spPr>
          <a:xfrm>
            <a:off x="8613648" y="2907792"/>
            <a:ext cx="2011680" cy="219456"/>
          </a:xfrm>
          <a:prstGeom prst="rect">
            <a:avLst/>
          </a:prstGeom>
          <a:solidFill>
            <a:srgbClr val="708090"/>
          </a:solidFill>
          <a:ln>
            <a:noFill/>
          </a:ln>
        </p:spPr>
      </p:sp>
      <p:sp>
        <p:nvSpPr>
          <p:cNvPr id="12" name="shape 12"/>
          <p:cNvSpPr/>
          <p:nvPr/>
        </p:nvSpPr>
        <p:spPr>
          <a:xfrm>
            <a:off x="8613648" y="4279392"/>
            <a:ext cx="2011680" cy="219456"/>
          </a:xfrm>
          <a:prstGeom prst="rect">
            <a:avLst/>
          </a:prstGeom>
          <a:solidFill>
            <a:srgbClr val="708090"/>
          </a:solidFill>
          <a:ln>
            <a:noFill/>
          </a:ln>
        </p:spPr>
      </p:sp>
      <p:sp>
        <p:nvSpPr>
          <p:cNvPr id="13" name="line 13"/>
          <p:cNvSpPr/>
          <p:nvPr/>
        </p:nvSpPr>
        <p:spPr>
          <a:xfrm flipH="0" flipV="1">
            <a:off x="8851392" y="2560320"/>
            <a:ext cx="1" cy="228600"/>
          </a:xfrm>
          <a:prstGeom prst="line">
            <a:avLst/>
          </a:prstGeom>
          <a:ln w="22860">
            <a:solidFill>
              <a:srgbClr val="FFB703"/>
            </a:solidFill>
            <a:headEnd type="triangle"/>
          </a:ln>
        </p:spPr>
      </p:sp>
      <p:sp>
        <p:nvSpPr>
          <p:cNvPr id="14" name="line 14"/>
          <p:cNvSpPr/>
          <p:nvPr/>
        </p:nvSpPr>
        <p:spPr>
          <a:xfrm flipH="0" flipV="1">
            <a:off x="8851392" y="4041648"/>
            <a:ext cx="1" cy="237743"/>
          </a:xfrm>
          <a:prstGeom prst="line">
            <a:avLst/>
          </a:prstGeom>
          <a:ln w="22860">
            <a:solidFill>
              <a:srgbClr val="FFB703"/>
            </a:solidFill>
            <a:headEnd type="triangle"/>
          </a:ln>
        </p:spPr>
      </p:sp>
      <p:sp>
        <p:nvSpPr>
          <p:cNvPr id="15" name="line 15"/>
          <p:cNvSpPr/>
          <p:nvPr/>
        </p:nvSpPr>
        <p:spPr>
          <a:xfrm flipH="0" flipV="1">
            <a:off x="9290304" y="2560320"/>
            <a:ext cx="1" cy="228600"/>
          </a:xfrm>
          <a:prstGeom prst="line">
            <a:avLst/>
          </a:prstGeom>
          <a:ln w="22860">
            <a:solidFill>
              <a:srgbClr val="FFB703"/>
            </a:solidFill>
            <a:headEnd type="triangle"/>
          </a:ln>
        </p:spPr>
      </p:sp>
      <p:sp>
        <p:nvSpPr>
          <p:cNvPr id="16" name="line 16"/>
          <p:cNvSpPr/>
          <p:nvPr/>
        </p:nvSpPr>
        <p:spPr>
          <a:xfrm flipH="0" flipV="1">
            <a:off x="9290304" y="4041648"/>
            <a:ext cx="1" cy="237743"/>
          </a:xfrm>
          <a:prstGeom prst="line">
            <a:avLst/>
          </a:prstGeom>
          <a:ln w="22860">
            <a:solidFill>
              <a:srgbClr val="FFB703"/>
            </a:solidFill>
            <a:headEnd type="triangle"/>
          </a:ln>
        </p:spPr>
      </p:sp>
      <p:sp>
        <p:nvSpPr>
          <p:cNvPr id="17" name="line 17"/>
          <p:cNvSpPr/>
          <p:nvPr/>
        </p:nvSpPr>
        <p:spPr>
          <a:xfrm flipH="0" flipV="1">
            <a:off x="9729216" y="2560320"/>
            <a:ext cx="1" cy="228600"/>
          </a:xfrm>
          <a:prstGeom prst="line">
            <a:avLst/>
          </a:prstGeom>
          <a:ln w="22860">
            <a:solidFill>
              <a:srgbClr val="FFB703"/>
            </a:solidFill>
            <a:headEnd type="triangle"/>
          </a:ln>
        </p:spPr>
      </p:sp>
      <p:sp>
        <p:nvSpPr>
          <p:cNvPr id="18" name="line 18"/>
          <p:cNvSpPr/>
          <p:nvPr/>
        </p:nvSpPr>
        <p:spPr>
          <a:xfrm flipH="0" flipV="1">
            <a:off x="9729216" y="4041648"/>
            <a:ext cx="1" cy="237743"/>
          </a:xfrm>
          <a:prstGeom prst="line">
            <a:avLst/>
          </a:prstGeom>
          <a:ln w="22860">
            <a:solidFill>
              <a:srgbClr val="FFB703"/>
            </a:solidFill>
            <a:headEnd type="triangle"/>
          </a:ln>
        </p:spPr>
      </p:sp>
      <p:sp>
        <p:nvSpPr>
          <p:cNvPr id="19" name="line 19"/>
          <p:cNvSpPr/>
          <p:nvPr/>
        </p:nvSpPr>
        <p:spPr>
          <a:xfrm flipH="0" flipV="1">
            <a:off x="10168128" y="2560320"/>
            <a:ext cx="1" cy="228600"/>
          </a:xfrm>
          <a:prstGeom prst="line">
            <a:avLst/>
          </a:prstGeom>
          <a:ln w="22860">
            <a:solidFill>
              <a:srgbClr val="FFB703"/>
            </a:solidFill>
            <a:headEnd type="triangle"/>
          </a:ln>
        </p:spPr>
      </p:sp>
      <p:sp>
        <p:nvSpPr>
          <p:cNvPr id="20" name="line 20"/>
          <p:cNvSpPr/>
          <p:nvPr/>
        </p:nvSpPr>
        <p:spPr>
          <a:xfrm flipH="0" flipV="1">
            <a:off x="10168128" y="4041648"/>
            <a:ext cx="1" cy="237743"/>
          </a:xfrm>
          <a:prstGeom prst="line">
            <a:avLst/>
          </a:prstGeom>
          <a:ln w="22860">
            <a:solidFill>
              <a:srgbClr val="FFB703"/>
            </a:solidFill>
            <a:headEnd type="triangle"/>
          </a:ln>
        </p:spPr>
      </p:sp>
      <p:sp>
        <p:nvSpPr>
          <p:cNvPr id="21" name="ellipse 21"/>
          <p:cNvSpPr/>
          <p:nvPr/>
        </p:nvSpPr>
        <p:spPr>
          <a:xfrm>
            <a:off x="10287000" y="3108960"/>
            <a:ext cx="347472" cy="219456"/>
          </a:xfrm>
          <a:prstGeom prst="ellipse">
            <a:avLst/>
          </a:prstGeom>
          <a:solidFill>
            <a:srgbClr val="00A6A6"/>
          </a:solidFill>
          <a:ln w="12700">
            <a:solidFill>
              <a:srgbClr val="B2F5EA"/>
            </a:solidFill>
          </a:ln>
        </p:spPr>
      </p:sp>
      <p:sp>
        <p:nvSpPr>
          <p:cNvPr id="22" name="text 22"/>
          <p:cNvSpPr txBox="1"/>
          <p:nvPr/>
        </p:nvSpPr>
        <p:spPr>
          <a:xfrm>
            <a:off x="10314432" y="3182112"/>
            <a:ext cx="274320" cy="7315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480" dirty="0" b="1">
                <a:solidFill>
                  <a:srgbClr val="FFFFFF"/>
                </a:solidFill>
              </a:rPr>
              <a:t>CAM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868680" y="5559552"/>
            <a:ext cx="65836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950" dirty="0">
                <a:solidFill>
                  <a:srgbClr val="A6B4C2"/>
                </a:solidFill>
              </a:rPr>
              <a:t>Prepared for HMI validation, production test, and in-vehicle endurance use cases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1F33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02920" y="310896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51206" rIns="73152" bIns="51206"/>
          <a:lstStyle/>
          <a:p>
            <a:pPr algn="l"/>
            <a:r>
              <a:rPr lang="en-US" sz="850" dirty="0" b="1">
                <a:solidFill>
                  <a:srgbClr val="1E5AA8"/>
                </a:solidFill>
              </a:rPr>
              <a:t>DECISION CONTEXT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502920" y="530352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2400" dirty="0" b="1">
                <a:solidFill>
                  <a:srgbClr val="102033"/>
                </a:solidFill>
              </a:rPr>
              <a:t>Executive summary</a:t>
            </a:r>
          </a:p>
        </p:txBody>
      </p:sp>
      <p:sp>
        <p:nvSpPr>
          <p:cNvPr id="5" name="line 5"/>
          <p:cNvSpPr/>
          <p:nvPr/>
        </p:nvSpPr>
        <p:spPr>
          <a:xfrm flipH="0" flipV="0">
            <a:off x="502920" y="1078992"/>
            <a:ext cx="11155680" cy="1"/>
          </a:xfrm>
          <a:prstGeom prst="line">
            <a:avLst/>
          </a:prstGeom>
          <a:ln w="12700">
            <a:solidFill>
              <a:srgbClr val="D5DDE5"/>
            </a:solidFill>
          </a:ln>
        </p:spPr>
      </p:sp>
      <p:sp>
        <p:nvSpPr>
          <p:cNvPr id="6" name="shape 6"/>
          <p:cNvSpPr/>
          <p:nvPr/>
        </p:nvSpPr>
        <p:spPr>
          <a:xfrm>
            <a:off x="594360" y="1417320"/>
            <a:ext cx="24688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5"/>
            </a:solidFill>
          </a:ln>
        </p:spPr>
      </p:sp>
      <p:sp>
        <p:nvSpPr>
          <p:cNvPr id="7" name="text 7"/>
          <p:cNvSpPr txBox="1"/>
          <p:nvPr/>
        </p:nvSpPr>
        <p:spPr>
          <a:xfrm>
            <a:off x="704088" y="1581912"/>
            <a:ext cx="2249424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2000" dirty="0" b="1">
                <a:solidFill>
                  <a:srgbClr val="2E7D32"/>
                </a:solidFill>
              </a:rPr>
              <a:t>Static jig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731520" y="1984248"/>
            <a:ext cx="21945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900" dirty="0" b="1">
                <a:solidFill>
                  <a:srgbClr val="102033"/>
                </a:solidFill>
              </a:rPr>
              <a:t>recommended platform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758952" y="2258568"/>
            <a:ext cx="2139696" cy="411479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750" dirty="0">
                <a:solidFill>
                  <a:srgbClr val="52667A"/>
                </a:solidFill>
              </a:rPr>
              <a:t>Purpose-built for repeatable HMI actuation and verification</a:t>
            </a:r>
          </a:p>
        </p:txBody>
      </p:sp>
      <p:sp>
        <p:nvSpPr>
          <p:cNvPr id="10" name="shape 10"/>
          <p:cNvSpPr/>
          <p:nvPr/>
        </p:nvSpPr>
        <p:spPr>
          <a:xfrm>
            <a:off x="3337560" y="1417320"/>
            <a:ext cx="24688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5"/>
            </a:solidFill>
          </a:ln>
        </p:spPr>
      </p:sp>
      <p:sp>
        <p:nvSpPr>
          <p:cNvPr id="11" name="text 11"/>
          <p:cNvSpPr txBox="1"/>
          <p:nvPr/>
        </p:nvSpPr>
        <p:spPr>
          <a:xfrm>
            <a:off x="3447288" y="1581912"/>
            <a:ext cx="2249424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2000" dirty="0" b="1">
                <a:solidFill>
                  <a:srgbClr val="1E5AA8"/>
                </a:solidFill>
              </a:rPr>
              <a:t>Lower TCO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3474720" y="1984248"/>
            <a:ext cx="21945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900" dirty="0" b="1">
                <a:solidFill>
                  <a:srgbClr val="102033"/>
                </a:solidFill>
              </a:rPr>
              <a:t>ownership profile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3502152" y="2258568"/>
            <a:ext cx="2139696" cy="411479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750" dirty="0">
                <a:solidFill>
                  <a:srgbClr val="52667A"/>
                </a:solidFill>
              </a:rPr>
              <a:t>Commodity components, easier repairs, less calibration</a:t>
            </a:r>
          </a:p>
        </p:txBody>
      </p:sp>
      <p:sp>
        <p:nvSpPr>
          <p:cNvPr id="14" name="shape 14"/>
          <p:cNvSpPr/>
          <p:nvPr/>
        </p:nvSpPr>
        <p:spPr>
          <a:xfrm>
            <a:off x="6080760" y="1417320"/>
            <a:ext cx="24688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5"/>
            </a:solidFill>
          </a:ln>
        </p:spPr>
      </p:sp>
      <p:sp>
        <p:nvSpPr>
          <p:cNvPr id="15" name="text 15"/>
          <p:cNvSpPr txBox="1"/>
          <p:nvPr/>
        </p:nvSpPr>
        <p:spPr>
          <a:xfrm>
            <a:off x="6190488" y="1581912"/>
            <a:ext cx="2249424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2000" dirty="0" b="1">
                <a:solidFill>
                  <a:srgbClr val="0097A7"/>
                </a:solidFill>
              </a:rPr>
              <a:t>Portable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6217920" y="1984248"/>
            <a:ext cx="21945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900" dirty="0" b="1">
                <a:solidFill>
                  <a:srgbClr val="102033"/>
                </a:solidFill>
              </a:rPr>
              <a:t>deployment profile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6245352" y="2258568"/>
            <a:ext cx="2139696" cy="411479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750" dirty="0">
                <a:solidFill>
                  <a:srgbClr val="52667A"/>
                </a:solidFill>
              </a:rPr>
              <a:t>Compact enough for bench, field, and vehicle cabin testing</a:t>
            </a:r>
          </a:p>
        </p:txBody>
      </p:sp>
      <p:sp>
        <p:nvSpPr>
          <p:cNvPr id="18" name="shape 18"/>
          <p:cNvSpPr/>
          <p:nvPr/>
        </p:nvSpPr>
        <p:spPr>
          <a:xfrm>
            <a:off x="8823960" y="1417320"/>
            <a:ext cx="24688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5"/>
            </a:solidFill>
          </a:ln>
        </p:spPr>
      </p:sp>
      <p:sp>
        <p:nvSpPr>
          <p:cNvPr id="19" name="text 19"/>
          <p:cNvSpPr txBox="1"/>
          <p:nvPr/>
        </p:nvSpPr>
        <p:spPr>
          <a:xfrm>
            <a:off x="8933688" y="1581912"/>
            <a:ext cx="2249424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2000" dirty="0" b="1">
                <a:solidFill>
                  <a:srgbClr val="B26A00"/>
                </a:solidFill>
              </a:rPr>
              <a:t>Higher traceability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8961120" y="1984248"/>
            <a:ext cx="21945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900" dirty="0" b="1">
                <a:solidFill>
                  <a:srgbClr val="102033"/>
                </a:solidFill>
              </a:rPr>
              <a:t>data quality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8988552" y="2258568"/>
            <a:ext cx="2139696" cy="411479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750" dirty="0">
                <a:solidFill>
                  <a:srgbClr val="52667A"/>
                </a:solidFill>
              </a:rPr>
              <a:t>Camera + electrical + cloud records in one sequence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594360" y="3246120"/>
            <a:ext cx="2331720" cy="502920"/>
          </a:xfrm>
          <a:prstGeom prst="rect">
            <a:avLst/>
          </a:prstGeom>
          <a:solidFill>
            <a:srgbClr val="0B1F33"/>
          </a:solidFill>
          <a:ln w="12700">
            <a:solidFill>
              <a:srgbClr val="FFFFFF"/>
            </a:solidFill>
          </a:ln>
        </p:spPr>
        <p:txBody>
          <a:bodyPr wrap="square" anchor="ctr" lIns="36576" tIns="25603" rIns="36576" bIns="25603"/>
          <a:lstStyle/>
          <a:p>
            <a:pPr algn="ctr"/>
            <a:r>
              <a:rPr lang="en-US" sz="860" dirty="0" b="1">
                <a:solidFill>
                  <a:srgbClr val="FFFFFF"/>
                </a:solidFill>
              </a:rPr>
              <a:t>Question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2926079" y="3246120"/>
            <a:ext cx="3840480" cy="502920"/>
          </a:xfrm>
          <a:prstGeom prst="rect">
            <a:avLst/>
          </a:prstGeom>
          <a:solidFill>
            <a:srgbClr val="0B1F33"/>
          </a:solidFill>
          <a:ln w="12700">
            <a:solidFill>
              <a:srgbClr val="FFFFFF"/>
            </a:solidFill>
          </a:ln>
        </p:spPr>
        <p:txBody>
          <a:bodyPr wrap="square" anchor="ctr" lIns="36576" tIns="25603" rIns="36576" bIns="25603"/>
          <a:lstStyle/>
          <a:p>
            <a:pPr algn="ctr"/>
            <a:r>
              <a:rPr lang="en-US" sz="860" dirty="0" b="1">
                <a:solidFill>
                  <a:srgbClr val="FFFFFF"/>
                </a:solidFill>
              </a:rPr>
              <a:t>Static HMI Test Jig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6766560" y="3246120"/>
            <a:ext cx="3840480" cy="502920"/>
          </a:xfrm>
          <a:prstGeom prst="rect">
            <a:avLst/>
          </a:prstGeom>
          <a:solidFill>
            <a:srgbClr val="0B1F33"/>
          </a:solidFill>
          <a:ln w="12700">
            <a:solidFill>
              <a:srgbClr val="FFFFFF"/>
            </a:solidFill>
          </a:ln>
        </p:spPr>
        <p:txBody>
          <a:bodyPr wrap="square" anchor="ctr" lIns="36576" tIns="25603" rIns="36576" bIns="25603"/>
          <a:lstStyle/>
          <a:p>
            <a:pPr algn="ctr"/>
            <a:r>
              <a:rPr lang="en-US" sz="860" dirty="0" b="1">
                <a:solidFill>
                  <a:srgbClr val="FFFFFF"/>
                </a:solidFill>
              </a:rPr>
              <a:t>Robotic Hand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594360" y="3749039"/>
            <a:ext cx="23317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What is optimized?</a:t>
            </a:r>
          </a:p>
        </p:txBody>
      </p:sp>
      <p:sp>
        <p:nvSpPr>
          <p:cNvPr id="26" name="text 26"/>
          <p:cNvSpPr txBox="1"/>
          <p:nvPr/>
        </p:nvSpPr>
        <p:spPr>
          <a:xfrm>
            <a:off x="2926079" y="3749039"/>
            <a:ext cx="3840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Known HMI test points, visual verification, repeatability</a:t>
            </a:r>
          </a:p>
        </p:txBody>
      </p:sp>
      <p:sp>
        <p:nvSpPr>
          <p:cNvPr id="27" name="text 27"/>
          <p:cNvSpPr txBox="1"/>
          <p:nvPr/>
        </p:nvSpPr>
        <p:spPr>
          <a:xfrm>
            <a:off x="6766560" y="3749039"/>
            <a:ext cx="3840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General human-like manipulation</a:t>
            </a:r>
          </a:p>
        </p:txBody>
      </p:sp>
      <p:sp>
        <p:nvSpPr>
          <p:cNvPr id="28" name="text 28"/>
          <p:cNvSpPr txBox="1"/>
          <p:nvPr/>
        </p:nvSpPr>
        <p:spPr>
          <a:xfrm>
            <a:off x="594360" y="4251960"/>
            <a:ext cx="2331720" cy="502920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Best operating environment</a:t>
            </a:r>
          </a:p>
        </p:txBody>
      </p:sp>
      <p:sp>
        <p:nvSpPr>
          <p:cNvPr id="29" name="text 29"/>
          <p:cNvSpPr txBox="1"/>
          <p:nvPr/>
        </p:nvSpPr>
        <p:spPr>
          <a:xfrm>
            <a:off x="2926079" y="4251960"/>
            <a:ext cx="3840480" cy="502920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Production, validation lab, field diagnostics, in-vehicle endurance</a:t>
            </a:r>
          </a:p>
        </p:txBody>
      </p:sp>
      <p:sp>
        <p:nvSpPr>
          <p:cNvPr id="30" name="text 30"/>
          <p:cNvSpPr txBox="1"/>
          <p:nvPr/>
        </p:nvSpPr>
        <p:spPr>
          <a:xfrm>
            <a:off x="6766560" y="4251960"/>
            <a:ext cx="3840480" cy="502920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Research lab, manipulation research, unknown objects</a:t>
            </a:r>
          </a:p>
        </p:txBody>
      </p:sp>
      <p:sp>
        <p:nvSpPr>
          <p:cNvPr id="31" name="text 31"/>
          <p:cNvSpPr txBox="1"/>
          <p:nvPr/>
        </p:nvSpPr>
        <p:spPr>
          <a:xfrm>
            <a:off x="594360" y="4754880"/>
            <a:ext cx="23317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Main advantage</a:t>
            </a:r>
          </a:p>
        </p:txBody>
      </p:sp>
      <p:sp>
        <p:nvSpPr>
          <p:cNvPr id="32" name="text 32"/>
          <p:cNvSpPr txBox="1"/>
          <p:nvPr/>
        </p:nvSpPr>
        <p:spPr>
          <a:xfrm>
            <a:off x="2926079" y="4754880"/>
            <a:ext cx="3840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Lower cost, high repeatability, modular scaling</a:t>
            </a:r>
          </a:p>
        </p:txBody>
      </p:sp>
      <p:sp>
        <p:nvSpPr>
          <p:cNvPr id="33" name="text 33"/>
          <p:cNvSpPr txBox="1"/>
          <p:nvPr/>
        </p:nvSpPr>
        <p:spPr>
          <a:xfrm>
            <a:off x="6766560" y="4754880"/>
            <a:ext cx="3840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High dexterity for variable manipulation tasks</a:t>
            </a:r>
          </a:p>
        </p:txBody>
      </p:sp>
      <p:sp>
        <p:nvSpPr>
          <p:cNvPr id="34" name="text 34"/>
          <p:cNvSpPr txBox="1"/>
          <p:nvPr/>
        </p:nvSpPr>
        <p:spPr>
          <a:xfrm>
            <a:off x="594360" y="5257800"/>
            <a:ext cx="2331720" cy="502920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Main weakness</a:t>
            </a:r>
          </a:p>
        </p:txBody>
      </p:sp>
      <p:sp>
        <p:nvSpPr>
          <p:cNvPr id="35" name="text 35"/>
          <p:cNvSpPr txBox="1"/>
          <p:nvPr/>
        </p:nvSpPr>
        <p:spPr>
          <a:xfrm>
            <a:off x="2926079" y="5257800"/>
            <a:ext cx="3840480" cy="502920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Needs fixture adaptation for each HMI family</a:t>
            </a:r>
          </a:p>
        </p:txBody>
      </p:sp>
      <p:sp>
        <p:nvSpPr>
          <p:cNvPr id="36" name="text 36"/>
          <p:cNvSpPr txBox="1"/>
          <p:nvPr/>
        </p:nvSpPr>
        <p:spPr>
          <a:xfrm>
            <a:off x="6766560" y="5257800"/>
            <a:ext cx="3840480" cy="502920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High cost, high complexity, more maintenance</a:t>
            </a:r>
          </a:p>
        </p:txBody>
      </p:sp>
      <p:sp>
        <p:nvSpPr>
          <p:cNvPr id="37" name="text 37"/>
          <p:cNvSpPr txBox="1"/>
          <p:nvPr/>
        </p:nvSpPr>
        <p:spPr>
          <a:xfrm>
            <a:off x="594360" y="5760720"/>
            <a:ext cx="23317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Recommendation</a:t>
            </a:r>
          </a:p>
        </p:txBody>
      </p:sp>
      <p:sp>
        <p:nvSpPr>
          <p:cNvPr id="38" name="text 38"/>
          <p:cNvSpPr txBox="1"/>
          <p:nvPr/>
        </p:nvSpPr>
        <p:spPr>
          <a:xfrm>
            <a:off x="2926079" y="5760720"/>
            <a:ext cx="3840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Use as primary HMI validation platform</a:t>
            </a:r>
          </a:p>
        </p:txBody>
      </p:sp>
      <p:sp>
        <p:nvSpPr>
          <p:cNvPr id="39" name="text 39"/>
          <p:cNvSpPr txBox="1"/>
          <p:nvPr/>
        </p:nvSpPr>
        <p:spPr>
          <a:xfrm>
            <a:off x="6766560" y="5760720"/>
            <a:ext cx="3840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Use only if human-like manipulation is truly required</a:t>
            </a:r>
          </a:p>
        </p:txBody>
      </p:sp>
      <p:sp>
        <p:nvSpPr>
          <p:cNvPr id="40" name="text 40"/>
          <p:cNvSpPr txBox="1"/>
          <p:nvPr/>
        </p:nvSpPr>
        <p:spPr>
          <a:xfrm>
            <a:off x="502920" y="6473952"/>
            <a:ext cx="56692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720" dirty="0">
                <a:solidFill>
                  <a:srgbClr val="708090"/>
                </a:solidFill>
              </a:rPr>
              <a:t>Static Robo HMI Test Jig vs. Robotic Hand  |  Research Deck</a:t>
            </a:r>
          </a:p>
        </p:txBody>
      </p:sp>
      <p:sp>
        <p:nvSpPr>
          <p:cNvPr id="41" name="text 41"/>
          <p:cNvSpPr txBox="1"/>
          <p:nvPr/>
        </p:nvSpPr>
        <p:spPr>
          <a:xfrm>
            <a:off x="11384280" y="6473952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/>
            <a:r>
              <a:rPr lang="en-US" sz="720" dirty="0">
                <a:solidFill>
                  <a:srgbClr val="708090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1F33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02920" y="310896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51206" rIns="73152" bIns="51206"/>
          <a:lstStyle/>
          <a:p>
            <a:pPr algn="l"/>
            <a:r>
              <a:rPr lang="en-US" sz="850" dirty="0" b="1">
                <a:solidFill>
                  <a:srgbClr val="1E5AA8"/>
                </a:solidFill>
              </a:rPr>
              <a:t>ENGINEERING FIT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502920" y="530352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2400" dirty="0" b="1">
                <a:solidFill>
                  <a:srgbClr val="102033"/>
                </a:solidFill>
              </a:rPr>
              <a:t>Fit-for-purpose comparison: HMI validation needs measurement, not human imitation</a:t>
            </a:r>
          </a:p>
        </p:txBody>
      </p:sp>
      <p:sp>
        <p:nvSpPr>
          <p:cNvPr id="5" name="line 5"/>
          <p:cNvSpPr/>
          <p:nvPr/>
        </p:nvSpPr>
        <p:spPr>
          <a:xfrm flipH="0" flipV="0">
            <a:off x="502920" y="1078992"/>
            <a:ext cx="11155680" cy="1"/>
          </a:xfrm>
          <a:prstGeom prst="line">
            <a:avLst/>
          </a:prstGeom>
          <a:ln w="12700">
            <a:solidFill>
              <a:srgbClr val="D5DDE5"/>
            </a:solidFill>
          </a:ln>
        </p:spPr>
      </p:sp>
      <p:sp>
        <p:nvSpPr>
          <p:cNvPr id="6" name="shape 6"/>
          <p:cNvSpPr/>
          <p:nvPr/>
        </p:nvSpPr>
        <p:spPr>
          <a:xfrm>
            <a:off x="594360" y="1325880"/>
            <a:ext cx="52120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5"/>
            </a:solidFill>
          </a:ln>
        </p:spPr>
      </p:sp>
      <p:sp>
        <p:nvSpPr>
          <p:cNvPr id="7" name="shape 7"/>
          <p:cNvSpPr/>
          <p:nvPr/>
        </p:nvSpPr>
        <p:spPr>
          <a:xfrm>
            <a:off x="594360" y="1325880"/>
            <a:ext cx="73152" cy="1097280"/>
          </a:xfrm>
          <a:prstGeom prst="rect">
            <a:avLst/>
          </a:prstGeom>
          <a:solidFill>
            <a:srgbClr val="1E5AA8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758952" y="1453895"/>
            <a:ext cx="48920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100" dirty="0" b="1">
                <a:solidFill>
                  <a:srgbClr val="1E5AA8"/>
                </a:solidFill>
              </a:rPr>
              <a:t>HMI validation requirement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758952" y="1783080"/>
            <a:ext cx="48920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880" dirty="0">
                <a:solidFill>
                  <a:srgbClr val="52667A"/>
                </a:solidFill>
              </a:rPr>
              <a:t>A test system must press/touch/turn known controls, verify screen response, record data, and repeat the sequence hundreds or thousands of times with stable geometry.</a:t>
            </a:r>
          </a:p>
        </p:txBody>
      </p:sp>
      <p:sp>
        <p:nvSpPr>
          <p:cNvPr id="10" name="shape 10"/>
          <p:cNvSpPr/>
          <p:nvPr/>
        </p:nvSpPr>
        <p:spPr>
          <a:xfrm>
            <a:off x="6355080" y="1325880"/>
            <a:ext cx="52120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5"/>
            </a:solidFill>
          </a:ln>
        </p:spPr>
      </p:sp>
      <p:sp>
        <p:nvSpPr>
          <p:cNvPr id="11" name="shape 11"/>
          <p:cNvSpPr/>
          <p:nvPr/>
        </p:nvSpPr>
        <p:spPr>
          <a:xfrm>
            <a:off x="6355080" y="1325880"/>
            <a:ext cx="73152" cy="1097280"/>
          </a:xfrm>
          <a:prstGeom prst="rect">
            <a:avLst/>
          </a:prstGeom>
          <a:solidFill>
            <a:srgbClr val="9E2A2B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6519672" y="1453895"/>
            <a:ext cx="48920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100" dirty="0" b="1">
                <a:solidFill>
                  <a:srgbClr val="9E2A2B"/>
                </a:solidFill>
              </a:rPr>
              <a:t>Robotic hand mismatch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6519672" y="1783080"/>
            <a:ext cx="48920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880" dirty="0">
                <a:solidFill>
                  <a:srgbClr val="52667A"/>
                </a:solidFill>
              </a:rPr>
              <a:t>A robotic hand spends cost and complexity on dexterity, grasping, joint coordination, and human-like motion that usually does not improve HMI pass/fail confidence.</a:t>
            </a:r>
          </a:p>
        </p:txBody>
      </p:sp>
      <p:sp>
        <p:nvSpPr>
          <p:cNvPr id="14" name="shape 14"/>
          <p:cNvSpPr/>
          <p:nvPr/>
        </p:nvSpPr>
        <p:spPr>
          <a:xfrm>
            <a:off x="960120" y="2834640"/>
            <a:ext cx="3566160" cy="292608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</p:sp>
      <p:sp>
        <p:nvSpPr>
          <p:cNvPr id="15" name="text 15"/>
          <p:cNvSpPr txBox="1"/>
          <p:nvPr/>
        </p:nvSpPr>
        <p:spPr>
          <a:xfrm>
            <a:off x="1143000" y="2907792"/>
            <a:ext cx="3108960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800" dirty="0" b="1">
                <a:solidFill>
                  <a:srgbClr val="FFFFFF"/>
                </a:solidFill>
              </a:rPr>
              <a:t>contact location</a:t>
            </a:r>
          </a:p>
        </p:txBody>
      </p:sp>
      <p:sp>
        <p:nvSpPr>
          <p:cNvPr id="16" name="shape 16"/>
          <p:cNvSpPr/>
          <p:nvPr/>
        </p:nvSpPr>
        <p:spPr>
          <a:xfrm>
            <a:off x="960120" y="3246120"/>
            <a:ext cx="3566160" cy="292608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</p:sp>
      <p:sp>
        <p:nvSpPr>
          <p:cNvPr id="17" name="text 17"/>
          <p:cNvSpPr txBox="1"/>
          <p:nvPr/>
        </p:nvSpPr>
        <p:spPr>
          <a:xfrm>
            <a:off x="1143000" y="3319272"/>
            <a:ext cx="3108960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800" dirty="0" b="1">
                <a:solidFill>
                  <a:srgbClr val="FFFFFF"/>
                </a:solidFill>
              </a:rPr>
              <a:t>force / dwell time</a:t>
            </a:r>
          </a:p>
        </p:txBody>
      </p:sp>
      <p:sp>
        <p:nvSpPr>
          <p:cNvPr id="18" name="shape 18"/>
          <p:cNvSpPr/>
          <p:nvPr/>
        </p:nvSpPr>
        <p:spPr>
          <a:xfrm>
            <a:off x="960120" y="3657600"/>
            <a:ext cx="3566160" cy="292608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</p:sp>
      <p:sp>
        <p:nvSpPr>
          <p:cNvPr id="19" name="text 19"/>
          <p:cNvSpPr txBox="1"/>
          <p:nvPr/>
        </p:nvSpPr>
        <p:spPr>
          <a:xfrm>
            <a:off x="1143000" y="3730752"/>
            <a:ext cx="3108960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800" dirty="0" b="1">
                <a:solidFill>
                  <a:srgbClr val="FFFFFF"/>
                </a:solidFill>
              </a:rPr>
              <a:t>screen verification</a:t>
            </a:r>
          </a:p>
        </p:txBody>
      </p:sp>
      <p:sp>
        <p:nvSpPr>
          <p:cNvPr id="20" name="shape 20"/>
          <p:cNvSpPr/>
          <p:nvPr/>
        </p:nvSpPr>
        <p:spPr>
          <a:xfrm>
            <a:off x="960120" y="4069080"/>
            <a:ext cx="3566160" cy="292608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</p:sp>
      <p:sp>
        <p:nvSpPr>
          <p:cNvPr id="21" name="text 21"/>
          <p:cNvSpPr txBox="1"/>
          <p:nvPr/>
        </p:nvSpPr>
        <p:spPr>
          <a:xfrm>
            <a:off x="1143000" y="4142232"/>
            <a:ext cx="3108960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800" dirty="0" b="1">
                <a:solidFill>
                  <a:srgbClr val="FFFFFF"/>
                </a:solidFill>
              </a:rPr>
              <a:t>data traceability</a:t>
            </a:r>
          </a:p>
        </p:txBody>
      </p:sp>
      <p:sp>
        <p:nvSpPr>
          <p:cNvPr id="22" name="shape 22"/>
          <p:cNvSpPr/>
          <p:nvPr/>
        </p:nvSpPr>
        <p:spPr>
          <a:xfrm>
            <a:off x="960120" y="4480560"/>
            <a:ext cx="3566160" cy="292608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</p:sp>
      <p:sp>
        <p:nvSpPr>
          <p:cNvPr id="23" name="text 23"/>
          <p:cNvSpPr txBox="1"/>
          <p:nvPr/>
        </p:nvSpPr>
        <p:spPr>
          <a:xfrm>
            <a:off x="1143000" y="4553712"/>
            <a:ext cx="3108960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800" dirty="0" b="1">
                <a:solidFill>
                  <a:srgbClr val="FFFFFF"/>
                </a:solidFill>
              </a:rPr>
              <a:t>service uptime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822960" y="5166360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1100" dirty="0" b="1">
                <a:solidFill>
                  <a:srgbClr val="102033"/>
                </a:solidFill>
              </a:rPr>
              <a:t>Static jig aligns directly with the HMI test stack</a:t>
            </a:r>
          </a:p>
        </p:txBody>
      </p:sp>
      <p:sp>
        <p:nvSpPr>
          <p:cNvPr id="25" name="shape 25"/>
          <p:cNvSpPr/>
          <p:nvPr/>
        </p:nvSpPr>
        <p:spPr>
          <a:xfrm>
            <a:off x="7360920" y="2834640"/>
            <a:ext cx="3566160" cy="292608"/>
          </a:xfrm>
          <a:prstGeom prst="roundRect">
            <a:avLst/>
          </a:prstGeom>
          <a:solidFill>
            <a:srgbClr val="9E2A2B"/>
          </a:solidFill>
          <a:ln>
            <a:noFill/>
          </a:ln>
        </p:spPr>
      </p:sp>
      <p:sp>
        <p:nvSpPr>
          <p:cNvPr id="26" name="text 26"/>
          <p:cNvSpPr txBox="1"/>
          <p:nvPr/>
        </p:nvSpPr>
        <p:spPr>
          <a:xfrm>
            <a:off x="7543800" y="2907792"/>
            <a:ext cx="3108960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800" dirty="0" b="1">
                <a:solidFill>
                  <a:srgbClr val="FFFFFF"/>
                </a:solidFill>
              </a:rPr>
              <a:t>finger kinematics</a:t>
            </a:r>
          </a:p>
        </p:txBody>
      </p:sp>
      <p:sp>
        <p:nvSpPr>
          <p:cNvPr id="27" name="shape 27"/>
          <p:cNvSpPr/>
          <p:nvPr/>
        </p:nvSpPr>
        <p:spPr>
          <a:xfrm>
            <a:off x="7360920" y="3246120"/>
            <a:ext cx="3566160" cy="292608"/>
          </a:xfrm>
          <a:prstGeom prst="roundRect">
            <a:avLst/>
          </a:prstGeom>
          <a:solidFill>
            <a:srgbClr val="9E2A2B"/>
          </a:solidFill>
          <a:ln>
            <a:noFill/>
          </a:ln>
        </p:spPr>
      </p:sp>
      <p:sp>
        <p:nvSpPr>
          <p:cNvPr id="28" name="text 28"/>
          <p:cNvSpPr txBox="1"/>
          <p:nvPr/>
        </p:nvSpPr>
        <p:spPr>
          <a:xfrm>
            <a:off x="7543800" y="3319272"/>
            <a:ext cx="3108960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800" dirty="0" b="1">
                <a:solidFill>
                  <a:srgbClr val="FFFFFF"/>
                </a:solidFill>
              </a:rPr>
              <a:t>grip planning</a:t>
            </a:r>
          </a:p>
        </p:txBody>
      </p:sp>
      <p:sp>
        <p:nvSpPr>
          <p:cNvPr id="29" name="shape 29"/>
          <p:cNvSpPr/>
          <p:nvPr/>
        </p:nvSpPr>
        <p:spPr>
          <a:xfrm>
            <a:off x="7360920" y="3657600"/>
            <a:ext cx="3566160" cy="292608"/>
          </a:xfrm>
          <a:prstGeom prst="roundRect">
            <a:avLst/>
          </a:prstGeom>
          <a:solidFill>
            <a:srgbClr val="9E2A2B"/>
          </a:solidFill>
          <a:ln>
            <a:noFill/>
          </a:ln>
        </p:spPr>
      </p:sp>
      <p:sp>
        <p:nvSpPr>
          <p:cNvPr id="30" name="text 30"/>
          <p:cNvSpPr txBox="1"/>
          <p:nvPr/>
        </p:nvSpPr>
        <p:spPr>
          <a:xfrm>
            <a:off x="7543800" y="3730752"/>
            <a:ext cx="3108960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800" dirty="0" b="1">
                <a:solidFill>
                  <a:srgbClr val="FFFFFF"/>
                </a:solidFill>
              </a:rPr>
              <a:t>joint calibration</a:t>
            </a:r>
          </a:p>
        </p:txBody>
      </p:sp>
      <p:sp>
        <p:nvSpPr>
          <p:cNvPr id="31" name="shape 31"/>
          <p:cNvSpPr/>
          <p:nvPr/>
        </p:nvSpPr>
        <p:spPr>
          <a:xfrm>
            <a:off x="7360920" y="4069080"/>
            <a:ext cx="3566160" cy="292608"/>
          </a:xfrm>
          <a:prstGeom prst="roundRect">
            <a:avLst/>
          </a:prstGeom>
          <a:solidFill>
            <a:srgbClr val="9E2A2B"/>
          </a:solidFill>
          <a:ln>
            <a:noFill/>
          </a:ln>
        </p:spPr>
      </p:sp>
      <p:sp>
        <p:nvSpPr>
          <p:cNvPr id="32" name="text 32"/>
          <p:cNvSpPr txBox="1"/>
          <p:nvPr/>
        </p:nvSpPr>
        <p:spPr>
          <a:xfrm>
            <a:off x="7543800" y="4142232"/>
            <a:ext cx="3108960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800" dirty="0" b="1">
                <a:solidFill>
                  <a:srgbClr val="FFFFFF"/>
                </a:solidFill>
              </a:rPr>
              <a:t>slip detection</a:t>
            </a:r>
          </a:p>
        </p:txBody>
      </p:sp>
      <p:sp>
        <p:nvSpPr>
          <p:cNvPr id="33" name="shape 33"/>
          <p:cNvSpPr/>
          <p:nvPr/>
        </p:nvSpPr>
        <p:spPr>
          <a:xfrm>
            <a:off x="7360920" y="4480560"/>
            <a:ext cx="3566160" cy="292608"/>
          </a:xfrm>
          <a:prstGeom prst="roundRect">
            <a:avLst/>
          </a:prstGeom>
          <a:solidFill>
            <a:srgbClr val="9E2A2B"/>
          </a:solidFill>
          <a:ln>
            <a:noFill/>
          </a:ln>
        </p:spPr>
      </p:sp>
      <p:sp>
        <p:nvSpPr>
          <p:cNvPr id="34" name="text 34"/>
          <p:cNvSpPr txBox="1"/>
          <p:nvPr/>
        </p:nvSpPr>
        <p:spPr>
          <a:xfrm>
            <a:off x="7543800" y="4553712"/>
            <a:ext cx="3108960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800" dirty="0" b="1">
                <a:solidFill>
                  <a:srgbClr val="FFFFFF"/>
                </a:solidFill>
              </a:rPr>
              <a:t>arm safety envelope</a:t>
            </a:r>
          </a:p>
        </p:txBody>
      </p:sp>
      <p:sp>
        <p:nvSpPr>
          <p:cNvPr id="35" name="text 35"/>
          <p:cNvSpPr txBox="1"/>
          <p:nvPr/>
        </p:nvSpPr>
        <p:spPr>
          <a:xfrm>
            <a:off x="7040880" y="5166360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1100" dirty="0" b="1">
                <a:solidFill>
                  <a:srgbClr val="102033"/>
                </a:solidFill>
              </a:rPr>
              <a:t>Robotic hand adds capabilities that are not central to pass/fail HMI testing</a:t>
            </a:r>
          </a:p>
        </p:txBody>
      </p:sp>
      <p:sp>
        <p:nvSpPr>
          <p:cNvPr id="36" name="line 36"/>
          <p:cNvSpPr/>
          <p:nvPr/>
        </p:nvSpPr>
        <p:spPr>
          <a:xfrm flipH="0" flipV="0">
            <a:off x="4937760" y="3657600"/>
            <a:ext cx="2057400" cy="1"/>
          </a:xfrm>
          <a:prstGeom prst="line">
            <a:avLst/>
          </a:prstGeom>
          <a:ln w="25400">
            <a:solidFill>
              <a:srgbClr val="52667A"/>
            </a:solidFill>
            <a:prstDash val="dash"/>
          </a:ln>
        </p:spPr>
      </p:sp>
      <p:sp>
        <p:nvSpPr>
          <p:cNvPr id="37" name="text 37"/>
          <p:cNvSpPr txBox="1"/>
          <p:nvPr/>
        </p:nvSpPr>
        <p:spPr>
          <a:xfrm>
            <a:off x="2011680" y="5806440"/>
            <a:ext cx="8138160" cy="320040"/>
          </a:xfrm>
          <a:prstGeom prst="roundRect">
            <a:avLst/>
          </a:prstGeom>
          <a:solidFill>
            <a:srgbClr val="0B1F33"/>
          </a:solidFill>
          <a:ln w="12700">
            <a:solidFill>
              <a:srgbClr val="0B1F33"/>
            </a:solidFill>
          </a:ln>
        </p:spPr>
        <p:txBody>
          <a:bodyPr wrap="square" anchor="t" lIns="73152" tIns="51206" rIns="73152" bIns="51206"/>
          <a:lstStyle/>
          <a:p>
            <a:pPr algn="ctr"/>
            <a:r>
              <a:rPr lang="en-US" sz="1300" dirty="0" b="1">
                <a:solidFill>
                  <a:srgbClr val="FFFFFF"/>
                </a:solidFill>
              </a:rPr>
              <a:t>Cost and risk should be assigned to the test requirement, not to human-like appearance.</a:t>
            </a:r>
          </a:p>
        </p:txBody>
      </p:sp>
      <p:sp>
        <p:nvSpPr>
          <p:cNvPr id="38" name="text 38"/>
          <p:cNvSpPr txBox="1"/>
          <p:nvPr/>
        </p:nvSpPr>
        <p:spPr>
          <a:xfrm>
            <a:off x="502920" y="6473952"/>
            <a:ext cx="56692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720" dirty="0">
                <a:solidFill>
                  <a:srgbClr val="708090"/>
                </a:solidFill>
              </a:rPr>
              <a:t>Static Robo HMI Test Jig vs. Robotic Hand  |  Research Deck</a:t>
            </a:r>
          </a:p>
        </p:txBody>
      </p:sp>
      <p:sp>
        <p:nvSpPr>
          <p:cNvPr id="39" name="text 39"/>
          <p:cNvSpPr txBox="1"/>
          <p:nvPr/>
        </p:nvSpPr>
        <p:spPr>
          <a:xfrm>
            <a:off x="11384280" y="6473952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/>
            <a:r>
              <a:rPr lang="en-US" sz="720" dirty="0">
                <a:solidFill>
                  <a:srgbClr val="708090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1F33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02920" y="310896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51206" rIns="73152" bIns="51206"/>
          <a:lstStyle/>
          <a:p>
            <a:pPr algn="l"/>
            <a:r>
              <a:rPr lang="en-US" sz="850" dirty="0" b="1">
                <a:solidFill>
                  <a:srgbClr val="1E5AA8"/>
                </a:solidFill>
              </a:rPr>
              <a:t>REFERENCE ARCHITECTURE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502920" y="530352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2400" dirty="0" b="1">
                <a:solidFill>
                  <a:srgbClr val="102033"/>
                </a:solidFill>
              </a:rPr>
              <a:t>Professional system concept: modular fixture + vision + data acquisition + cloud</a:t>
            </a:r>
          </a:p>
        </p:txBody>
      </p:sp>
      <p:sp>
        <p:nvSpPr>
          <p:cNvPr id="5" name="line 5"/>
          <p:cNvSpPr/>
          <p:nvPr/>
        </p:nvSpPr>
        <p:spPr>
          <a:xfrm flipH="0" flipV="0">
            <a:off x="502920" y="1078992"/>
            <a:ext cx="11155680" cy="1"/>
          </a:xfrm>
          <a:prstGeom prst="line">
            <a:avLst/>
          </a:prstGeom>
          <a:ln w="12700">
            <a:solidFill>
              <a:srgbClr val="D5DDE5"/>
            </a:solidFill>
          </a:ln>
        </p:spPr>
      </p:sp>
      <p:sp>
        <p:nvSpPr>
          <p:cNvPr id="6" name="shape 6"/>
          <p:cNvSpPr/>
          <p:nvPr/>
        </p:nvSpPr>
        <p:spPr>
          <a:xfrm>
            <a:off x="640080" y="1417320"/>
            <a:ext cx="384048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5"/>
            </a:solidFill>
          </a:ln>
        </p:spPr>
      </p:sp>
      <p:sp>
        <p:nvSpPr>
          <p:cNvPr id="7" name="text 7"/>
          <p:cNvSpPr txBox="1"/>
          <p:nvPr/>
        </p:nvSpPr>
        <p:spPr>
          <a:xfrm>
            <a:off x="868680" y="1627632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100" dirty="0" b="1">
                <a:solidFill>
                  <a:srgbClr val="1E5AA8"/>
                </a:solidFill>
              </a:rPr>
              <a:t>Fixture bay</a:t>
            </a:r>
          </a:p>
        </p:txBody>
      </p:sp>
      <p:sp>
        <p:nvSpPr>
          <p:cNvPr id="8" name="shape 8"/>
          <p:cNvSpPr/>
          <p:nvPr/>
        </p:nvSpPr>
        <p:spPr>
          <a:xfrm>
            <a:off x="1005840" y="2148840"/>
            <a:ext cx="2971800" cy="1234440"/>
          </a:xfrm>
          <a:prstGeom prst="roundRect">
            <a:avLst/>
          </a:prstGeom>
          <a:solidFill>
            <a:srgbClr val="1C3347"/>
          </a:solidFill>
          <a:ln w="12700">
            <a:solidFill>
              <a:srgbClr val="7AA7C7"/>
            </a:solidFill>
          </a:ln>
        </p:spPr>
      </p:sp>
      <p:sp>
        <p:nvSpPr>
          <p:cNvPr id="9" name="text 9"/>
          <p:cNvSpPr txBox="1"/>
          <p:nvPr/>
        </p:nvSpPr>
        <p:spPr>
          <a:xfrm>
            <a:off x="1719072" y="2651760"/>
            <a:ext cx="15544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900" dirty="0" b="1">
                <a:solidFill>
                  <a:srgbClr val="FFFFFF"/>
                </a:solidFill>
              </a:rPr>
              <a:t>HMI unit under test</a:t>
            </a:r>
          </a:p>
        </p:txBody>
      </p:sp>
      <p:sp>
        <p:nvSpPr>
          <p:cNvPr id="10" name="shape 10"/>
          <p:cNvSpPr/>
          <p:nvPr/>
        </p:nvSpPr>
        <p:spPr>
          <a:xfrm>
            <a:off x="914400" y="3749039"/>
            <a:ext cx="3246120" cy="201168"/>
          </a:xfrm>
          <a:prstGeom prst="rect">
            <a:avLst/>
          </a:prstGeom>
          <a:solidFill>
            <a:srgbClr val="6E7F90"/>
          </a:solidFill>
          <a:ln>
            <a:noFill/>
          </a:ln>
        </p:spPr>
      </p:sp>
      <p:sp>
        <p:nvSpPr>
          <p:cNvPr id="11" name="shape 11"/>
          <p:cNvSpPr/>
          <p:nvPr/>
        </p:nvSpPr>
        <p:spPr>
          <a:xfrm>
            <a:off x="914400" y="1828800"/>
            <a:ext cx="3246120" cy="201168"/>
          </a:xfrm>
          <a:prstGeom prst="rect">
            <a:avLst/>
          </a:prstGeom>
          <a:solidFill>
            <a:srgbClr val="6E7F90"/>
          </a:solidFill>
          <a:ln>
            <a:noFill/>
          </a:ln>
        </p:spPr>
      </p:sp>
      <p:sp>
        <p:nvSpPr>
          <p:cNvPr id="12" name="line 12"/>
          <p:cNvSpPr/>
          <p:nvPr/>
        </p:nvSpPr>
        <p:spPr>
          <a:xfrm flipH="0" flipV="0">
            <a:off x="1143000" y="1856231"/>
            <a:ext cx="1" cy="292608"/>
          </a:xfrm>
          <a:prstGeom prst="line">
            <a:avLst/>
          </a:prstGeom>
          <a:ln w="25400">
            <a:solidFill>
              <a:srgbClr val="B26A00"/>
            </a:solidFill>
            <a:headEnd type="triangle"/>
          </a:ln>
        </p:spPr>
      </p:sp>
      <p:sp>
        <p:nvSpPr>
          <p:cNvPr id="13" name="line 13"/>
          <p:cNvSpPr/>
          <p:nvPr/>
        </p:nvSpPr>
        <p:spPr>
          <a:xfrm flipH="0" flipV="1">
            <a:off x="1143000" y="3383280"/>
            <a:ext cx="1" cy="365759"/>
          </a:xfrm>
          <a:prstGeom prst="line">
            <a:avLst/>
          </a:prstGeom>
          <a:ln w="25400">
            <a:solidFill>
              <a:srgbClr val="B26A00"/>
            </a:solidFill>
            <a:headEnd type="triangle"/>
          </a:ln>
        </p:spPr>
      </p:sp>
      <p:sp>
        <p:nvSpPr>
          <p:cNvPr id="14" name="line 14"/>
          <p:cNvSpPr/>
          <p:nvPr/>
        </p:nvSpPr>
        <p:spPr>
          <a:xfrm flipH="0" flipV="0">
            <a:off x="1645920" y="1856231"/>
            <a:ext cx="1" cy="292608"/>
          </a:xfrm>
          <a:prstGeom prst="line">
            <a:avLst/>
          </a:prstGeom>
          <a:ln w="25400">
            <a:solidFill>
              <a:srgbClr val="B26A00"/>
            </a:solidFill>
            <a:headEnd type="triangle"/>
          </a:ln>
        </p:spPr>
      </p:sp>
      <p:sp>
        <p:nvSpPr>
          <p:cNvPr id="15" name="line 15"/>
          <p:cNvSpPr/>
          <p:nvPr/>
        </p:nvSpPr>
        <p:spPr>
          <a:xfrm flipH="0" flipV="1">
            <a:off x="1645920" y="3383280"/>
            <a:ext cx="1" cy="365759"/>
          </a:xfrm>
          <a:prstGeom prst="line">
            <a:avLst/>
          </a:prstGeom>
          <a:ln w="25400">
            <a:solidFill>
              <a:srgbClr val="B26A00"/>
            </a:solidFill>
            <a:headEnd type="triangle"/>
          </a:ln>
        </p:spPr>
      </p:sp>
      <p:sp>
        <p:nvSpPr>
          <p:cNvPr id="16" name="line 16"/>
          <p:cNvSpPr/>
          <p:nvPr/>
        </p:nvSpPr>
        <p:spPr>
          <a:xfrm flipH="0" flipV="0">
            <a:off x="2148840" y="1856231"/>
            <a:ext cx="1" cy="292608"/>
          </a:xfrm>
          <a:prstGeom prst="line">
            <a:avLst/>
          </a:prstGeom>
          <a:ln w="25400">
            <a:solidFill>
              <a:srgbClr val="B26A00"/>
            </a:solidFill>
            <a:headEnd type="triangle"/>
          </a:ln>
        </p:spPr>
      </p:sp>
      <p:sp>
        <p:nvSpPr>
          <p:cNvPr id="17" name="line 17"/>
          <p:cNvSpPr/>
          <p:nvPr/>
        </p:nvSpPr>
        <p:spPr>
          <a:xfrm flipH="0" flipV="1">
            <a:off x="2148840" y="3383280"/>
            <a:ext cx="1" cy="365759"/>
          </a:xfrm>
          <a:prstGeom prst="line">
            <a:avLst/>
          </a:prstGeom>
          <a:ln w="25400">
            <a:solidFill>
              <a:srgbClr val="B26A00"/>
            </a:solidFill>
            <a:headEnd type="triangle"/>
          </a:ln>
        </p:spPr>
      </p:sp>
      <p:sp>
        <p:nvSpPr>
          <p:cNvPr id="18" name="line 18"/>
          <p:cNvSpPr/>
          <p:nvPr/>
        </p:nvSpPr>
        <p:spPr>
          <a:xfrm flipH="0" flipV="0">
            <a:off x="2651760" y="1856231"/>
            <a:ext cx="1" cy="292608"/>
          </a:xfrm>
          <a:prstGeom prst="line">
            <a:avLst/>
          </a:prstGeom>
          <a:ln w="25400">
            <a:solidFill>
              <a:srgbClr val="B26A00"/>
            </a:solidFill>
            <a:headEnd type="triangle"/>
          </a:ln>
        </p:spPr>
      </p:sp>
      <p:sp>
        <p:nvSpPr>
          <p:cNvPr id="19" name="line 19"/>
          <p:cNvSpPr/>
          <p:nvPr/>
        </p:nvSpPr>
        <p:spPr>
          <a:xfrm flipH="0" flipV="1">
            <a:off x="2651760" y="3383280"/>
            <a:ext cx="1" cy="365759"/>
          </a:xfrm>
          <a:prstGeom prst="line">
            <a:avLst/>
          </a:prstGeom>
          <a:ln w="25400">
            <a:solidFill>
              <a:srgbClr val="B26A00"/>
            </a:solidFill>
            <a:headEnd type="triangle"/>
          </a:ln>
        </p:spPr>
      </p:sp>
      <p:sp>
        <p:nvSpPr>
          <p:cNvPr id="20" name="line 20"/>
          <p:cNvSpPr/>
          <p:nvPr/>
        </p:nvSpPr>
        <p:spPr>
          <a:xfrm flipH="0" flipV="0">
            <a:off x="3154680" y="1856231"/>
            <a:ext cx="1" cy="292608"/>
          </a:xfrm>
          <a:prstGeom prst="line">
            <a:avLst/>
          </a:prstGeom>
          <a:ln w="25400">
            <a:solidFill>
              <a:srgbClr val="B26A00"/>
            </a:solidFill>
            <a:headEnd type="triangle"/>
          </a:ln>
        </p:spPr>
      </p:sp>
      <p:sp>
        <p:nvSpPr>
          <p:cNvPr id="21" name="line 21"/>
          <p:cNvSpPr/>
          <p:nvPr/>
        </p:nvSpPr>
        <p:spPr>
          <a:xfrm flipH="0" flipV="1">
            <a:off x="3154680" y="3383280"/>
            <a:ext cx="1" cy="365759"/>
          </a:xfrm>
          <a:prstGeom prst="line">
            <a:avLst/>
          </a:prstGeom>
          <a:ln w="25400">
            <a:solidFill>
              <a:srgbClr val="B26A00"/>
            </a:solidFill>
            <a:headEnd type="triangle"/>
          </a:ln>
        </p:spPr>
      </p:sp>
      <p:sp>
        <p:nvSpPr>
          <p:cNvPr id="22" name="line 22"/>
          <p:cNvSpPr/>
          <p:nvPr/>
        </p:nvSpPr>
        <p:spPr>
          <a:xfrm flipH="0" flipV="0">
            <a:off x="3657600" y="1856231"/>
            <a:ext cx="1" cy="292608"/>
          </a:xfrm>
          <a:prstGeom prst="line">
            <a:avLst/>
          </a:prstGeom>
          <a:ln w="25400">
            <a:solidFill>
              <a:srgbClr val="B26A00"/>
            </a:solidFill>
            <a:headEnd type="triangle"/>
          </a:ln>
        </p:spPr>
      </p:sp>
      <p:sp>
        <p:nvSpPr>
          <p:cNvPr id="23" name="line 23"/>
          <p:cNvSpPr/>
          <p:nvPr/>
        </p:nvSpPr>
        <p:spPr>
          <a:xfrm flipH="0" flipV="1">
            <a:off x="3657600" y="3383280"/>
            <a:ext cx="1" cy="365759"/>
          </a:xfrm>
          <a:prstGeom prst="line">
            <a:avLst/>
          </a:prstGeom>
          <a:ln w="25400">
            <a:solidFill>
              <a:srgbClr val="B26A00"/>
            </a:solidFill>
            <a:headEnd type="triangle"/>
          </a:ln>
        </p:spPr>
      </p:sp>
      <p:sp>
        <p:nvSpPr>
          <p:cNvPr id="24" name="ellipse 24"/>
          <p:cNvSpPr/>
          <p:nvPr/>
        </p:nvSpPr>
        <p:spPr>
          <a:xfrm>
            <a:off x="3657600" y="1627632"/>
            <a:ext cx="384048" cy="256032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B7285"/>
            </a:solidFill>
          </a:ln>
        </p:spPr>
      </p:sp>
      <p:sp>
        <p:nvSpPr>
          <p:cNvPr id="25" name="text 25"/>
          <p:cNvSpPr txBox="1"/>
          <p:nvPr/>
        </p:nvSpPr>
        <p:spPr>
          <a:xfrm>
            <a:off x="3703320" y="1709928"/>
            <a:ext cx="292608" cy="7315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500" dirty="0" b="1">
                <a:solidFill>
                  <a:srgbClr val="FFFFFF"/>
                </a:solidFill>
              </a:rPr>
              <a:t>CAM</a:t>
            </a:r>
          </a:p>
        </p:txBody>
      </p:sp>
      <p:sp>
        <p:nvSpPr>
          <p:cNvPr id="26" name="text 26"/>
          <p:cNvSpPr txBox="1"/>
          <p:nvPr/>
        </p:nvSpPr>
        <p:spPr>
          <a:xfrm>
            <a:off x="960120" y="4800600"/>
            <a:ext cx="32461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800" dirty="0">
                <a:solidFill>
                  <a:srgbClr val="52667A"/>
                </a:solidFill>
              </a:rPr>
              <a:t>Adjustable pins • camera brackets • locating nest • swappable modules</a:t>
            </a:r>
          </a:p>
        </p:txBody>
      </p:sp>
      <p:sp>
        <p:nvSpPr>
          <p:cNvPr id="27" name="shape 27"/>
          <p:cNvSpPr/>
          <p:nvPr/>
        </p:nvSpPr>
        <p:spPr>
          <a:xfrm>
            <a:off x="5074920" y="1828800"/>
            <a:ext cx="2057400" cy="7498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E5AA8"/>
            </a:solidFill>
          </a:ln>
        </p:spPr>
      </p:sp>
      <p:sp>
        <p:nvSpPr>
          <p:cNvPr id="28" name="text 28"/>
          <p:cNvSpPr txBox="1"/>
          <p:nvPr/>
        </p:nvSpPr>
        <p:spPr>
          <a:xfrm>
            <a:off x="5184648" y="1938528"/>
            <a:ext cx="1828800" cy="1554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850" dirty="0" b="1">
                <a:solidFill>
                  <a:srgbClr val="1E5AA8"/>
                </a:solidFill>
              </a:rPr>
              <a:t>Controller / PLC / SBC</a:t>
            </a:r>
          </a:p>
        </p:txBody>
      </p:sp>
      <p:sp>
        <p:nvSpPr>
          <p:cNvPr id="29" name="text 29"/>
          <p:cNvSpPr txBox="1"/>
          <p:nvPr/>
        </p:nvSpPr>
        <p:spPr>
          <a:xfrm>
            <a:off x="5184648" y="2157984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740" dirty="0">
                <a:solidFill>
                  <a:srgbClr val="52667A"/>
                </a:solidFill>
              </a:rPr>
              <a:t>test sequence + timing</a:t>
            </a:r>
          </a:p>
        </p:txBody>
      </p:sp>
      <p:sp>
        <p:nvSpPr>
          <p:cNvPr id="30" name="shape 30"/>
          <p:cNvSpPr/>
          <p:nvPr/>
        </p:nvSpPr>
        <p:spPr>
          <a:xfrm>
            <a:off x="5074920" y="3063240"/>
            <a:ext cx="2057400" cy="7498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E7D32"/>
            </a:solidFill>
          </a:ln>
        </p:spPr>
      </p:sp>
      <p:sp>
        <p:nvSpPr>
          <p:cNvPr id="31" name="text 31"/>
          <p:cNvSpPr txBox="1"/>
          <p:nvPr/>
        </p:nvSpPr>
        <p:spPr>
          <a:xfrm>
            <a:off x="5184648" y="3172968"/>
            <a:ext cx="1828800" cy="1554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850" dirty="0" b="1">
                <a:solidFill>
                  <a:srgbClr val="2E7D32"/>
                </a:solidFill>
              </a:rPr>
              <a:t>DAQ + I/O</a:t>
            </a:r>
          </a:p>
        </p:txBody>
      </p:sp>
      <p:sp>
        <p:nvSpPr>
          <p:cNvPr id="32" name="text 32"/>
          <p:cNvSpPr txBox="1"/>
          <p:nvPr/>
        </p:nvSpPr>
        <p:spPr>
          <a:xfrm>
            <a:off x="5184648" y="3392424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740" dirty="0">
                <a:solidFill>
                  <a:srgbClr val="52667A"/>
                </a:solidFill>
              </a:rPr>
              <a:t>voltage, current, bus, inputs</a:t>
            </a:r>
          </a:p>
        </p:txBody>
      </p:sp>
      <p:sp>
        <p:nvSpPr>
          <p:cNvPr id="33" name="shape 33"/>
          <p:cNvSpPr/>
          <p:nvPr/>
        </p:nvSpPr>
        <p:spPr>
          <a:xfrm>
            <a:off x="7726679" y="1828800"/>
            <a:ext cx="2057400" cy="7498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97A7"/>
            </a:solidFill>
          </a:ln>
        </p:spPr>
      </p:sp>
      <p:sp>
        <p:nvSpPr>
          <p:cNvPr id="34" name="text 34"/>
          <p:cNvSpPr txBox="1"/>
          <p:nvPr/>
        </p:nvSpPr>
        <p:spPr>
          <a:xfrm>
            <a:off x="7836407" y="1938528"/>
            <a:ext cx="1828800" cy="1554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850" dirty="0" b="1">
                <a:solidFill>
                  <a:srgbClr val="0097A7"/>
                </a:solidFill>
              </a:rPr>
              <a:t>Vision engine</a:t>
            </a:r>
          </a:p>
        </p:txBody>
      </p:sp>
      <p:sp>
        <p:nvSpPr>
          <p:cNvPr id="35" name="text 35"/>
          <p:cNvSpPr txBox="1"/>
          <p:nvPr/>
        </p:nvSpPr>
        <p:spPr>
          <a:xfrm>
            <a:off x="7836407" y="2157984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740" dirty="0">
                <a:solidFill>
                  <a:srgbClr val="52667A"/>
                </a:solidFill>
              </a:rPr>
              <a:t>pixel/OCR/icon/flicker checks</a:t>
            </a:r>
          </a:p>
        </p:txBody>
      </p:sp>
      <p:sp>
        <p:nvSpPr>
          <p:cNvPr id="36" name="shape 36"/>
          <p:cNvSpPr/>
          <p:nvPr/>
        </p:nvSpPr>
        <p:spPr>
          <a:xfrm>
            <a:off x="7726679" y="3063240"/>
            <a:ext cx="2057400" cy="7498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26A00"/>
            </a:solidFill>
          </a:ln>
        </p:spPr>
      </p:sp>
      <p:sp>
        <p:nvSpPr>
          <p:cNvPr id="37" name="text 37"/>
          <p:cNvSpPr txBox="1"/>
          <p:nvPr/>
        </p:nvSpPr>
        <p:spPr>
          <a:xfrm>
            <a:off x="7836407" y="3172968"/>
            <a:ext cx="1828800" cy="1554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850" dirty="0" b="1">
                <a:solidFill>
                  <a:srgbClr val="B26A00"/>
                </a:solidFill>
              </a:rPr>
              <a:t>Cloud service</a:t>
            </a:r>
          </a:p>
        </p:txBody>
      </p:sp>
      <p:sp>
        <p:nvSpPr>
          <p:cNvPr id="38" name="text 38"/>
          <p:cNvSpPr txBox="1"/>
          <p:nvPr/>
        </p:nvSpPr>
        <p:spPr>
          <a:xfrm>
            <a:off x="7836407" y="3392424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740" dirty="0">
                <a:solidFill>
                  <a:srgbClr val="52667A"/>
                </a:solidFill>
              </a:rPr>
              <a:t>dashboards, history, traceability</a:t>
            </a:r>
          </a:p>
        </p:txBody>
      </p:sp>
      <p:sp>
        <p:nvSpPr>
          <p:cNvPr id="39" name="line 39"/>
          <p:cNvSpPr/>
          <p:nvPr/>
        </p:nvSpPr>
        <p:spPr>
          <a:xfrm flipH="0" flipV="1">
            <a:off x="4480560" y="2212848"/>
            <a:ext cx="594359" cy="301752"/>
          </a:xfrm>
          <a:prstGeom prst="line">
            <a:avLst/>
          </a:prstGeom>
          <a:ln w="17780">
            <a:solidFill>
              <a:srgbClr val="1E5AA8"/>
            </a:solidFill>
            <a:headEnd type="triangle"/>
          </a:ln>
        </p:spPr>
      </p:sp>
      <p:sp>
        <p:nvSpPr>
          <p:cNvPr id="40" name="line 40"/>
          <p:cNvSpPr/>
          <p:nvPr/>
        </p:nvSpPr>
        <p:spPr>
          <a:xfrm flipH="0" flipV="0">
            <a:off x="4480560" y="3182112"/>
            <a:ext cx="594359" cy="246888"/>
          </a:xfrm>
          <a:prstGeom prst="line">
            <a:avLst/>
          </a:prstGeom>
          <a:ln w="17780">
            <a:solidFill>
              <a:srgbClr val="1E5AA8"/>
            </a:solidFill>
            <a:headEnd type="triangle"/>
          </a:ln>
        </p:spPr>
      </p:sp>
      <p:sp>
        <p:nvSpPr>
          <p:cNvPr id="41" name="line 41"/>
          <p:cNvSpPr/>
          <p:nvPr/>
        </p:nvSpPr>
        <p:spPr>
          <a:xfrm flipH="0" flipV="0">
            <a:off x="7132320" y="2212848"/>
            <a:ext cx="594359" cy="1"/>
          </a:xfrm>
          <a:prstGeom prst="line">
            <a:avLst/>
          </a:prstGeom>
          <a:ln w="17780">
            <a:solidFill>
              <a:srgbClr val="1E5AA8"/>
            </a:solidFill>
            <a:headEnd type="triangle"/>
          </a:ln>
        </p:spPr>
      </p:sp>
      <p:sp>
        <p:nvSpPr>
          <p:cNvPr id="42" name="line 42"/>
          <p:cNvSpPr/>
          <p:nvPr/>
        </p:nvSpPr>
        <p:spPr>
          <a:xfrm flipH="0" flipV="0">
            <a:off x="7132320" y="3429000"/>
            <a:ext cx="594359" cy="1"/>
          </a:xfrm>
          <a:prstGeom prst="line">
            <a:avLst/>
          </a:prstGeom>
          <a:ln w="17780">
            <a:solidFill>
              <a:srgbClr val="1E5AA8"/>
            </a:solidFill>
            <a:headEnd type="triangle"/>
          </a:ln>
        </p:spPr>
      </p:sp>
      <p:sp>
        <p:nvSpPr>
          <p:cNvPr id="43" name="line 43"/>
          <p:cNvSpPr/>
          <p:nvPr/>
        </p:nvSpPr>
        <p:spPr>
          <a:xfrm flipH="0" flipV="0">
            <a:off x="9784080" y="2212848"/>
            <a:ext cx="777240" cy="850392"/>
          </a:xfrm>
          <a:prstGeom prst="line">
            <a:avLst/>
          </a:prstGeom>
          <a:ln w="17780">
            <a:solidFill>
              <a:srgbClr val="1E5AA8"/>
            </a:solidFill>
            <a:headEnd type="triangle"/>
          </a:ln>
        </p:spPr>
      </p:sp>
      <p:sp>
        <p:nvSpPr>
          <p:cNvPr id="44" name="line 44"/>
          <p:cNvSpPr/>
          <p:nvPr/>
        </p:nvSpPr>
        <p:spPr>
          <a:xfrm flipH="0" flipV="1">
            <a:off x="9784080" y="3063240"/>
            <a:ext cx="777240" cy="365759"/>
          </a:xfrm>
          <a:prstGeom prst="line">
            <a:avLst/>
          </a:prstGeom>
          <a:ln w="17780">
            <a:solidFill>
              <a:srgbClr val="1E5AA8"/>
            </a:solidFill>
            <a:headEnd type="triangle"/>
          </a:ln>
        </p:spPr>
      </p:sp>
      <p:sp>
        <p:nvSpPr>
          <p:cNvPr id="45" name="shape 45"/>
          <p:cNvSpPr/>
          <p:nvPr/>
        </p:nvSpPr>
        <p:spPr>
          <a:xfrm>
            <a:off x="5074920" y="4663440"/>
            <a:ext cx="470916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5"/>
            </a:solidFill>
          </a:ln>
        </p:spPr>
      </p:sp>
      <p:sp>
        <p:nvSpPr>
          <p:cNvPr id="46" name="shape 46"/>
          <p:cNvSpPr/>
          <p:nvPr/>
        </p:nvSpPr>
        <p:spPr>
          <a:xfrm>
            <a:off x="5074920" y="4663440"/>
            <a:ext cx="73152" cy="804672"/>
          </a:xfrm>
          <a:prstGeom prst="rect">
            <a:avLst/>
          </a:prstGeom>
          <a:solidFill>
            <a:srgbClr val="0B1F33"/>
          </a:solidFill>
          <a:ln>
            <a:noFill/>
          </a:ln>
        </p:spPr>
      </p:sp>
      <p:sp>
        <p:nvSpPr>
          <p:cNvPr id="47" name="text 47"/>
          <p:cNvSpPr txBox="1"/>
          <p:nvPr/>
        </p:nvSpPr>
        <p:spPr>
          <a:xfrm>
            <a:off x="5239512" y="4791455"/>
            <a:ext cx="43891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100" dirty="0" b="1">
                <a:solidFill>
                  <a:srgbClr val="0B1F33"/>
                </a:solidFill>
              </a:rPr>
              <a:t>Output</a:t>
            </a:r>
          </a:p>
        </p:txBody>
      </p:sp>
      <p:sp>
        <p:nvSpPr>
          <p:cNvPr id="48" name="text 48"/>
          <p:cNvSpPr txBox="1"/>
          <p:nvPr/>
        </p:nvSpPr>
        <p:spPr>
          <a:xfrm>
            <a:off x="5239512" y="5120640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880" dirty="0">
                <a:solidFill>
                  <a:srgbClr val="52667A"/>
                </a:solidFill>
              </a:rPr>
              <a:t>A single synchronized record: input action, measured electrical state, camera-verified screen state, timing, pass/fail decision, and cloud trace.</a:t>
            </a:r>
          </a:p>
        </p:txBody>
      </p:sp>
      <p:sp>
        <p:nvSpPr>
          <p:cNvPr id="49" name="text 49"/>
          <p:cNvSpPr txBox="1"/>
          <p:nvPr/>
        </p:nvSpPr>
        <p:spPr>
          <a:xfrm>
            <a:off x="502920" y="6473952"/>
            <a:ext cx="56692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720" dirty="0">
                <a:solidFill>
                  <a:srgbClr val="708090"/>
                </a:solidFill>
              </a:rPr>
              <a:t>Static Robo HMI Test Jig vs. Robotic Hand  |  Research Deck</a:t>
            </a:r>
          </a:p>
        </p:txBody>
      </p:sp>
      <p:sp>
        <p:nvSpPr>
          <p:cNvPr id="50" name="text 50"/>
          <p:cNvSpPr txBox="1"/>
          <p:nvPr/>
        </p:nvSpPr>
        <p:spPr>
          <a:xfrm>
            <a:off x="11384280" y="6473952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/>
            <a:r>
              <a:rPr lang="en-US" sz="720" dirty="0">
                <a:solidFill>
                  <a:srgbClr val="708090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1F33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02920" y="310896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51206" rIns="73152" bIns="51206"/>
          <a:lstStyle/>
          <a:p>
            <a:pPr algn="l"/>
            <a:r>
              <a:rPr lang="en-US" sz="850" dirty="0" b="1">
                <a:solidFill>
                  <a:srgbClr val="1E5AA8"/>
                </a:solidFill>
              </a:rPr>
              <a:t>BUSINESS CASE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502920" y="530352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2400" dirty="0" b="1">
                <a:solidFill>
                  <a:srgbClr val="102033"/>
                </a:solidFill>
              </a:rPr>
              <a:t>1. Cost effectiveness: why the static jig has a lower total cost of ownership</a:t>
            </a:r>
          </a:p>
        </p:txBody>
      </p:sp>
      <p:sp>
        <p:nvSpPr>
          <p:cNvPr id="5" name="line 5"/>
          <p:cNvSpPr/>
          <p:nvPr/>
        </p:nvSpPr>
        <p:spPr>
          <a:xfrm flipH="0" flipV="0">
            <a:off x="502920" y="1078992"/>
            <a:ext cx="11155680" cy="1"/>
          </a:xfrm>
          <a:prstGeom prst="line">
            <a:avLst/>
          </a:prstGeom>
          <a:ln w="12700">
            <a:solidFill>
              <a:srgbClr val="D5DDE5"/>
            </a:solidFill>
          </a:ln>
        </p:spPr>
      </p:sp>
      <p:sp>
        <p:nvSpPr>
          <p:cNvPr id="6" name="text 6"/>
          <p:cNvSpPr txBox="1"/>
          <p:nvPr/>
        </p:nvSpPr>
        <p:spPr>
          <a:xfrm>
            <a:off x="594360" y="1325880"/>
            <a:ext cx="1828800" cy="429768"/>
          </a:xfrm>
          <a:prstGeom prst="rect">
            <a:avLst/>
          </a:prstGeom>
          <a:solidFill>
            <a:srgbClr val="0B1F33"/>
          </a:solidFill>
          <a:ln w="12700">
            <a:solidFill>
              <a:srgbClr val="FFFFFF"/>
            </a:solidFill>
          </a:ln>
        </p:spPr>
        <p:txBody>
          <a:bodyPr wrap="square" anchor="ctr" lIns="36576" tIns="25603" rIns="36576" bIns="25603"/>
          <a:lstStyle/>
          <a:p>
            <a:pPr algn="ctr"/>
            <a:r>
              <a:rPr lang="en-US" sz="860" dirty="0" b="1">
                <a:solidFill>
                  <a:srgbClr val="FFFFFF"/>
                </a:solidFill>
              </a:rPr>
              <a:t>Cost category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2423160" y="1325880"/>
            <a:ext cx="3383280" cy="429768"/>
          </a:xfrm>
          <a:prstGeom prst="rect">
            <a:avLst/>
          </a:prstGeom>
          <a:solidFill>
            <a:srgbClr val="0B1F33"/>
          </a:solidFill>
          <a:ln w="12700">
            <a:solidFill>
              <a:srgbClr val="FFFFFF"/>
            </a:solidFill>
          </a:ln>
        </p:spPr>
        <p:txBody>
          <a:bodyPr wrap="square" anchor="ctr" lIns="36576" tIns="25603" rIns="36576" bIns="25603"/>
          <a:lstStyle/>
          <a:p>
            <a:pPr algn="ctr"/>
            <a:r>
              <a:rPr lang="en-US" sz="860" dirty="0" b="1">
                <a:solidFill>
                  <a:srgbClr val="FFFFFF"/>
                </a:solidFill>
              </a:rPr>
              <a:t>Static HMI test jig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5806440" y="1325880"/>
            <a:ext cx="3383280" cy="429768"/>
          </a:xfrm>
          <a:prstGeom prst="rect">
            <a:avLst/>
          </a:prstGeom>
          <a:solidFill>
            <a:srgbClr val="0B1F33"/>
          </a:solidFill>
          <a:ln w="12700">
            <a:solidFill>
              <a:srgbClr val="FFFFFF"/>
            </a:solidFill>
          </a:ln>
        </p:spPr>
        <p:txBody>
          <a:bodyPr wrap="square" anchor="ctr" lIns="36576" tIns="25603" rIns="36576" bIns="25603"/>
          <a:lstStyle/>
          <a:p>
            <a:pPr algn="ctr"/>
            <a:r>
              <a:rPr lang="en-US" sz="860" dirty="0" b="1">
                <a:solidFill>
                  <a:srgbClr val="FFFFFF"/>
                </a:solidFill>
              </a:rPr>
              <a:t>Robotic hand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9189720" y="1325880"/>
            <a:ext cx="1920240" cy="429768"/>
          </a:xfrm>
          <a:prstGeom prst="rect">
            <a:avLst/>
          </a:prstGeom>
          <a:solidFill>
            <a:srgbClr val="0B1F33"/>
          </a:solidFill>
          <a:ln w="12700">
            <a:solidFill>
              <a:srgbClr val="FFFFFF"/>
            </a:solidFill>
          </a:ln>
        </p:spPr>
        <p:txBody>
          <a:bodyPr wrap="square" anchor="ctr" lIns="36576" tIns="25603" rIns="36576" bIns="25603"/>
          <a:lstStyle/>
          <a:p>
            <a:pPr algn="ctr"/>
            <a:r>
              <a:rPr lang="en-US" sz="860" dirty="0" b="1">
                <a:solidFill>
                  <a:srgbClr val="FFFFFF"/>
                </a:solidFill>
              </a:rPr>
              <a:t>Advantage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594360" y="1755648"/>
            <a:ext cx="18288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Mechanical hardware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2423160" y="1755648"/>
            <a:ext cx="338328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Extrusion, plates, pins, simple actuators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5806440" y="1755648"/>
            <a:ext cx="338328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Dexterous fingers, joints, tendons/gears, wrist/arm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9189720" y="1755648"/>
            <a:ext cx="192024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Jig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594360" y="2185415"/>
            <a:ext cx="1828800" cy="429768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Controls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2423160" y="2185415"/>
            <a:ext cx="3383280" cy="429768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PLC/SBC + discrete I/O + camera inputs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5806440" y="2185415"/>
            <a:ext cx="3383280" cy="429768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Multi-axis motion control + joint feedback loops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9189720" y="2185415"/>
            <a:ext cx="1920240" cy="429768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Jig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594360" y="2615184"/>
            <a:ext cx="18288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Software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2423160" y="2615184"/>
            <a:ext cx="338328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Deterministic test sequence + image checks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5806440" y="2615184"/>
            <a:ext cx="338328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Kinematics, path planning, grip/force control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9189720" y="2615184"/>
            <a:ext cx="192024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Jig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594360" y="3044952"/>
            <a:ext cx="1828800" cy="429768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Calibration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2423160" y="3044952"/>
            <a:ext cx="3383280" cy="429768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Pin height, camera alignment, reference images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5806440" y="3044952"/>
            <a:ext cx="3383280" cy="429768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Arm position, hand pose, force, slip, camera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9189720" y="3044952"/>
            <a:ext cx="1920240" cy="429768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Jig</a:t>
            </a:r>
          </a:p>
        </p:txBody>
      </p:sp>
      <p:sp>
        <p:nvSpPr>
          <p:cNvPr id="26" name="text 26"/>
          <p:cNvSpPr txBox="1"/>
          <p:nvPr/>
        </p:nvSpPr>
        <p:spPr>
          <a:xfrm>
            <a:off x="594360" y="3474720"/>
            <a:ext cx="18288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Service</a:t>
            </a:r>
          </a:p>
        </p:txBody>
      </p:sp>
      <p:sp>
        <p:nvSpPr>
          <p:cNvPr id="27" name="text 27"/>
          <p:cNvSpPr txBox="1"/>
          <p:nvPr/>
        </p:nvSpPr>
        <p:spPr>
          <a:xfrm>
            <a:off x="2423160" y="3474720"/>
            <a:ext cx="338328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Swap tips, pins, motors, cameras, panels</a:t>
            </a:r>
          </a:p>
        </p:txBody>
      </p:sp>
      <p:sp>
        <p:nvSpPr>
          <p:cNvPr id="28" name="text 28"/>
          <p:cNvSpPr txBox="1"/>
          <p:nvPr/>
        </p:nvSpPr>
        <p:spPr>
          <a:xfrm>
            <a:off x="5806440" y="3474720"/>
            <a:ext cx="338328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Disassemble fingers, encoders, gearboxes, hand</a:t>
            </a:r>
          </a:p>
        </p:txBody>
      </p:sp>
      <p:sp>
        <p:nvSpPr>
          <p:cNvPr id="29" name="text 29"/>
          <p:cNvSpPr txBox="1"/>
          <p:nvPr/>
        </p:nvSpPr>
        <p:spPr>
          <a:xfrm>
            <a:off x="9189720" y="3474720"/>
            <a:ext cx="192024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Jig</a:t>
            </a:r>
          </a:p>
        </p:txBody>
      </p:sp>
      <p:sp>
        <p:nvSpPr>
          <p:cNvPr id="30" name="text 30"/>
          <p:cNvSpPr txBox="1"/>
          <p:nvPr/>
        </p:nvSpPr>
        <p:spPr>
          <a:xfrm>
            <a:off x="594360" y="3904487"/>
            <a:ext cx="1828800" cy="429768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Operator training</a:t>
            </a:r>
          </a:p>
        </p:txBody>
      </p:sp>
      <p:sp>
        <p:nvSpPr>
          <p:cNvPr id="31" name="text 31"/>
          <p:cNvSpPr txBox="1"/>
          <p:nvPr/>
        </p:nvSpPr>
        <p:spPr>
          <a:xfrm>
            <a:off x="2423160" y="3904487"/>
            <a:ext cx="3383280" cy="429768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Fixture loading + test start/stop</a:t>
            </a:r>
          </a:p>
        </p:txBody>
      </p:sp>
      <p:sp>
        <p:nvSpPr>
          <p:cNvPr id="32" name="text 32"/>
          <p:cNvSpPr txBox="1"/>
          <p:nvPr/>
        </p:nvSpPr>
        <p:spPr>
          <a:xfrm>
            <a:off x="5806440" y="3904487"/>
            <a:ext cx="3383280" cy="429768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Robot setup, safety, recovery, programming</a:t>
            </a:r>
          </a:p>
        </p:txBody>
      </p:sp>
      <p:sp>
        <p:nvSpPr>
          <p:cNvPr id="33" name="text 33"/>
          <p:cNvSpPr txBox="1"/>
          <p:nvPr/>
        </p:nvSpPr>
        <p:spPr>
          <a:xfrm>
            <a:off x="9189720" y="3904487"/>
            <a:ext cx="1920240" cy="429768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Jig</a:t>
            </a:r>
          </a:p>
        </p:txBody>
      </p:sp>
      <p:sp>
        <p:nvSpPr>
          <p:cNvPr id="34" name="text 34"/>
          <p:cNvSpPr txBox="1"/>
          <p:nvPr/>
        </p:nvSpPr>
        <p:spPr>
          <a:xfrm>
            <a:off x="822960" y="4892040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100" dirty="0" b="1">
                <a:solidFill>
                  <a:srgbClr val="1E5AA8"/>
                </a:solidFill>
              </a:rPr>
              <a:t>Cost conclusion</a:t>
            </a:r>
          </a:p>
        </p:txBody>
      </p:sp>
      <p:sp>
        <p:nvSpPr>
          <p:cNvPr id="35" name="text 35"/>
          <p:cNvSpPr txBox="1"/>
          <p:nvPr/>
        </p:nvSpPr>
        <p:spPr>
          <a:xfrm>
            <a:off x="822960" y="5230368"/>
            <a:ext cx="10378440" cy="594360"/>
          </a:xfrm>
          <a:prstGeom prst="roundRect">
            <a:avLst/>
          </a:prstGeom>
          <a:solidFill>
            <a:srgbClr val="EAF2FB"/>
          </a:solidFill>
          <a:ln w="12700">
            <a:solidFill>
              <a:srgbClr val="B8CCE3"/>
            </a:solidFill>
          </a:ln>
        </p:spPr>
        <p:txBody>
          <a:bodyPr wrap="square" anchor="t" lIns="73152" tIns="51206" rIns="73152" bIns="51206"/>
          <a:lstStyle/>
          <a:p>
            <a:pPr algn="l"/>
            <a:r>
              <a:rPr lang="en-US" sz="1400" dirty="0" b="1">
                <a:solidFill>
                  <a:srgbClr val="102033"/>
                </a:solidFill>
              </a:rPr>
              <a:t>The robotic hand pays for dexterity. The HMI test jig pays for repeatable validation. For known screen/button/knob locations, repeatability and data quality produce more value than anthropomorphic motion.</a:t>
            </a:r>
          </a:p>
        </p:txBody>
      </p:sp>
      <p:sp>
        <p:nvSpPr>
          <p:cNvPr id="36" name="text 36"/>
          <p:cNvSpPr txBox="1"/>
          <p:nvPr/>
        </p:nvSpPr>
        <p:spPr>
          <a:xfrm>
            <a:off x="502920" y="6473952"/>
            <a:ext cx="56692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720" dirty="0">
                <a:solidFill>
                  <a:srgbClr val="708090"/>
                </a:solidFill>
              </a:rPr>
              <a:t>Static Robo HMI Test Jig vs. Robotic Hand  |  Research Deck</a:t>
            </a:r>
          </a:p>
        </p:txBody>
      </p:sp>
      <p:sp>
        <p:nvSpPr>
          <p:cNvPr id="37" name="text 37"/>
          <p:cNvSpPr txBox="1"/>
          <p:nvPr/>
        </p:nvSpPr>
        <p:spPr>
          <a:xfrm>
            <a:off x="11384280" y="6473952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/>
            <a:r>
              <a:rPr lang="en-US" sz="720" dirty="0">
                <a:solidFill>
                  <a:srgbClr val="708090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1F33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02920" y="310896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51206" rIns="73152" bIns="51206"/>
          <a:lstStyle/>
          <a:p>
            <a:pPr algn="l"/>
            <a:r>
              <a:rPr lang="en-US" sz="850" dirty="0" b="1">
                <a:solidFill>
                  <a:srgbClr val="1E5AA8"/>
                </a:solidFill>
              </a:rPr>
              <a:t>PLATFORM SCALABILITY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502920" y="530352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2400" dirty="0" b="1">
                <a:solidFill>
                  <a:srgbClr val="102033"/>
                </a:solidFill>
              </a:rPr>
              <a:t>2. Modularity: scalable from small screens to wide cockpit displays</a:t>
            </a:r>
          </a:p>
        </p:txBody>
      </p:sp>
      <p:sp>
        <p:nvSpPr>
          <p:cNvPr id="5" name="line 5"/>
          <p:cNvSpPr/>
          <p:nvPr/>
        </p:nvSpPr>
        <p:spPr>
          <a:xfrm flipH="0" flipV="0">
            <a:off x="502920" y="1078992"/>
            <a:ext cx="11155680" cy="1"/>
          </a:xfrm>
          <a:prstGeom prst="line">
            <a:avLst/>
          </a:prstGeom>
          <a:ln w="12700">
            <a:solidFill>
              <a:srgbClr val="D5DDE5"/>
            </a:solidFill>
          </a:ln>
        </p:spPr>
      </p:sp>
      <p:sp>
        <p:nvSpPr>
          <p:cNvPr id="6" name="text 6"/>
          <p:cNvSpPr txBox="1"/>
          <p:nvPr/>
        </p:nvSpPr>
        <p:spPr>
          <a:xfrm>
            <a:off x="685800" y="1234440"/>
            <a:ext cx="1078992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300" dirty="0">
                <a:solidFill>
                  <a:srgbClr val="52667A"/>
                </a:solidFill>
              </a:rPr>
              <a:t>The same base concept can be resized by changing rail length, actuator count, camera positions, and swappable front panels.</a:t>
            </a:r>
          </a:p>
        </p:txBody>
      </p:sp>
      <p:sp>
        <p:nvSpPr>
          <p:cNvPr id="7" name="shape 7"/>
          <p:cNvSpPr/>
          <p:nvPr/>
        </p:nvSpPr>
        <p:spPr>
          <a:xfrm>
            <a:off x="822960" y="1874519"/>
            <a:ext cx="1051560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5"/>
            </a:solidFill>
          </a:ln>
        </p:spPr>
      </p:sp>
      <p:sp>
        <p:nvSpPr>
          <p:cNvPr id="8" name="shape 8"/>
          <p:cNvSpPr/>
          <p:nvPr/>
        </p:nvSpPr>
        <p:spPr>
          <a:xfrm>
            <a:off x="1143000" y="2331720"/>
            <a:ext cx="9875520" cy="146304"/>
          </a:xfrm>
          <a:prstGeom prst="rect">
            <a:avLst/>
          </a:prstGeom>
          <a:solidFill>
            <a:srgbClr val="6E7F90"/>
          </a:solidFill>
          <a:ln>
            <a:noFill/>
          </a:ln>
        </p:spPr>
      </p:sp>
      <p:sp>
        <p:nvSpPr>
          <p:cNvPr id="9" name="shape 9"/>
          <p:cNvSpPr/>
          <p:nvPr/>
        </p:nvSpPr>
        <p:spPr>
          <a:xfrm>
            <a:off x="1143000" y="4434840"/>
            <a:ext cx="9875520" cy="146304"/>
          </a:xfrm>
          <a:prstGeom prst="rect">
            <a:avLst/>
          </a:prstGeom>
          <a:solidFill>
            <a:srgbClr val="6E7F90"/>
          </a:solidFill>
          <a:ln>
            <a:noFill/>
          </a:ln>
        </p:spPr>
      </p:sp>
      <p:sp>
        <p:nvSpPr>
          <p:cNvPr id="10" name="shape 10"/>
          <p:cNvSpPr/>
          <p:nvPr/>
        </p:nvSpPr>
        <p:spPr>
          <a:xfrm>
            <a:off x="1325880" y="2331720"/>
            <a:ext cx="109728" cy="2249424"/>
          </a:xfrm>
          <a:prstGeom prst="rect">
            <a:avLst/>
          </a:prstGeom>
          <a:solidFill>
            <a:srgbClr val="AAB7C4"/>
          </a:solidFill>
          <a:ln>
            <a:noFill/>
          </a:ln>
        </p:spPr>
      </p:sp>
      <p:sp>
        <p:nvSpPr>
          <p:cNvPr id="11" name="shape 11"/>
          <p:cNvSpPr/>
          <p:nvPr/>
        </p:nvSpPr>
        <p:spPr>
          <a:xfrm>
            <a:off x="3063240" y="2331720"/>
            <a:ext cx="109728" cy="2249424"/>
          </a:xfrm>
          <a:prstGeom prst="rect">
            <a:avLst/>
          </a:prstGeom>
          <a:solidFill>
            <a:srgbClr val="AAB7C4"/>
          </a:solidFill>
          <a:ln>
            <a:noFill/>
          </a:ln>
        </p:spPr>
      </p:sp>
      <p:sp>
        <p:nvSpPr>
          <p:cNvPr id="12" name="shape 12"/>
          <p:cNvSpPr/>
          <p:nvPr/>
        </p:nvSpPr>
        <p:spPr>
          <a:xfrm>
            <a:off x="4800600" y="2331720"/>
            <a:ext cx="109728" cy="2249424"/>
          </a:xfrm>
          <a:prstGeom prst="rect">
            <a:avLst/>
          </a:prstGeom>
          <a:solidFill>
            <a:srgbClr val="AAB7C4"/>
          </a:solidFill>
          <a:ln>
            <a:noFill/>
          </a:ln>
        </p:spPr>
      </p:sp>
      <p:sp>
        <p:nvSpPr>
          <p:cNvPr id="13" name="shape 13"/>
          <p:cNvSpPr/>
          <p:nvPr/>
        </p:nvSpPr>
        <p:spPr>
          <a:xfrm>
            <a:off x="6537960" y="2331720"/>
            <a:ext cx="109728" cy="2249424"/>
          </a:xfrm>
          <a:prstGeom prst="rect">
            <a:avLst/>
          </a:prstGeom>
          <a:solidFill>
            <a:srgbClr val="AAB7C4"/>
          </a:solidFill>
          <a:ln>
            <a:noFill/>
          </a:ln>
        </p:spPr>
      </p:sp>
      <p:sp>
        <p:nvSpPr>
          <p:cNvPr id="14" name="shape 14"/>
          <p:cNvSpPr/>
          <p:nvPr/>
        </p:nvSpPr>
        <p:spPr>
          <a:xfrm>
            <a:off x="8275320" y="2331720"/>
            <a:ext cx="109728" cy="2249424"/>
          </a:xfrm>
          <a:prstGeom prst="rect">
            <a:avLst/>
          </a:prstGeom>
          <a:solidFill>
            <a:srgbClr val="AAB7C4"/>
          </a:solidFill>
          <a:ln>
            <a:noFill/>
          </a:ln>
        </p:spPr>
      </p:sp>
      <p:sp>
        <p:nvSpPr>
          <p:cNvPr id="15" name="shape 15"/>
          <p:cNvSpPr/>
          <p:nvPr/>
        </p:nvSpPr>
        <p:spPr>
          <a:xfrm>
            <a:off x="10012680" y="2331720"/>
            <a:ext cx="109728" cy="2249424"/>
          </a:xfrm>
          <a:prstGeom prst="rect">
            <a:avLst/>
          </a:prstGeom>
          <a:solidFill>
            <a:srgbClr val="AAB7C4"/>
          </a:solidFill>
          <a:ln>
            <a:noFill/>
          </a:ln>
        </p:spPr>
      </p:sp>
      <p:sp>
        <p:nvSpPr>
          <p:cNvPr id="16" name="shape 16"/>
          <p:cNvSpPr/>
          <p:nvPr/>
        </p:nvSpPr>
        <p:spPr>
          <a:xfrm>
            <a:off x="1600200" y="2788920"/>
            <a:ext cx="1188720" cy="640080"/>
          </a:xfrm>
          <a:prstGeom prst="roundRect">
            <a:avLst/>
          </a:prstGeom>
          <a:solidFill>
            <a:srgbClr val="193C5A"/>
          </a:solidFill>
          <a:ln w="12700">
            <a:solidFill>
              <a:srgbClr val="7AA7C7"/>
            </a:solidFill>
          </a:ln>
        </p:spPr>
      </p:sp>
      <p:sp>
        <p:nvSpPr>
          <p:cNvPr id="17" name="text 17"/>
          <p:cNvSpPr txBox="1"/>
          <p:nvPr/>
        </p:nvSpPr>
        <p:spPr>
          <a:xfrm>
            <a:off x="1901952" y="2990088"/>
            <a:ext cx="5943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700" dirty="0" b="1">
                <a:solidFill>
                  <a:srgbClr val="FFFFFF"/>
                </a:solidFill>
              </a:rPr>
              <a:t>small</a:t>
            </a:r>
          </a:p>
          <a:p>
            <a:pPr algn="ctr"/>
            <a:r>
              <a:rPr lang="en-US" sz="700" dirty="0" b="1">
                <a:solidFill>
                  <a:srgbClr val="FFFFFF"/>
                </a:solidFill>
              </a:rPr>
              <a:t>HMI</a:t>
            </a:r>
          </a:p>
        </p:txBody>
      </p:sp>
      <p:sp>
        <p:nvSpPr>
          <p:cNvPr id="18" name="shape 18"/>
          <p:cNvSpPr/>
          <p:nvPr/>
        </p:nvSpPr>
        <p:spPr>
          <a:xfrm>
            <a:off x="3429000" y="2670048"/>
            <a:ext cx="1965960" cy="822960"/>
          </a:xfrm>
          <a:prstGeom prst="roundRect">
            <a:avLst/>
          </a:prstGeom>
          <a:solidFill>
            <a:srgbClr val="1E5AA8"/>
          </a:solidFill>
          <a:ln w="12700">
            <a:solidFill>
              <a:srgbClr val="9AC5E5"/>
            </a:solidFill>
          </a:ln>
        </p:spPr>
      </p:sp>
      <p:sp>
        <p:nvSpPr>
          <p:cNvPr id="19" name="text 19"/>
          <p:cNvSpPr txBox="1"/>
          <p:nvPr/>
        </p:nvSpPr>
        <p:spPr>
          <a:xfrm>
            <a:off x="3977639" y="294436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700" dirty="0" b="1">
                <a:solidFill>
                  <a:srgbClr val="FFFFFF"/>
                </a:solidFill>
              </a:rPr>
              <a:t>medium</a:t>
            </a:r>
          </a:p>
          <a:p>
            <a:pPr algn="ctr"/>
            <a:r>
              <a:rPr lang="en-US" sz="700" dirty="0" b="1">
                <a:solidFill>
                  <a:srgbClr val="FFFFFF"/>
                </a:solidFill>
              </a:rPr>
              <a:t>screen</a:t>
            </a:r>
          </a:p>
        </p:txBody>
      </p:sp>
      <p:sp>
        <p:nvSpPr>
          <p:cNvPr id="20" name="shape 20"/>
          <p:cNvSpPr/>
          <p:nvPr/>
        </p:nvSpPr>
        <p:spPr>
          <a:xfrm>
            <a:off x="5897880" y="2606040"/>
            <a:ext cx="4251960" cy="960120"/>
          </a:xfrm>
          <a:prstGeom prst="roundRect">
            <a:avLst/>
          </a:prstGeom>
          <a:solidFill>
            <a:srgbClr val="0B7285"/>
          </a:solidFill>
          <a:ln w="12700">
            <a:solidFill>
              <a:srgbClr val="9DECF0"/>
            </a:solidFill>
          </a:ln>
        </p:spPr>
      </p:sp>
      <p:sp>
        <p:nvSpPr>
          <p:cNvPr id="21" name="text 21"/>
          <p:cNvSpPr txBox="1"/>
          <p:nvPr/>
        </p:nvSpPr>
        <p:spPr>
          <a:xfrm>
            <a:off x="6995160" y="2971800"/>
            <a:ext cx="2103120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750" dirty="0" b="1">
                <a:solidFill>
                  <a:srgbClr val="FFFFFF"/>
                </a:solidFill>
              </a:rPr>
              <a:t>large curved / wide dashboard display</a:t>
            </a:r>
          </a:p>
        </p:txBody>
      </p:sp>
      <p:sp>
        <p:nvSpPr>
          <p:cNvPr id="22" name="line 22"/>
          <p:cNvSpPr/>
          <p:nvPr/>
        </p:nvSpPr>
        <p:spPr>
          <a:xfrm flipH="0" flipV="0">
            <a:off x="1737360" y="2331720"/>
            <a:ext cx="1" cy="274320"/>
          </a:xfrm>
          <a:prstGeom prst="line">
            <a:avLst/>
          </a:prstGeom>
          <a:ln w="17780">
            <a:solidFill>
              <a:srgbClr val="B26A00"/>
            </a:solidFill>
            <a:headEnd type="triangle"/>
          </a:ln>
        </p:spPr>
      </p:sp>
      <p:sp>
        <p:nvSpPr>
          <p:cNvPr id="23" name="line 23"/>
          <p:cNvSpPr/>
          <p:nvPr/>
        </p:nvSpPr>
        <p:spPr>
          <a:xfrm flipH="0" flipV="0">
            <a:off x="2194560" y="2331720"/>
            <a:ext cx="1" cy="274320"/>
          </a:xfrm>
          <a:prstGeom prst="line">
            <a:avLst/>
          </a:prstGeom>
          <a:ln w="17780">
            <a:solidFill>
              <a:srgbClr val="B26A00"/>
            </a:solidFill>
            <a:headEnd type="triangle"/>
          </a:ln>
        </p:spPr>
      </p:sp>
      <p:sp>
        <p:nvSpPr>
          <p:cNvPr id="24" name="line 24"/>
          <p:cNvSpPr/>
          <p:nvPr/>
        </p:nvSpPr>
        <p:spPr>
          <a:xfrm flipH="0" flipV="0">
            <a:off x="3749039" y="2331720"/>
            <a:ext cx="1" cy="274320"/>
          </a:xfrm>
          <a:prstGeom prst="line">
            <a:avLst/>
          </a:prstGeom>
          <a:ln w="17780">
            <a:solidFill>
              <a:srgbClr val="B26A00"/>
            </a:solidFill>
            <a:headEnd type="triangle"/>
          </a:ln>
        </p:spPr>
      </p:sp>
      <p:sp>
        <p:nvSpPr>
          <p:cNvPr id="25" name="line 25"/>
          <p:cNvSpPr/>
          <p:nvPr/>
        </p:nvSpPr>
        <p:spPr>
          <a:xfrm flipH="0" flipV="0">
            <a:off x="4251960" y="2331720"/>
            <a:ext cx="1" cy="274320"/>
          </a:xfrm>
          <a:prstGeom prst="line">
            <a:avLst/>
          </a:prstGeom>
          <a:ln w="17780">
            <a:solidFill>
              <a:srgbClr val="B26A00"/>
            </a:solidFill>
            <a:headEnd type="triangle"/>
          </a:ln>
        </p:spPr>
      </p:sp>
      <p:sp>
        <p:nvSpPr>
          <p:cNvPr id="26" name="line 26"/>
          <p:cNvSpPr/>
          <p:nvPr/>
        </p:nvSpPr>
        <p:spPr>
          <a:xfrm flipH="0" flipV="0">
            <a:off x="4754880" y="2331720"/>
            <a:ext cx="1" cy="274320"/>
          </a:xfrm>
          <a:prstGeom prst="line">
            <a:avLst/>
          </a:prstGeom>
          <a:ln w="17780">
            <a:solidFill>
              <a:srgbClr val="B26A00"/>
            </a:solidFill>
            <a:headEnd type="triangle"/>
          </a:ln>
        </p:spPr>
      </p:sp>
      <p:sp>
        <p:nvSpPr>
          <p:cNvPr id="27" name="line 27"/>
          <p:cNvSpPr/>
          <p:nvPr/>
        </p:nvSpPr>
        <p:spPr>
          <a:xfrm flipH="0" flipV="0">
            <a:off x="6263640" y="2331720"/>
            <a:ext cx="1" cy="274320"/>
          </a:xfrm>
          <a:prstGeom prst="line">
            <a:avLst/>
          </a:prstGeom>
          <a:ln w="17780">
            <a:solidFill>
              <a:srgbClr val="B26A00"/>
            </a:solidFill>
            <a:headEnd type="triangle"/>
          </a:ln>
        </p:spPr>
      </p:sp>
      <p:sp>
        <p:nvSpPr>
          <p:cNvPr id="28" name="line 28"/>
          <p:cNvSpPr/>
          <p:nvPr/>
        </p:nvSpPr>
        <p:spPr>
          <a:xfrm flipH="0" flipV="0">
            <a:off x="6812280" y="2331720"/>
            <a:ext cx="1" cy="274320"/>
          </a:xfrm>
          <a:prstGeom prst="line">
            <a:avLst/>
          </a:prstGeom>
          <a:ln w="17780">
            <a:solidFill>
              <a:srgbClr val="B26A00"/>
            </a:solidFill>
            <a:headEnd type="triangle"/>
          </a:ln>
        </p:spPr>
      </p:sp>
      <p:sp>
        <p:nvSpPr>
          <p:cNvPr id="29" name="line 29"/>
          <p:cNvSpPr/>
          <p:nvPr/>
        </p:nvSpPr>
        <p:spPr>
          <a:xfrm flipH="0" flipV="0">
            <a:off x="7360920" y="2331720"/>
            <a:ext cx="1" cy="274320"/>
          </a:xfrm>
          <a:prstGeom prst="line">
            <a:avLst/>
          </a:prstGeom>
          <a:ln w="17780">
            <a:solidFill>
              <a:srgbClr val="B26A00"/>
            </a:solidFill>
            <a:headEnd type="triangle"/>
          </a:ln>
        </p:spPr>
      </p:sp>
      <p:sp>
        <p:nvSpPr>
          <p:cNvPr id="30" name="line 30"/>
          <p:cNvSpPr/>
          <p:nvPr/>
        </p:nvSpPr>
        <p:spPr>
          <a:xfrm flipH="0" flipV="0">
            <a:off x="7909560" y="2331720"/>
            <a:ext cx="1" cy="274320"/>
          </a:xfrm>
          <a:prstGeom prst="line">
            <a:avLst/>
          </a:prstGeom>
          <a:ln w="17780">
            <a:solidFill>
              <a:srgbClr val="B26A00"/>
            </a:solidFill>
            <a:headEnd type="triangle"/>
          </a:ln>
        </p:spPr>
      </p:sp>
      <p:sp>
        <p:nvSpPr>
          <p:cNvPr id="31" name="line 31"/>
          <p:cNvSpPr/>
          <p:nvPr/>
        </p:nvSpPr>
        <p:spPr>
          <a:xfrm flipH="0" flipV="0">
            <a:off x="8458200" y="2331720"/>
            <a:ext cx="1" cy="274320"/>
          </a:xfrm>
          <a:prstGeom prst="line">
            <a:avLst/>
          </a:prstGeom>
          <a:ln w="17780">
            <a:solidFill>
              <a:srgbClr val="B26A00"/>
            </a:solidFill>
            <a:headEnd type="triangle"/>
          </a:ln>
        </p:spPr>
      </p:sp>
      <p:sp>
        <p:nvSpPr>
          <p:cNvPr id="32" name="line 32"/>
          <p:cNvSpPr/>
          <p:nvPr/>
        </p:nvSpPr>
        <p:spPr>
          <a:xfrm flipH="0" flipV="0">
            <a:off x="9006840" y="2331720"/>
            <a:ext cx="1" cy="274320"/>
          </a:xfrm>
          <a:prstGeom prst="line">
            <a:avLst/>
          </a:prstGeom>
          <a:ln w="17780">
            <a:solidFill>
              <a:srgbClr val="B26A00"/>
            </a:solidFill>
            <a:headEnd type="triangle"/>
          </a:ln>
        </p:spPr>
      </p:sp>
      <p:sp>
        <p:nvSpPr>
          <p:cNvPr id="33" name="line 33"/>
          <p:cNvSpPr/>
          <p:nvPr/>
        </p:nvSpPr>
        <p:spPr>
          <a:xfrm flipH="0" flipV="0">
            <a:off x="9555480" y="2331720"/>
            <a:ext cx="1" cy="274320"/>
          </a:xfrm>
          <a:prstGeom prst="line">
            <a:avLst/>
          </a:prstGeom>
          <a:ln w="17780">
            <a:solidFill>
              <a:srgbClr val="B26A00"/>
            </a:solidFill>
            <a:headEnd type="triangle"/>
          </a:ln>
        </p:spPr>
      </p:sp>
      <p:sp>
        <p:nvSpPr>
          <p:cNvPr id="34" name="text 34"/>
          <p:cNvSpPr txBox="1"/>
          <p:nvPr/>
        </p:nvSpPr>
        <p:spPr>
          <a:xfrm>
            <a:off x="822960" y="5257800"/>
            <a:ext cx="2377440" cy="347472"/>
          </a:xfrm>
          <a:prstGeom prst="rect">
            <a:avLst/>
          </a:prstGeom>
          <a:solidFill>
            <a:srgbClr val="0B1F33"/>
          </a:solidFill>
          <a:ln w="12700">
            <a:solidFill>
              <a:srgbClr val="FFFFFF"/>
            </a:solidFill>
          </a:ln>
        </p:spPr>
        <p:txBody>
          <a:bodyPr wrap="square" anchor="ctr" lIns="36576" tIns="25603" rIns="36576" bIns="25603"/>
          <a:lstStyle/>
          <a:p>
            <a:pPr algn="ctr"/>
            <a:r>
              <a:rPr lang="en-US" sz="860" dirty="0" b="1">
                <a:solidFill>
                  <a:srgbClr val="FFFFFF"/>
                </a:solidFill>
              </a:rPr>
              <a:t>Module</a:t>
            </a:r>
          </a:p>
        </p:txBody>
      </p:sp>
      <p:sp>
        <p:nvSpPr>
          <p:cNvPr id="35" name="text 35"/>
          <p:cNvSpPr txBox="1"/>
          <p:nvPr/>
        </p:nvSpPr>
        <p:spPr>
          <a:xfrm>
            <a:off x="3200400" y="5257800"/>
            <a:ext cx="2834640" cy="347472"/>
          </a:xfrm>
          <a:prstGeom prst="rect">
            <a:avLst/>
          </a:prstGeom>
          <a:solidFill>
            <a:srgbClr val="0B1F33"/>
          </a:solidFill>
          <a:ln w="12700">
            <a:solidFill>
              <a:srgbClr val="FFFFFF"/>
            </a:solidFill>
          </a:ln>
        </p:spPr>
        <p:txBody>
          <a:bodyPr wrap="square" anchor="ctr" lIns="36576" tIns="25603" rIns="36576" bIns="25603"/>
          <a:lstStyle/>
          <a:p>
            <a:pPr algn="ctr"/>
            <a:r>
              <a:rPr lang="en-US" sz="860" dirty="0" b="1">
                <a:solidFill>
                  <a:srgbClr val="FFFFFF"/>
                </a:solidFill>
              </a:rPr>
              <a:t>Small HMI</a:t>
            </a:r>
          </a:p>
        </p:txBody>
      </p:sp>
      <p:sp>
        <p:nvSpPr>
          <p:cNvPr id="36" name="text 36"/>
          <p:cNvSpPr txBox="1"/>
          <p:nvPr/>
        </p:nvSpPr>
        <p:spPr>
          <a:xfrm>
            <a:off x="6035040" y="5257800"/>
            <a:ext cx="2834640" cy="347472"/>
          </a:xfrm>
          <a:prstGeom prst="rect">
            <a:avLst/>
          </a:prstGeom>
          <a:solidFill>
            <a:srgbClr val="0B1F33"/>
          </a:solidFill>
          <a:ln w="12700">
            <a:solidFill>
              <a:srgbClr val="FFFFFF"/>
            </a:solidFill>
          </a:ln>
        </p:spPr>
        <p:txBody>
          <a:bodyPr wrap="square" anchor="ctr" lIns="36576" tIns="25603" rIns="36576" bIns="25603"/>
          <a:lstStyle/>
          <a:p>
            <a:pPr algn="ctr"/>
            <a:r>
              <a:rPr lang="en-US" sz="860" dirty="0" b="1">
                <a:solidFill>
                  <a:srgbClr val="FFFFFF"/>
                </a:solidFill>
              </a:rPr>
              <a:t>Large HMI</a:t>
            </a:r>
          </a:p>
        </p:txBody>
      </p:sp>
      <p:sp>
        <p:nvSpPr>
          <p:cNvPr id="37" name="text 37"/>
          <p:cNvSpPr txBox="1"/>
          <p:nvPr/>
        </p:nvSpPr>
        <p:spPr>
          <a:xfrm>
            <a:off x="8869680" y="5257800"/>
            <a:ext cx="2468880" cy="347472"/>
          </a:xfrm>
          <a:prstGeom prst="rect">
            <a:avLst/>
          </a:prstGeom>
          <a:solidFill>
            <a:srgbClr val="0B1F33"/>
          </a:solidFill>
          <a:ln w="12700">
            <a:solidFill>
              <a:srgbClr val="FFFFFF"/>
            </a:solidFill>
          </a:ln>
        </p:spPr>
        <p:txBody>
          <a:bodyPr wrap="square" anchor="ctr" lIns="36576" tIns="25603" rIns="36576" bIns="25603"/>
          <a:lstStyle/>
          <a:p>
            <a:pPr algn="ctr"/>
            <a:r>
              <a:rPr lang="en-US" sz="860" dirty="0" b="1">
                <a:solidFill>
                  <a:srgbClr val="FFFFFF"/>
                </a:solidFill>
              </a:rPr>
              <a:t>Reuse value</a:t>
            </a:r>
          </a:p>
        </p:txBody>
      </p:sp>
      <p:sp>
        <p:nvSpPr>
          <p:cNvPr id="38" name="text 38"/>
          <p:cNvSpPr txBox="1"/>
          <p:nvPr/>
        </p:nvSpPr>
        <p:spPr>
          <a:xfrm>
            <a:off x="822960" y="5605272"/>
            <a:ext cx="23774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Frame rails</a:t>
            </a:r>
          </a:p>
        </p:txBody>
      </p:sp>
      <p:sp>
        <p:nvSpPr>
          <p:cNvPr id="39" name="text 39"/>
          <p:cNvSpPr txBox="1"/>
          <p:nvPr/>
        </p:nvSpPr>
        <p:spPr>
          <a:xfrm>
            <a:off x="3200400" y="5605272"/>
            <a:ext cx="28346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short base</a:t>
            </a:r>
          </a:p>
        </p:txBody>
      </p:sp>
      <p:sp>
        <p:nvSpPr>
          <p:cNvPr id="40" name="text 40"/>
          <p:cNvSpPr txBox="1"/>
          <p:nvPr/>
        </p:nvSpPr>
        <p:spPr>
          <a:xfrm>
            <a:off x="6035040" y="5605272"/>
            <a:ext cx="28346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extended base</a:t>
            </a:r>
          </a:p>
        </p:txBody>
      </p:sp>
      <p:sp>
        <p:nvSpPr>
          <p:cNvPr id="41" name="text 41"/>
          <p:cNvSpPr txBox="1"/>
          <p:nvPr/>
        </p:nvSpPr>
        <p:spPr>
          <a:xfrm>
            <a:off x="8869680" y="5605272"/>
            <a:ext cx="24688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same extrusion ecosystem</a:t>
            </a:r>
          </a:p>
        </p:txBody>
      </p:sp>
      <p:sp>
        <p:nvSpPr>
          <p:cNvPr id="42" name="text 42"/>
          <p:cNvSpPr txBox="1"/>
          <p:nvPr/>
        </p:nvSpPr>
        <p:spPr>
          <a:xfrm>
            <a:off x="822960" y="5952744"/>
            <a:ext cx="2377440" cy="347472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Actuator rows</a:t>
            </a:r>
          </a:p>
        </p:txBody>
      </p:sp>
      <p:sp>
        <p:nvSpPr>
          <p:cNvPr id="43" name="text 43"/>
          <p:cNvSpPr txBox="1"/>
          <p:nvPr/>
        </p:nvSpPr>
        <p:spPr>
          <a:xfrm>
            <a:off x="3200400" y="5952744"/>
            <a:ext cx="2834640" cy="347472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few pins</a:t>
            </a:r>
          </a:p>
        </p:txBody>
      </p:sp>
      <p:sp>
        <p:nvSpPr>
          <p:cNvPr id="44" name="text 44"/>
          <p:cNvSpPr txBox="1"/>
          <p:nvPr/>
        </p:nvSpPr>
        <p:spPr>
          <a:xfrm>
            <a:off x="6035040" y="5952744"/>
            <a:ext cx="2834640" cy="347472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dense pin rows</a:t>
            </a:r>
          </a:p>
        </p:txBody>
      </p:sp>
      <p:sp>
        <p:nvSpPr>
          <p:cNvPr id="45" name="text 45"/>
          <p:cNvSpPr txBox="1"/>
          <p:nvPr/>
        </p:nvSpPr>
        <p:spPr>
          <a:xfrm>
            <a:off x="8869680" y="5952744"/>
            <a:ext cx="2468880" cy="347472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same modules</a:t>
            </a:r>
          </a:p>
        </p:txBody>
      </p:sp>
      <p:sp>
        <p:nvSpPr>
          <p:cNvPr id="46" name="text 46"/>
          <p:cNvSpPr txBox="1"/>
          <p:nvPr/>
        </p:nvSpPr>
        <p:spPr>
          <a:xfrm>
            <a:off x="822960" y="6300216"/>
            <a:ext cx="23774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Vision</a:t>
            </a:r>
          </a:p>
        </p:txBody>
      </p:sp>
      <p:sp>
        <p:nvSpPr>
          <p:cNvPr id="47" name="text 47"/>
          <p:cNvSpPr txBox="1"/>
          <p:nvPr/>
        </p:nvSpPr>
        <p:spPr>
          <a:xfrm>
            <a:off x="3200400" y="6300216"/>
            <a:ext cx="28346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single camera</a:t>
            </a:r>
          </a:p>
        </p:txBody>
      </p:sp>
      <p:sp>
        <p:nvSpPr>
          <p:cNvPr id="48" name="text 48"/>
          <p:cNvSpPr txBox="1"/>
          <p:nvPr/>
        </p:nvSpPr>
        <p:spPr>
          <a:xfrm>
            <a:off x="6035040" y="6300216"/>
            <a:ext cx="28346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multi-camera array</a:t>
            </a:r>
          </a:p>
        </p:txBody>
      </p:sp>
      <p:sp>
        <p:nvSpPr>
          <p:cNvPr id="49" name="text 49"/>
          <p:cNvSpPr txBox="1"/>
          <p:nvPr/>
        </p:nvSpPr>
        <p:spPr>
          <a:xfrm>
            <a:off x="8869680" y="6300216"/>
            <a:ext cx="24688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same software</a:t>
            </a:r>
          </a:p>
        </p:txBody>
      </p:sp>
      <p:sp>
        <p:nvSpPr>
          <p:cNvPr id="50" name="text 50"/>
          <p:cNvSpPr txBox="1"/>
          <p:nvPr/>
        </p:nvSpPr>
        <p:spPr>
          <a:xfrm>
            <a:off x="822960" y="6647688"/>
            <a:ext cx="2377440" cy="347472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Panels</a:t>
            </a:r>
          </a:p>
        </p:txBody>
      </p:sp>
      <p:sp>
        <p:nvSpPr>
          <p:cNvPr id="51" name="text 51"/>
          <p:cNvSpPr txBox="1"/>
          <p:nvPr/>
        </p:nvSpPr>
        <p:spPr>
          <a:xfrm>
            <a:off x="3200400" y="6647688"/>
            <a:ext cx="2834640" cy="347472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one plate</a:t>
            </a:r>
          </a:p>
        </p:txBody>
      </p:sp>
      <p:sp>
        <p:nvSpPr>
          <p:cNvPr id="52" name="text 52"/>
          <p:cNvSpPr txBox="1"/>
          <p:nvPr/>
        </p:nvSpPr>
        <p:spPr>
          <a:xfrm>
            <a:off x="6035040" y="6647688"/>
            <a:ext cx="2834640" cy="347472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multi-zone plates</a:t>
            </a:r>
          </a:p>
        </p:txBody>
      </p:sp>
      <p:sp>
        <p:nvSpPr>
          <p:cNvPr id="53" name="text 53"/>
          <p:cNvSpPr txBox="1"/>
          <p:nvPr/>
        </p:nvSpPr>
        <p:spPr>
          <a:xfrm>
            <a:off x="8869680" y="6647688"/>
            <a:ext cx="2468880" cy="347472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swappable design</a:t>
            </a:r>
          </a:p>
        </p:txBody>
      </p:sp>
      <p:sp>
        <p:nvSpPr>
          <p:cNvPr id="54" name="text 54"/>
          <p:cNvSpPr txBox="1"/>
          <p:nvPr/>
        </p:nvSpPr>
        <p:spPr>
          <a:xfrm>
            <a:off x="502920" y="6473952"/>
            <a:ext cx="56692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720" dirty="0">
                <a:solidFill>
                  <a:srgbClr val="708090"/>
                </a:solidFill>
              </a:rPr>
              <a:t>Static Robo HMI Test Jig vs. Robotic Hand  |  Research Deck</a:t>
            </a:r>
          </a:p>
        </p:txBody>
      </p:sp>
      <p:sp>
        <p:nvSpPr>
          <p:cNvPr id="55" name="text 55"/>
          <p:cNvSpPr txBox="1"/>
          <p:nvPr/>
        </p:nvSpPr>
        <p:spPr>
          <a:xfrm>
            <a:off x="11384280" y="6473952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/>
            <a:r>
              <a:rPr lang="en-US" sz="720" dirty="0">
                <a:solidFill>
                  <a:srgbClr val="708090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1F33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02920" y="310896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51206" rIns="73152" bIns="51206"/>
          <a:lstStyle/>
          <a:p>
            <a:pPr algn="l"/>
            <a:r>
              <a:rPr lang="en-US" sz="850" dirty="0" b="1">
                <a:solidFill>
                  <a:srgbClr val="1E5AA8"/>
                </a:solidFill>
              </a:rPr>
              <a:t>MECHANICAL ADVANTAGE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502920" y="530352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2400" dirty="0" b="1">
                <a:solidFill>
                  <a:srgbClr val="102033"/>
                </a:solidFill>
              </a:rPr>
              <a:t>3. Adjustable screw-height pins support curved, sloped, and uneven surfaces</a:t>
            </a:r>
          </a:p>
        </p:txBody>
      </p:sp>
      <p:sp>
        <p:nvSpPr>
          <p:cNvPr id="5" name="line 5"/>
          <p:cNvSpPr/>
          <p:nvPr/>
        </p:nvSpPr>
        <p:spPr>
          <a:xfrm flipH="0" flipV="0">
            <a:off x="502920" y="1078992"/>
            <a:ext cx="11155680" cy="1"/>
          </a:xfrm>
          <a:prstGeom prst="line">
            <a:avLst/>
          </a:prstGeom>
          <a:ln w="12700">
            <a:solidFill>
              <a:srgbClr val="D5DDE5"/>
            </a:solidFill>
          </a:ln>
        </p:spPr>
      </p:sp>
      <p:sp>
        <p:nvSpPr>
          <p:cNvPr id="6" name="shape 6"/>
          <p:cNvSpPr/>
          <p:nvPr/>
        </p:nvSpPr>
        <p:spPr>
          <a:xfrm>
            <a:off x="685800" y="1234440"/>
            <a:ext cx="103327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5"/>
            </a:solidFill>
          </a:ln>
        </p:spPr>
      </p:sp>
      <p:sp>
        <p:nvSpPr>
          <p:cNvPr id="7" name="shape 7"/>
          <p:cNvSpPr/>
          <p:nvPr/>
        </p:nvSpPr>
        <p:spPr>
          <a:xfrm>
            <a:off x="685800" y="1234440"/>
            <a:ext cx="73152" cy="749808"/>
          </a:xfrm>
          <a:prstGeom prst="rect">
            <a:avLst/>
          </a:prstGeom>
          <a:solidFill>
            <a:srgbClr val="1E5AA8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850392" y="1362456"/>
            <a:ext cx="100126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100" dirty="0" b="1">
                <a:solidFill>
                  <a:srgbClr val="1E5AA8"/>
                </a:solidFill>
              </a:rPr>
              <a:t>Engineering principle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850392" y="1691640"/>
            <a:ext cx="10012680" cy="201167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880" dirty="0">
                <a:solidFill>
                  <a:srgbClr val="52667A"/>
                </a:solidFill>
              </a:rPr>
              <a:t>Instead of solving every surface variation with complex robotic pose control, the jig mechanically conforms each contact point to the HMI geometry during setup.</a:t>
            </a:r>
          </a:p>
        </p:txBody>
      </p:sp>
      <p:sp>
        <p:nvSpPr>
          <p:cNvPr id="10" name="shape 10"/>
          <p:cNvSpPr/>
          <p:nvPr/>
        </p:nvSpPr>
        <p:spPr>
          <a:xfrm>
            <a:off x="914400" y="2331720"/>
            <a:ext cx="1019556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5"/>
            </a:solidFill>
          </a:ln>
        </p:spPr>
      </p:sp>
      <p:sp>
        <p:nvSpPr>
          <p:cNvPr id="11" name="text 11"/>
          <p:cNvSpPr txBox="1"/>
          <p:nvPr/>
        </p:nvSpPr>
        <p:spPr>
          <a:xfrm>
            <a:off x="1143000" y="2560320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000" dirty="0" b="1">
                <a:solidFill>
                  <a:srgbClr val="1E5AA8"/>
                </a:solidFill>
              </a:rPr>
              <a:t>Cross-section concept</a:t>
            </a:r>
          </a:p>
        </p:txBody>
      </p:sp>
      <p:sp>
        <p:nvSpPr>
          <p:cNvPr id="12" name="shape 12"/>
          <p:cNvSpPr/>
          <p:nvPr/>
        </p:nvSpPr>
        <p:spPr>
          <a:xfrm>
            <a:off x="1645920" y="2926080"/>
            <a:ext cx="8686800" cy="164592"/>
          </a:xfrm>
          <a:prstGeom prst="rect">
            <a:avLst/>
          </a:prstGeom>
          <a:solidFill>
            <a:srgbClr val="6E7F90"/>
          </a:solidFill>
          <a:ln>
            <a:noFill/>
          </a:ln>
        </p:spPr>
      </p:sp>
      <p:sp>
        <p:nvSpPr>
          <p:cNvPr id="13" name="shape 13"/>
          <p:cNvSpPr/>
          <p:nvPr/>
        </p:nvSpPr>
        <p:spPr>
          <a:xfrm>
            <a:off x="1837943" y="2926080"/>
            <a:ext cx="73152" cy="1691639"/>
          </a:xfrm>
          <a:prstGeom prst="rect">
            <a:avLst/>
          </a:prstGeom>
          <a:solidFill>
            <a:srgbClr val="B26A00"/>
          </a:solidFill>
          <a:ln w="12700">
            <a:solidFill>
              <a:srgbClr val="8A4D00"/>
            </a:solidFill>
          </a:ln>
        </p:spPr>
      </p:sp>
      <p:sp>
        <p:nvSpPr>
          <p:cNvPr id="14" name="ellipse 14"/>
          <p:cNvSpPr/>
          <p:nvPr/>
        </p:nvSpPr>
        <p:spPr>
          <a:xfrm>
            <a:off x="1755648" y="2779776"/>
            <a:ext cx="237744" cy="146304"/>
          </a:xfrm>
          <a:prstGeom prst="ellipse">
            <a:avLst/>
          </a:prstGeom>
          <a:solidFill>
            <a:srgbClr val="F2C078"/>
          </a:solidFill>
          <a:ln w="12700">
            <a:solidFill>
              <a:srgbClr val="8A4D00"/>
            </a:solidFill>
          </a:ln>
        </p:spPr>
      </p:sp>
      <p:sp>
        <p:nvSpPr>
          <p:cNvPr id="15" name="shape 15"/>
          <p:cNvSpPr/>
          <p:nvPr/>
        </p:nvSpPr>
        <p:spPr>
          <a:xfrm>
            <a:off x="1728216" y="4544568"/>
            <a:ext cx="292608" cy="109728"/>
          </a:xfrm>
          <a:prstGeom prst="rect">
            <a:avLst/>
          </a:prstGeom>
          <a:solidFill>
            <a:srgbClr val="1E5AA8"/>
          </a:solidFill>
          <a:ln>
            <a:noFill/>
          </a:ln>
        </p:spPr>
      </p:sp>
      <p:sp>
        <p:nvSpPr>
          <p:cNvPr id="16" name="shape 16"/>
          <p:cNvSpPr/>
          <p:nvPr/>
        </p:nvSpPr>
        <p:spPr>
          <a:xfrm>
            <a:off x="2478024" y="2926080"/>
            <a:ext cx="73152" cy="1508759"/>
          </a:xfrm>
          <a:prstGeom prst="rect">
            <a:avLst/>
          </a:prstGeom>
          <a:solidFill>
            <a:srgbClr val="B26A00"/>
          </a:solidFill>
          <a:ln w="12700">
            <a:solidFill>
              <a:srgbClr val="8A4D00"/>
            </a:solidFill>
          </a:ln>
        </p:spPr>
      </p:sp>
      <p:sp>
        <p:nvSpPr>
          <p:cNvPr id="17" name="ellipse 17"/>
          <p:cNvSpPr/>
          <p:nvPr/>
        </p:nvSpPr>
        <p:spPr>
          <a:xfrm>
            <a:off x="2395728" y="2779776"/>
            <a:ext cx="237744" cy="146304"/>
          </a:xfrm>
          <a:prstGeom prst="ellipse">
            <a:avLst/>
          </a:prstGeom>
          <a:solidFill>
            <a:srgbClr val="F2C078"/>
          </a:solidFill>
          <a:ln w="12700">
            <a:solidFill>
              <a:srgbClr val="8A4D00"/>
            </a:solidFill>
          </a:ln>
        </p:spPr>
      </p:sp>
      <p:sp>
        <p:nvSpPr>
          <p:cNvPr id="18" name="shape 18"/>
          <p:cNvSpPr/>
          <p:nvPr/>
        </p:nvSpPr>
        <p:spPr>
          <a:xfrm>
            <a:off x="2368296" y="4361688"/>
            <a:ext cx="292608" cy="109728"/>
          </a:xfrm>
          <a:prstGeom prst="rect">
            <a:avLst/>
          </a:prstGeom>
          <a:solidFill>
            <a:srgbClr val="1E5AA8"/>
          </a:solidFill>
          <a:ln>
            <a:noFill/>
          </a:ln>
        </p:spPr>
      </p:sp>
      <p:sp>
        <p:nvSpPr>
          <p:cNvPr id="19" name="shape 19"/>
          <p:cNvSpPr/>
          <p:nvPr/>
        </p:nvSpPr>
        <p:spPr>
          <a:xfrm>
            <a:off x="3118104" y="2926080"/>
            <a:ext cx="73152" cy="1325880"/>
          </a:xfrm>
          <a:prstGeom prst="rect">
            <a:avLst/>
          </a:prstGeom>
          <a:solidFill>
            <a:srgbClr val="B26A00"/>
          </a:solidFill>
          <a:ln w="12700">
            <a:solidFill>
              <a:srgbClr val="8A4D00"/>
            </a:solidFill>
          </a:ln>
        </p:spPr>
      </p:sp>
      <p:sp>
        <p:nvSpPr>
          <p:cNvPr id="20" name="ellipse 20"/>
          <p:cNvSpPr/>
          <p:nvPr/>
        </p:nvSpPr>
        <p:spPr>
          <a:xfrm>
            <a:off x="3035808" y="2779776"/>
            <a:ext cx="237744" cy="146304"/>
          </a:xfrm>
          <a:prstGeom prst="ellipse">
            <a:avLst/>
          </a:prstGeom>
          <a:solidFill>
            <a:srgbClr val="F2C078"/>
          </a:solidFill>
          <a:ln w="12700">
            <a:solidFill>
              <a:srgbClr val="8A4D00"/>
            </a:solidFill>
          </a:ln>
        </p:spPr>
      </p:sp>
      <p:sp>
        <p:nvSpPr>
          <p:cNvPr id="21" name="shape 21"/>
          <p:cNvSpPr/>
          <p:nvPr/>
        </p:nvSpPr>
        <p:spPr>
          <a:xfrm>
            <a:off x="3008376" y="4178808"/>
            <a:ext cx="292608" cy="109728"/>
          </a:xfrm>
          <a:prstGeom prst="rect">
            <a:avLst/>
          </a:prstGeom>
          <a:solidFill>
            <a:srgbClr val="1E5AA8"/>
          </a:solidFill>
          <a:ln>
            <a:noFill/>
          </a:ln>
        </p:spPr>
      </p:sp>
      <p:sp>
        <p:nvSpPr>
          <p:cNvPr id="22" name="shape 22"/>
          <p:cNvSpPr/>
          <p:nvPr/>
        </p:nvSpPr>
        <p:spPr>
          <a:xfrm>
            <a:off x="3758184" y="2926080"/>
            <a:ext cx="73152" cy="1170432"/>
          </a:xfrm>
          <a:prstGeom prst="rect">
            <a:avLst/>
          </a:prstGeom>
          <a:solidFill>
            <a:srgbClr val="B26A00"/>
          </a:solidFill>
          <a:ln w="12700">
            <a:solidFill>
              <a:srgbClr val="8A4D00"/>
            </a:solidFill>
          </a:ln>
        </p:spPr>
      </p:sp>
      <p:sp>
        <p:nvSpPr>
          <p:cNvPr id="23" name="ellipse 23"/>
          <p:cNvSpPr/>
          <p:nvPr/>
        </p:nvSpPr>
        <p:spPr>
          <a:xfrm>
            <a:off x="3675888" y="2779776"/>
            <a:ext cx="237744" cy="146304"/>
          </a:xfrm>
          <a:prstGeom prst="ellipse">
            <a:avLst/>
          </a:prstGeom>
          <a:solidFill>
            <a:srgbClr val="F2C078"/>
          </a:solidFill>
          <a:ln w="12700">
            <a:solidFill>
              <a:srgbClr val="8A4D00"/>
            </a:solidFill>
          </a:ln>
        </p:spPr>
      </p:sp>
      <p:sp>
        <p:nvSpPr>
          <p:cNvPr id="24" name="shape 24"/>
          <p:cNvSpPr/>
          <p:nvPr/>
        </p:nvSpPr>
        <p:spPr>
          <a:xfrm>
            <a:off x="3648456" y="4023360"/>
            <a:ext cx="292608" cy="109728"/>
          </a:xfrm>
          <a:prstGeom prst="rect">
            <a:avLst/>
          </a:prstGeom>
          <a:solidFill>
            <a:srgbClr val="1E5AA8"/>
          </a:solidFill>
          <a:ln>
            <a:noFill/>
          </a:ln>
        </p:spPr>
      </p:sp>
      <p:sp>
        <p:nvSpPr>
          <p:cNvPr id="25" name="shape 25"/>
          <p:cNvSpPr/>
          <p:nvPr/>
        </p:nvSpPr>
        <p:spPr>
          <a:xfrm>
            <a:off x="4398264" y="2926080"/>
            <a:ext cx="73152" cy="1051559"/>
          </a:xfrm>
          <a:prstGeom prst="rect">
            <a:avLst/>
          </a:prstGeom>
          <a:solidFill>
            <a:srgbClr val="B26A00"/>
          </a:solidFill>
          <a:ln w="12700">
            <a:solidFill>
              <a:srgbClr val="8A4D00"/>
            </a:solidFill>
          </a:ln>
        </p:spPr>
      </p:sp>
      <p:sp>
        <p:nvSpPr>
          <p:cNvPr id="26" name="ellipse 26"/>
          <p:cNvSpPr/>
          <p:nvPr/>
        </p:nvSpPr>
        <p:spPr>
          <a:xfrm>
            <a:off x="4315968" y="2779776"/>
            <a:ext cx="237744" cy="146304"/>
          </a:xfrm>
          <a:prstGeom prst="ellipse">
            <a:avLst/>
          </a:prstGeom>
          <a:solidFill>
            <a:srgbClr val="F2C078"/>
          </a:solidFill>
          <a:ln w="12700">
            <a:solidFill>
              <a:srgbClr val="8A4D00"/>
            </a:solidFill>
          </a:ln>
        </p:spPr>
      </p:sp>
      <p:sp>
        <p:nvSpPr>
          <p:cNvPr id="27" name="shape 27"/>
          <p:cNvSpPr/>
          <p:nvPr/>
        </p:nvSpPr>
        <p:spPr>
          <a:xfrm>
            <a:off x="4288536" y="3904487"/>
            <a:ext cx="292608" cy="109728"/>
          </a:xfrm>
          <a:prstGeom prst="rect">
            <a:avLst/>
          </a:prstGeom>
          <a:solidFill>
            <a:srgbClr val="1E5AA8"/>
          </a:solidFill>
          <a:ln>
            <a:noFill/>
          </a:ln>
        </p:spPr>
      </p:sp>
      <p:sp>
        <p:nvSpPr>
          <p:cNvPr id="28" name="shape 28"/>
          <p:cNvSpPr/>
          <p:nvPr/>
        </p:nvSpPr>
        <p:spPr>
          <a:xfrm>
            <a:off x="5038344" y="2926080"/>
            <a:ext cx="73152" cy="978407"/>
          </a:xfrm>
          <a:prstGeom prst="rect">
            <a:avLst/>
          </a:prstGeom>
          <a:solidFill>
            <a:srgbClr val="B26A00"/>
          </a:solidFill>
          <a:ln w="12700">
            <a:solidFill>
              <a:srgbClr val="8A4D00"/>
            </a:solidFill>
          </a:ln>
        </p:spPr>
      </p:sp>
      <p:sp>
        <p:nvSpPr>
          <p:cNvPr id="29" name="ellipse 29"/>
          <p:cNvSpPr/>
          <p:nvPr/>
        </p:nvSpPr>
        <p:spPr>
          <a:xfrm>
            <a:off x="4956048" y="2779776"/>
            <a:ext cx="237744" cy="146304"/>
          </a:xfrm>
          <a:prstGeom prst="ellipse">
            <a:avLst/>
          </a:prstGeom>
          <a:solidFill>
            <a:srgbClr val="F2C078"/>
          </a:solidFill>
          <a:ln w="12700">
            <a:solidFill>
              <a:srgbClr val="8A4D00"/>
            </a:solidFill>
          </a:ln>
        </p:spPr>
      </p:sp>
      <p:sp>
        <p:nvSpPr>
          <p:cNvPr id="30" name="shape 30"/>
          <p:cNvSpPr/>
          <p:nvPr/>
        </p:nvSpPr>
        <p:spPr>
          <a:xfrm>
            <a:off x="4928616" y="3831335"/>
            <a:ext cx="292608" cy="109728"/>
          </a:xfrm>
          <a:prstGeom prst="rect">
            <a:avLst/>
          </a:prstGeom>
          <a:solidFill>
            <a:srgbClr val="1E5AA8"/>
          </a:solidFill>
          <a:ln>
            <a:noFill/>
          </a:ln>
        </p:spPr>
      </p:sp>
      <p:sp>
        <p:nvSpPr>
          <p:cNvPr id="31" name="shape 31"/>
          <p:cNvSpPr/>
          <p:nvPr/>
        </p:nvSpPr>
        <p:spPr>
          <a:xfrm>
            <a:off x="5678424" y="2926080"/>
            <a:ext cx="73152" cy="960119"/>
          </a:xfrm>
          <a:prstGeom prst="rect">
            <a:avLst/>
          </a:prstGeom>
          <a:solidFill>
            <a:srgbClr val="B26A00"/>
          </a:solidFill>
          <a:ln w="12700">
            <a:solidFill>
              <a:srgbClr val="8A4D00"/>
            </a:solidFill>
          </a:ln>
        </p:spPr>
      </p:sp>
      <p:sp>
        <p:nvSpPr>
          <p:cNvPr id="32" name="ellipse 32"/>
          <p:cNvSpPr/>
          <p:nvPr/>
        </p:nvSpPr>
        <p:spPr>
          <a:xfrm>
            <a:off x="5596128" y="2779776"/>
            <a:ext cx="237744" cy="146304"/>
          </a:xfrm>
          <a:prstGeom prst="ellipse">
            <a:avLst/>
          </a:prstGeom>
          <a:solidFill>
            <a:srgbClr val="F2C078"/>
          </a:solidFill>
          <a:ln w="12700">
            <a:solidFill>
              <a:srgbClr val="8A4D00"/>
            </a:solidFill>
          </a:ln>
        </p:spPr>
      </p:sp>
      <p:sp>
        <p:nvSpPr>
          <p:cNvPr id="33" name="shape 33"/>
          <p:cNvSpPr/>
          <p:nvPr/>
        </p:nvSpPr>
        <p:spPr>
          <a:xfrm>
            <a:off x="5568696" y="3813048"/>
            <a:ext cx="292608" cy="109728"/>
          </a:xfrm>
          <a:prstGeom prst="rect">
            <a:avLst/>
          </a:prstGeom>
          <a:solidFill>
            <a:srgbClr val="1E5AA8"/>
          </a:solidFill>
          <a:ln>
            <a:noFill/>
          </a:ln>
        </p:spPr>
      </p:sp>
      <p:sp>
        <p:nvSpPr>
          <p:cNvPr id="34" name="shape 34"/>
          <p:cNvSpPr/>
          <p:nvPr/>
        </p:nvSpPr>
        <p:spPr>
          <a:xfrm>
            <a:off x="6318504" y="2926080"/>
            <a:ext cx="73152" cy="1024128"/>
          </a:xfrm>
          <a:prstGeom prst="rect">
            <a:avLst/>
          </a:prstGeom>
          <a:solidFill>
            <a:srgbClr val="B26A00"/>
          </a:solidFill>
          <a:ln w="12700">
            <a:solidFill>
              <a:srgbClr val="8A4D00"/>
            </a:solidFill>
          </a:ln>
        </p:spPr>
      </p:sp>
      <p:sp>
        <p:nvSpPr>
          <p:cNvPr id="35" name="ellipse 35"/>
          <p:cNvSpPr/>
          <p:nvPr/>
        </p:nvSpPr>
        <p:spPr>
          <a:xfrm>
            <a:off x="6236208" y="2779776"/>
            <a:ext cx="237744" cy="146304"/>
          </a:xfrm>
          <a:prstGeom prst="ellipse">
            <a:avLst/>
          </a:prstGeom>
          <a:solidFill>
            <a:srgbClr val="F2C078"/>
          </a:solidFill>
          <a:ln w="12700">
            <a:solidFill>
              <a:srgbClr val="8A4D00"/>
            </a:solidFill>
          </a:ln>
        </p:spPr>
      </p:sp>
      <p:sp>
        <p:nvSpPr>
          <p:cNvPr id="36" name="shape 36"/>
          <p:cNvSpPr/>
          <p:nvPr/>
        </p:nvSpPr>
        <p:spPr>
          <a:xfrm>
            <a:off x="6208776" y="3877056"/>
            <a:ext cx="292608" cy="109728"/>
          </a:xfrm>
          <a:prstGeom prst="rect">
            <a:avLst/>
          </a:prstGeom>
          <a:solidFill>
            <a:srgbClr val="1E5AA8"/>
          </a:solidFill>
          <a:ln>
            <a:noFill/>
          </a:ln>
        </p:spPr>
      </p:sp>
      <p:sp>
        <p:nvSpPr>
          <p:cNvPr id="37" name="shape 37"/>
          <p:cNvSpPr/>
          <p:nvPr/>
        </p:nvSpPr>
        <p:spPr>
          <a:xfrm>
            <a:off x="6958584" y="2926080"/>
            <a:ext cx="73152" cy="1170432"/>
          </a:xfrm>
          <a:prstGeom prst="rect">
            <a:avLst/>
          </a:prstGeom>
          <a:solidFill>
            <a:srgbClr val="B26A00"/>
          </a:solidFill>
          <a:ln w="12700">
            <a:solidFill>
              <a:srgbClr val="8A4D00"/>
            </a:solidFill>
          </a:ln>
        </p:spPr>
      </p:sp>
      <p:sp>
        <p:nvSpPr>
          <p:cNvPr id="38" name="ellipse 38"/>
          <p:cNvSpPr/>
          <p:nvPr/>
        </p:nvSpPr>
        <p:spPr>
          <a:xfrm>
            <a:off x="6876288" y="2779776"/>
            <a:ext cx="237744" cy="146304"/>
          </a:xfrm>
          <a:prstGeom prst="ellipse">
            <a:avLst/>
          </a:prstGeom>
          <a:solidFill>
            <a:srgbClr val="F2C078"/>
          </a:solidFill>
          <a:ln w="12700">
            <a:solidFill>
              <a:srgbClr val="8A4D00"/>
            </a:solidFill>
          </a:ln>
        </p:spPr>
      </p:sp>
      <p:sp>
        <p:nvSpPr>
          <p:cNvPr id="39" name="shape 39"/>
          <p:cNvSpPr/>
          <p:nvPr/>
        </p:nvSpPr>
        <p:spPr>
          <a:xfrm>
            <a:off x="6848856" y="4023360"/>
            <a:ext cx="292608" cy="109728"/>
          </a:xfrm>
          <a:prstGeom prst="rect">
            <a:avLst/>
          </a:prstGeom>
          <a:solidFill>
            <a:srgbClr val="1E5AA8"/>
          </a:solidFill>
          <a:ln>
            <a:noFill/>
          </a:ln>
        </p:spPr>
      </p:sp>
      <p:sp>
        <p:nvSpPr>
          <p:cNvPr id="40" name="shape 40"/>
          <p:cNvSpPr/>
          <p:nvPr/>
        </p:nvSpPr>
        <p:spPr>
          <a:xfrm>
            <a:off x="7598664" y="2926080"/>
            <a:ext cx="73152" cy="1325880"/>
          </a:xfrm>
          <a:prstGeom prst="rect">
            <a:avLst/>
          </a:prstGeom>
          <a:solidFill>
            <a:srgbClr val="B26A00"/>
          </a:solidFill>
          <a:ln w="12700">
            <a:solidFill>
              <a:srgbClr val="8A4D00"/>
            </a:solidFill>
          </a:ln>
        </p:spPr>
      </p:sp>
      <p:sp>
        <p:nvSpPr>
          <p:cNvPr id="41" name="ellipse 41"/>
          <p:cNvSpPr/>
          <p:nvPr/>
        </p:nvSpPr>
        <p:spPr>
          <a:xfrm>
            <a:off x="7516367" y="2779776"/>
            <a:ext cx="237744" cy="146304"/>
          </a:xfrm>
          <a:prstGeom prst="ellipse">
            <a:avLst/>
          </a:prstGeom>
          <a:solidFill>
            <a:srgbClr val="F2C078"/>
          </a:solidFill>
          <a:ln w="12700">
            <a:solidFill>
              <a:srgbClr val="8A4D00"/>
            </a:solidFill>
          </a:ln>
        </p:spPr>
      </p:sp>
      <p:sp>
        <p:nvSpPr>
          <p:cNvPr id="42" name="shape 42"/>
          <p:cNvSpPr/>
          <p:nvPr/>
        </p:nvSpPr>
        <p:spPr>
          <a:xfrm>
            <a:off x="7488936" y="4178808"/>
            <a:ext cx="292608" cy="109728"/>
          </a:xfrm>
          <a:prstGeom prst="rect">
            <a:avLst/>
          </a:prstGeom>
          <a:solidFill>
            <a:srgbClr val="1E5AA8"/>
          </a:solidFill>
          <a:ln>
            <a:noFill/>
          </a:ln>
        </p:spPr>
      </p:sp>
      <p:sp>
        <p:nvSpPr>
          <p:cNvPr id="43" name="shape 43"/>
          <p:cNvSpPr/>
          <p:nvPr/>
        </p:nvSpPr>
        <p:spPr>
          <a:xfrm>
            <a:off x="8238744" y="2926080"/>
            <a:ext cx="73152" cy="1508759"/>
          </a:xfrm>
          <a:prstGeom prst="rect">
            <a:avLst/>
          </a:prstGeom>
          <a:solidFill>
            <a:srgbClr val="B26A00"/>
          </a:solidFill>
          <a:ln w="12700">
            <a:solidFill>
              <a:srgbClr val="8A4D00"/>
            </a:solidFill>
          </a:ln>
        </p:spPr>
      </p:sp>
      <p:sp>
        <p:nvSpPr>
          <p:cNvPr id="44" name="ellipse 44"/>
          <p:cNvSpPr/>
          <p:nvPr/>
        </p:nvSpPr>
        <p:spPr>
          <a:xfrm>
            <a:off x="8156448" y="2779776"/>
            <a:ext cx="237744" cy="146304"/>
          </a:xfrm>
          <a:prstGeom prst="ellipse">
            <a:avLst/>
          </a:prstGeom>
          <a:solidFill>
            <a:srgbClr val="F2C078"/>
          </a:solidFill>
          <a:ln w="12700">
            <a:solidFill>
              <a:srgbClr val="8A4D00"/>
            </a:solidFill>
          </a:ln>
        </p:spPr>
      </p:sp>
      <p:sp>
        <p:nvSpPr>
          <p:cNvPr id="45" name="shape 45"/>
          <p:cNvSpPr/>
          <p:nvPr/>
        </p:nvSpPr>
        <p:spPr>
          <a:xfrm>
            <a:off x="8129016" y="4361688"/>
            <a:ext cx="292608" cy="109728"/>
          </a:xfrm>
          <a:prstGeom prst="rect">
            <a:avLst/>
          </a:prstGeom>
          <a:solidFill>
            <a:srgbClr val="1E5AA8"/>
          </a:solidFill>
          <a:ln>
            <a:noFill/>
          </a:ln>
        </p:spPr>
      </p:sp>
      <p:sp>
        <p:nvSpPr>
          <p:cNvPr id="46" name="shape 46"/>
          <p:cNvSpPr/>
          <p:nvPr/>
        </p:nvSpPr>
        <p:spPr>
          <a:xfrm>
            <a:off x="8878824" y="2926080"/>
            <a:ext cx="73152" cy="1645919"/>
          </a:xfrm>
          <a:prstGeom prst="rect">
            <a:avLst/>
          </a:prstGeom>
          <a:solidFill>
            <a:srgbClr val="B26A00"/>
          </a:solidFill>
          <a:ln w="12700">
            <a:solidFill>
              <a:srgbClr val="8A4D00"/>
            </a:solidFill>
          </a:ln>
        </p:spPr>
      </p:sp>
      <p:sp>
        <p:nvSpPr>
          <p:cNvPr id="47" name="ellipse 47"/>
          <p:cNvSpPr/>
          <p:nvPr/>
        </p:nvSpPr>
        <p:spPr>
          <a:xfrm>
            <a:off x="8796528" y="2779776"/>
            <a:ext cx="237744" cy="146304"/>
          </a:xfrm>
          <a:prstGeom prst="ellipse">
            <a:avLst/>
          </a:prstGeom>
          <a:solidFill>
            <a:srgbClr val="F2C078"/>
          </a:solidFill>
          <a:ln w="12700">
            <a:solidFill>
              <a:srgbClr val="8A4D00"/>
            </a:solidFill>
          </a:ln>
        </p:spPr>
      </p:sp>
      <p:sp>
        <p:nvSpPr>
          <p:cNvPr id="48" name="shape 48"/>
          <p:cNvSpPr/>
          <p:nvPr/>
        </p:nvSpPr>
        <p:spPr>
          <a:xfrm>
            <a:off x="8769096" y="4498848"/>
            <a:ext cx="292608" cy="109728"/>
          </a:xfrm>
          <a:prstGeom prst="rect">
            <a:avLst/>
          </a:prstGeom>
          <a:solidFill>
            <a:srgbClr val="1E5AA8"/>
          </a:solidFill>
          <a:ln>
            <a:noFill/>
          </a:ln>
        </p:spPr>
      </p:sp>
      <p:sp>
        <p:nvSpPr>
          <p:cNvPr id="49" name="shape 49"/>
          <p:cNvSpPr/>
          <p:nvPr/>
        </p:nvSpPr>
        <p:spPr>
          <a:xfrm>
            <a:off x="9518904" y="2926080"/>
            <a:ext cx="73152" cy="1755648"/>
          </a:xfrm>
          <a:prstGeom prst="rect">
            <a:avLst/>
          </a:prstGeom>
          <a:solidFill>
            <a:srgbClr val="B26A00"/>
          </a:solidFill>
          <a:ln w="12700">
            <a:solidFill>
              <a:srgbClr val="8A4D00"/>
            </a:solidFill>
          </a:ln>
        </p:spPr>
      </p:sp>
      <p:sp>
        <p:nvSpPr>
          <p:cNvPr id="50" name="ellipse 50"/>
          <p:cNvSpPr/>
          <p:nvPr/>
        </p:nvSpPr>
        <p:spPr>
          <a:xfrm>
            <a:off x="9436607" y="2779776"/>
            <a:ext cx="237744" cy="146304"/>
          </a:xfrm>
          <a:prstGeom prst="ellipse">
            <a:avLst/>
          </a:prstGeom>
          <a:solidFill>
            <a:srgbClr val="F2C078"/>
          </a:solidFill>
          <a:ln w="12700">
            <a:solidFill>
              <a:srgbClr val="8A4D00"/>
            </a:solidFill>
          </a:ln>
        </p:spPr>
      </p:sp>
      <p:sp>
        <p:nvSpPr>
          <p:cNvPr id="51" name="shape 51"/>
          <p:cNvSpPr/>
          <p:nvPr/>
        </p:nvSpPr>
        <p:spPr>
          <a:xfrm>
            <a:off x="9409176" y="4608576"/>
            <a:ext cx="292608" cy="109728"/>
          </a:xfrm>
          <a:prstGeom prst="rect">
            <a:avLst/>
          </a:prstGeom>
          <a:solidFill>
            <a:srgbClr val="1E5AA8"/>
          </a:solidFill>
          <a:ln>
            <a:noFill/>
          </a:ln>
        </p:spPr>
      </p:sp>
      <p:sp>
        <p:nvSpPr>
          <p:cNvPr id="52" name="line 52"/>
          <p:cNvSpPr/>
          <p:nvPr/>
        </p:nvSpPr>
        <p:spPr>
          <a:xfrm flipH="0" flipV="1">
            <a:off x="1874519" y="4434840"/>
            <a:ext cx="640080" cy="182880"/>
          </a:xfrm>
          <a:prstGeom prst="line">
            <a:avLst/>
          </a:prstGeom>
          <a:ln w="38100">
            <a:solidFill>
              <a:srgbClr val="0097A7"/>
            </a:solidFill>
          </a:ln>
        </p:spPr>
      </p:sp>
      <p:sp>
        <p:nvSpPr>
          <p:cNvPr id="53" name="line 53"/>
          <p:cNvSpPr/>
          <p:nvPr/>
        </p:nvSpPr>
        <p:spPr>
          <a:xfrm flipH="0" flipV="1">
            <a:off x="2514600" y="4251960"/>
            <a:ext cx="640080" cy="182879"/>
          </a:xfrm>
          <a:prstGeom prst="line">
            <a:avLst/>
          </a:prstGeom>
          <a:ln w="38100">
            <a:solidFill>
              <a:srgbClr val="0097A7"/>
            </a:solidFill>
          </a:ln>
        </p:spPr>
      </p:sp>
      <p:sp>
        <p:nvSpPr>
          <p:cNvPr id="54" name="line 54"/>
          <p:cNvSpPr/>
          <p:nvPr/>
        </p:nvSpPr>
        <p:spPr>
          <a:xfrm flipH="0" flipV="1">
            <a:off x="3154680" y="4096512"/>
            <a:ext cx="640080" cy="155447"/>
          </a:xfrm>
          <a:prstGeom prst="line">
            <a:avLst/>
          </a:prstGeom>
          <a:ln w="38100">
            <a:solidFill>
              <a:srgbClr val="0097A7"/>
            </a:solidFill>
          </a:ln>
        </p:spPr>
      </p:sp>
      <p:sp>
        <p:nvSpPr>
          <p:cNvPr id="55" name="line 55"/>
          <p:cNvSpPr/>
          <p:nvPr/>
        </p:nvSpPr>
        <p:spPr>
          <a:xfrm flipH="0" flipV="1">
            <a:off x="3794760" y="3977639"/>
            <a:ext cx="640079" cy="118872"/>
          </a:xfrm>
          <a:prstGeom prst="line">
            <a:avLst/>
          </a:prstGeom>
          <a:ln w="38100">
            <a:solidFill>
              <a:srgbClr val="0097A7"/>
            </a:solidFill>
          </a:ln>
        </p:spPr>
      </p:sp>
      <p:sp>
        <p:nvSpPr>
          <p:cNvPr id="56" name="line 56"/>
          <p:cNvSpPr/>
          <p:nvPr/>
        </p:nvSpPr>
        <p:spPr>
          <a:xfrm flipH="0" flipV="1">
            <a:off x="4434840" y="3904487"/>
            <a:ext cx="640080" cy="73152"/>
          </a:xfrm>
          <a:prstGeom prst="line">
            <a:avLst/>
          </a:prstGeom>
          <a:ln w="38100">
            <a:solidFill>
              <a:srgbClr val="0097A7"/>
            </a:solidFill>
          </a:ln>
        </p:spPr>
      </p:sp>
      <p:sp>
        <p:nvSpPr>
          <p:cNvPr id="57" name="line 57"/>
          <p:cNvSpPr/>
          <p:nvPr/>
        </p:nvSpPr>
        <p:spPr>
          <a:xfrm flipH="0" flipV="1">
            <a:off x="5074920" y="3886200"/>
            <a:ext cx="640080" cy="18287"/>
          </a:xfrm>
          <a:prstGeom prst="line">
            <a:avLst/>
          </a:prstGeom>
          <a:ln w="38100">
            <a:solidFill>
              <a:srgbClr val="0097A7"/>
            </a:solidFill>
          </a:ln>
        </p:spPr>
      </p:sp>
      <p:sp>
        <p:nvSpPr>
          <p:cNvPr id="58" name="line 58"/>
          <p:cNvSpPr/>
          <p:nvPr/>
        </p:nvSpPr>
        <p:spPr>
          <a:xfrm flipH="0" flipV="0">
            <a:off x="5715000" y="3886200"/>
            <a:ext cx="640080" cy="64008"/>
          </a:xfrm>
          <a:prstGeom prst="line">
            <a:avLst/>
          </a:prstGeom>
          <a:ln w="38100">
            <a:solidFill>
              <a:srgbClr val="0097A7"/>
            </a:solidFill>
          </a:ln>
        </p:spPr>
      </p:sp>
      <p:sp>
        <p:nvSpPr>
          <p:cNvPr id="59" name="line 59"/>
          <p:cNvSpPr/>
          <p:nvPr/>
        </p:nvSpPr>
        <p:spPr>
          <a:xfrm flipH="0" flipV="0">
            <a:off x="6355080" y="3950208"/>
            <a:ext cx="640080" cy="146304"/>
          </a:xfrm>
          <a:prstGeom prst="line">
            <a:avLst/>
          </a:prstGeom>
          <a:ln w="38100">
            <a:solidFill>
              <a:srgbClr val="0097A7"/>
            </a:solidFill>
          </a:ln>
        </p:spPr>
      </p:sp>
      <p:sp>
        <p:nvSpPr>
          <p:cNvPr id="60" name="line 60"/>
          <p:cNvSpPr/>
          <p:nvPr/>
        </p:nvSpPr>
        <p:spPr>
          <a:xfrm flipH="0" flipV="0">
            <a:off x="6995160" y="4096512"/>
            <a:ext cx="640079" cy="155447"/>
          </a:xfrm>
          <a:prstGeom prst="line">
            <a:avLst/>
          </a:prstGeom>
          <a:ln w="38100">
            <a:solidFill>
              <a:srgbClr val="0097A7"/>
            </a:solidFill>
          </a:ln>
        </p:spPr>
      </p:sp>
      <p:sp>
        <p:nvSpPr>
          <p:cNvPr id="61" name="line 61"/>
          <p:cNvSpPr/>
          <p:nvPr/>
        </p:nvSpPr>
        <p:spPr>
          <a:xfrm flipH="0" flipV="0">
            <a:off x="7635240" y="4251960"/>
            <a:ext cx="640080" cy="182879"/>
          </a:xfrm>
          <a:prstGeom prst="line">
            <a:avLst/>
          </a:prstGeom>
          <a:ln w="38100">
            <a:solidFill>
              <a:srgbClr val="0097A7"/>
            </a:solidFill>
          </a:ln>
        </p:spPr>
      </p:sp>
      <p:sp>
        <p:nvSpPr>
          <p:cNvPr id="62" name="line 62"/>
          <p:cNvSpPr/>
          <p:nvPr/>
        </p:nvSpPr>
        <p:spPr>
          <a:xfrm flipH="0" flipV="0">
            <a:off x="8275320" y="4434840"/>
            <a:ext cx="640079" cy="137160"/>
          </a:xfrm>
          <a:prstGeom prst="line">
            <a:avLst/>
          </a:prstGeom>
          <a:ln w="38100">
            <a:solidFill>
              <a:srgbClr val="0097A7"/>
            </a:solidFill>
          </a:ln>
        </p:spPr>
      </p:sp>
      <p:sp>
        <p:nvSpPr>
          <p:cNvPr id="63" name="line 63"/>
          <p:cNvSpPr/>
          <p:nvPr/>
        </p:nvSpPr>
        <p:spPr>
          <a:xfrm flipH="0" flipV="0">
            <a:off x="8915400" y="4572000"/>
            <a:ext cx="640079" cy="109728"/>
          </a:xfrm>
          <a:prstGeom prst="line">
            <a:avLst/>
          </a:prstGeom>
          <a:ln w="38100">
            <a:solidFill>
              <a:srgbClr val="0097A7"/>
            </a:solidFill>
          </a:ln>
        </p:spPr>
      </p:sp>
      <p:sp>
        <p:nvSpPr>
          <p:cNvPr id="64" name="text 64"/>
          <p:cNvSpPr txBox="1"/>
          <p:nvPr/>
        </p:nvSpPr>
        <p:spPr>
          <a:xfrm>
            <a:off x="2926080" y="3182112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800" dirty="0">
                <a:solidFill>
                  <a:srgbClr val="52667A"/>
                </a:solidFill>
              </a:rPr>
              <a:t>individual screw setting + lock nut</a:t>
            </a:r>
          </a:p>
        </p:txBody>
      </p:sp>
      <p:sp>
        <p:nvSpPr>
          <p:cNvPr id="65" name="line 65"/>
          <p:cNvSpPr/>
          <p:nvPr/>
        </p:nvSpPr>
        <p:spPr>
          <a:xfrm flipH="0" flipV="1">
            <a:off x="3749039" y="2944368"/>
            <a:ext cx="1" cy="365759"/>
          </a:xfrm>
          <a:prstGeom prst="line">
            <a:avLst/>
          </a:prstGeom>
          <a:ln w="12700">
            <a:solidFill>
              <a:srgbClr val="52667A"/>
            </a:solidFill>
            <a:headEnd type="triangle"/>
          </a:ln>
        </p:spPr>
      </p:sp>
      <p:sp>
        <p:nvSpPr>
          <p:cNvPr id="66" name="text 66"/>
          <p:cNvSpPr txBox="1"/>
          <p:nvPr/>
        </p:nvSpPr>
        <p:spPr>
          <a:xfrm>
            <a:off x="6126480" y="4873752"/>
            <a:ext cx="29718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800" dirty="0">
                <a:solidFill>
                  <a:srgbClr val="52667A"/>
                </a:solidFill>
              </a:rPr>
              <a:t>curved / non-flat HMI contact surface</a:t>
            </a:r>
          </a:p>
        </p:txBody>
      </p:sp>
      <p:sp>
        <p:nvSpPr>
          <p:cNvPr id="67" name="line 67"/>
          <p:cNvSpPr/>
          <p:nvPr/>
        </p:nvSpPr>
        <p:spPr>
          <a:xfrm flipH="1" flipV="1">
            <a:off x="6446520" y="4069080"/>
            <a:ext cx="411480" cy="704087"/>
          </a:xfrm>
          <a:prstGeom prst="line">
            <a:avLst/>
          </a:prstGeom>
          <a:ln w="12700">
            <a:solidFill>
              <a:srgbClr val="52667A"/>
            </a:solidFill>
            <a:headEnd type="triangle"/>
          </a:ln>
        </p:spPr>
      </p:sp>
      <p:sp>
        <p:nvSpPr>
          <p:cNvPr id="68" name="text 68"/>
          <p:cNvSpPr txBox="1"/>
          <p:nvPr/>
        </p:nvSpPr>
        <p:spPr>
          <a:xfrm>
            <a:off x="868680" y="5806440"/>
            <a:ext cx="2743200" cy="320040"/>
          </a:xfrm>
          <a:prstGeom prst="rect">
            <a:avLst/>
          </a:prstGeom>
          <a:solidFill>
            <a:srgbClr val="0B1F33"/>
          </a:solidFill>
          <a:ln w="12700">
            <a:solidFill>
              <a:srgbClr val="FFFFFF"/>
            </a:solidFill>
          </a:ln>
        </p:spPr>
        <p:txBody>
          <a:bodyPr wrap="square" anchor="ctr" lIns="36576" tIns="25603" rIns="36576" bIns="25603"/>
          <a:lstStyle/>
          <a:p>
            <a:pPr algn="ctr"/>
            <a:r>
              <a:rPr lang="en-US" sz="860" dirty="0" b="1">
                <a:solidFill>
                  <a:srgbClr val="FFFFFF"/>
                </a:solidFill>
              </a:rPr>
              <a:t>Benefit</a:t>
            </a:r>
          </a:p>
        </p:txBody>
      </p:sp>
      <p:sp>
        <p:nvSpPr>
          <p:cNvPr id="69" name="text 69"/>
          <p:cNvSpPr txBox="1"/>
          <p:nvPr/>
        </p:nvSpPr>
        <p:spPr>
          <a:xfrm>
            <a:off x="3611880" y="5806440"/>
            <a:ext cx="2834640" cy="320040"/>
          </a:xfrm>
          <a:prstGeom prst="rect">
            <a:avLst/>
          </a:prstGeom>
          <a:solidFill>
            <a:srgbClr val="0B1F33"/>
          </a:solidFill>
          <a:ln w="12700">
            <a:solidFill>
              <a:srgbClr val="FFFFFF"/>
            </a:solidFill>
          </a:ln>
        </p:spPr>
        <p:txBody>
          <a:bodyPr wrap="square" anchor="ctr" lIns="36576" tIns="25603" rIns="36576" bIns="25603"/>
          <a:lstStyle/>
          <a:p>
            <a:pPr algn="ctr"/>
            <a:r>
              <a:rPr lang="en-US" sz="860" dirty="0" b="1">
                <a:solidFill>
                  <a:srgbClr val="FFFFFF"/>
                </a:solidFill>
              </a:rPr>
              <a:t>What it improves</a:t>
            </a:r>
          </a:p>
        </p:txBody>
      </p:sp>
      <p:sp>
        <p:nvSpPr>
          <p:cNvPr id="70" name="text 70"/>
          <p:cNvSpPr txBox="1"/>
          <p:nvPr/>
        </p:nvSpPr>
        <p:spPr>
          <a:xfrm>
            <a:off x="6446520" y="5806440"/>
            <a:ext cx="2926080" cy="320040"/>
          </a:xfrm>
          <a:prstGeom prst="rect">
            <a:avLst/>
          </a:prstGeom>
          <a:solidFill>
            <a:srgbClr val="0B1F33"/>
          </a:solidFill>
          <a:ln w="12700">
            <a:solidFill>
              <a:srgbClr val="FFFFFF"/>
            </a:solidFill>
          </a:ln>
        </p:spPr>
        <p:txBody>
          <a:bodyPr wrap="square" anchor="ctr" lIns="36576" tIns="25603" rIns="36576" bIns="25603"/>
          <a:lstStyle/>
          <a:p>
            <a:pPr algn="ctr"/>
            <a:r>
              <a:rPr lang="en-US" sz="860" dirty="0" b="1">
                <a:solidFill>
                  <a:srgbClr val="FFFFFF"/>
                </a:solidFill>
              </a:rPr>
              <a:t>Why it matters</a:t>
            </a:r>
          </a:p>
        </p:txBody>
      </p:sp>
      <p:sp>
        <p:nvSpPr>
          <p:cNvPr id="71" name="text 71"/>
          <p:cNvSpPr txBox="1"/>
          <p:nvPr/>
        </p:nvSpPr>
        <p:spPr>
          <a:xfrm>
            <a:off x="9372600" y="5806440"/>
            <a:ext cx="2011680" cy="320040"/>
          </a:xfrm>
          <a:prstGeom prst="rect">
            <a:avLst/>
          </a:prstGeom>
          <a:solidFill>
            <a:srgbClr val="0B1F33"/>
          </a:solidFill>
          <a:ln w="12700">
            <a:solidFill>
              <a:srgbClr val="FFFFFF"/>
            </a:solidFill>
          </a:ln>
        </p:spPr>
        <p:txBody>
          <a:bodyPr wrap="square" anchor="ctr" lIns="36576" tIns="25603" rIns="36576" bIns="25603"/>
          <a:lstStyle/>
          <a:p>
            <a:pPr algn="ctr"/>
            <a:r>
              <a:rPr lang="en-US" sz="860" dirty="0" b="1">
                <a:solidFill>
                  <a:srgbClr val="FFFFFF"/>
                </a:solidFill>
              </a:rPr>
              <a:t>Robotic hand impact</a:t>
            </a:r>
          </a:p>
        </p:txBody>
      </p:sp>
      <p:sp>
        <p:nvSpPr>
          <p:cNvPr id="72" name="text 72"/>
          <p:cNvSpPr txBox="1"/>
          <p:nvPr/>
        </p:nvSpPr>
        <p:spPr>
          <a:xfrm>
            <a:off x="868680" y="6126479"/>
            <a:ext cx="27432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Height tuning</a:t>
            </a:r>
          </a:p>
        </p:txBody>
      </p:sp>
      <p:sp>
        <p:nvSpPr>
          <p:cNvPr id="73" name="text 73"/>
          <p:cNvSpPr txBox="1"/>
          <p:nvPr/>
        </p:nvSpPr>
        <p:spPr>
          <a:xfrm>
            <a:off x="3611880" y="6126479"/>
            <a:ext cx="28346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contact accuracy</a:t>
            </a:r>
          </a:p>
        </p:txBody>
      </p:sp>
      <p:sp>
        <p:nvSpPr>
          <p:cNvPr id="74" name="text 74"/>
          <p:cNvSpPr txBox="1"/>
          <p:nvPr/>
        </p:nvSpPr>
        <p:spPr>
          <a:xfrm>
            <a:off x="6446520" y="6126479"/>
            <a:ext cx="29260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same contact point every cycle</a:t>
            </a:r>
          </a:p>
        </p:txBody>
      </p:sp>
      <p:sp>
        <p:nvSpPr>
          <p:cNvPr id="75" name="text 75"/>
          <p:cNvSpPr txBox="1"/>
          <p:nvPr/>
        </p:nvSpPr>
        <p:spPr>
          <a:xfrm>
            <a:off x="9372600" y="6126479"/>
            <a:ext cx="20116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requires pose/force control</a:t>
            </a:r>
          </a:p>
        </p:txBody>
      </p:sp>
      <p:sp>
        <p:nvSpPr>
          <p:cNvPr id="76" name="text 76"/>
          <p:cNvSpPr txBox="1"/>
          <p:nvPr/>
        </p:nvSpPr>
        <p:spPr>
          <a:xfrm>
            <a:off x="868680" y="6446520"/>
            <a:ext cx="2743200" cy="320040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Lockable setup</a:t>
            </a:r>
          </a:p>
        </p:txBody>
      </p:sp>
      <p:sp>
        <p:nvSpPr>
          <p:cNvPr id="77" name="text 77"/>
          <p:cNvSpPr txBox="1"/>
          <p:nvPr/>
        </p:nvSpPr>
        <p:spPr>
          <a:xfrm>
            <a:off x="3611880" y="6446520"/>
            <a:ext cx="2834640" cy="320040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repeatability</a:t>
            </a:r>
          </a:p>
        </p:txBody>
      </p:sp>
      <p:sp>
        <p:nvSpPr>
          <p:cNvPr id="78" name="text 78"/>
          <p:cNvSpPr txBox="1"/>
          <p:nvPr/>
        </p:nvSpPr>
        <p:spPr>
          <a:xfrm>
            <a:off x="6446520" y="6446520"/>
            <a:ext cx="2926080" cy="320040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stable production tests</a:t>
            </a:r>
          </a:p>
        </p:txBody>
      </p:sp>
      <p:sp>
        <p:nvSpPr>
          <p:cNvPr id="79" name="text 79"/>
          <p:cNvSpPr txBox="1"/>
          <p:nvPr/>
        </p:nvSpPr>
        <p:spPr>
          <a:xfrm>
            <a:off x="9372600" y="6446520"/>
            <a:ext cx="2011680" cy="320040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requires recalibration</a:t>
            </a:r>
          </a:p>
        </p:txBody>
      </p:sp>
      <p:sp>
        <p:nvSpPr>
          <p:cNvPr id="80" name="text 80"/>
          <p:cNvSpPr txBox="1"/>
          <p:nvPr/>
        </p:nvSpPr>
        <p:spPr>
          <a:xfrm>
            <a:off x="868680" y="6766559"/>
            <a:ext cx="27432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Spring/tip options</a:t>
            </a:r>
          </a:p>
        </p:txBody>
      </p:sp>
      <p:sp>
        <p:nvSpPr>
          <p:cNvPr id="81" name="text 81"/>
          <p:cNvSpPr txBox="1"/>
          <p:nvPr/>
        </p:nvSpPr>
        <p:spPr>
          <a:xfrm>
            <a:off x="3611880" y="6766559"/>
            <a:ext cx="28346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surface protection</a:t>
            </a:r>
          </a:p>
        </p:txBody>
      </p:sp>
      <p:sp>
        <p:nvSpPr>
          <p:cNvPr id="82" name="text 82"/>
          <p:cNvSpPr txBox="1"/>
          <p:nvPr/>
        </p:nvSpPr>
        <p:spPr>
          <a:xfrm>
            <a:off x="6446520" y="6766559"/>
            <a:ext cx="29260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works on glass, buttons, bezels</a:t>
            </a:r>
          </a:p>
        </p:txBody>
      </p:sp>
      <p:sp>
        <p:nvSpPr>
          <p:cNvPr id="83" name="text 83"/>
          <p:cNvSpPr txBox="1"/>
          <p:nvPr/>
        </p:nvSpPr>
        <p:spPr>
          <a:xfrm>
            <a:off x="9372600" y="6766559"/>
            <a:ext cx="20116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requires tactile sensing</a:t>
            </a:r>
          </a:p>
        </p:txBody>
      </p:sp>
      <p:sp>
        <p:nvSpPr>
          <p:cNvPr id="84" name="text 84"/>
          <p:cNvSpPr txBox="1"/>
          <p:nvPr/>
        </p:nvSpPr>
        <p:spPr>
          <a:xfrm>
            <a:off x="502920" y="6473952"/>
            <a:ext cx="56692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720" dirty="0">
                <a:solidFill>
                  <a:srgbClr val="708090"/>
                </a:solidFill>
              </a:rPr>
              <a:t>Static Robo HMI Test Jig vs. Robotic Hand  |  Research Deck</a:t>
            </a:r>
          </a:p>
        </p:txBody>
      </p:sp>
      <p:sp>
        <p:nvSpPr>
          <p:cNvPr id="85" name="text 85"/>
          <p:cNvSpPr txBox="1"/>
          <p:nvPr/>
        </p:nvSpPr>
        <p:spPr>
          <a:xfrm>
            <a:off x="11384280" y="6473952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/>
            <a:r>
              <a:rPr lang="en-US" sz="720" dirty="0">
                <a:solidFill>
                  <a:srgbClr val="708090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1F33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02920" y="310896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51206" rIns="73152" bIns="51206"/>
          <a:lstStyle/>
          <a:p>
            <a:pPr algn="l"/>
            <a:r>
              <a:rPr lang="en-US" sz="850" dirty="0" b="1">
                <a:solidFill>
                  <a:srgbClr val="1E5AA8"/>
                </a:solidFill>
              </a:rPr>
              <a:t>VISION VALIDATION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502920" y="530352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2400" dirty="0" b="1">
                <a:solidFill>
                  <a:srgbClr val="102033"/>
                </a:solidFill>
              </a:rPr>
              <a:t>4. Constant camera feedback: every display state becomes measurable evidence</a:t>
            </a:r>
          </a:p>
        </p:txBody>
      </p:sp>
      <p:sp>
        <p:nvSpPr>
          <p:cNvPr id="5" name="line 5"/>
          <p:cNvSpPr/>
          <p:nvPr/>
        </p:nvSpPr>
        <p:spPr>
          <a:xfrm flipH="0" flipV="0">
            <a:off x="502920" y="1078992"/>
            <a:ext cx="11155680" cy="1"/>
          </a:xfrm>
          <a:prstGeom prst="line">
            <a:avLst/>
          </a:prstGeom>
          <a:ln w="12700">
            <a:solidFill>
              <a:srgbClr val="D5DDE5"/>
            </a:solidFill>
          </a:ln>
        </p:spPr>
      </p:sp>
      <p:sp>
        <p:nvSpPr>
          <p:cNvPr id="6" name="text 6"/>
          <p:cNvSpPr txBox="1"/>
          <p:nvPr/>
        </p:nvSpPr>
        <p:spPr>
          <a:xfrm>
            <a:off x="685800" y="1207008"/>
            <a:ext cx="1060704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300" dirty="0">
                <a:solidFill>
                  <a:srgbClr val="52667A"/>
                </a:solidFill>
              </a:rPr>
              <a:t>A robotic hand can press a screen, but it does not prove the HMI responded correctly. Fixed camera feedback closes the loop.</a:t>
            </a:r>
          </a:p>
        </p:txBody>
      </p:sp>
      <p:sp>
        <p:nvSpPr>
          <p:cNvPr id="7" name="shape 7"/>
          <p:cNvSpPr/>
          <p:nvPr/>
        </p:nvSpPr>
        <p:spPr>
          <a:xfrm>
            <a:off x="868680" y="1874519"/>
            <a:ext cx="4389120" cy="2743200"/>
          </a:xfrm>
          <a:prstGeom prst="roundRect">
            <a:avLst/>
          </a:prstGeom>
          <a:solidFill>
            <a:srgbClr val="111A22"/>
          </a:solidFill>
          <a:ln w="12700">
            <a:solidFill>
              <a:srgbClr val="455866"/>
            </a:solidFill>
          </a:ln>
        </p:spPr>
      </p:sp>
      <p:sp>
        <p:nvSpPr>
          <p:cNvPr id="8" name="shape 8"/>
          <p:cNvSpPr/>
          <p:nvPr/>
        </p:nvSpPr>
        <p:spPr>
          <a:xfrm>
            <a:off x="1078992" y="2084831"/>
            <a:ext cx="164592" cy="146304"/>
          </a:xfrm>
          <a:prstGeom prst="rect">
            <a:avLst/>
          </a:prstGeom>
          <a:solidFill>
            <a:srgbClr val="1E5AA8"/>
          </a:solidFill>
          <a:ln>
            <a:noFill/>
          </a:ln>
        </p:spPr>
      </p:sp>
      <p:sp>
        <p:nvSpPr>
          <p:cNvPr id="9" name="shape 9"/>
          <p:cNvSpPr/>
          <p:nvPr/>
        </p:nvSpPr>
        <p:spPr>
          <a:xfrm>
            <a:off x="1078992" y="2304287"/>
            <a:ext cx="164592" cy="146304"/>
          </a:xfrm>
          <a:prstGeom prst="rect">
            <a:avLst/>
          </a:prstGeom>
          <a:solidFill>
            <a:srgbClr val="0097A7"/>
          </a:solidFill>
          <a:ln>
            <a:noFill/>
          </a:ln>
        </p:spPr>
      </p:sp>
      <p:sp>
        <p:nvSpPr>
          <p:cNvPr id="10" name="shape 10"/>
          <p:cNvSpPr/>
          <p:nvPr/>
        </p:nvSpPr>
        <p:spPr>
          <a:xfrm>
            <a:off x="1078992" y="2523744"/>
            <a:ext cx="164592" cy="146304"/>
          </a:xfrm>
          <a:prstGeom prst="rect">
            <a:avLst/>
          </a:prstGeom>
          <a:solidFill>
            <a:srgbClr val="2E7D32"/>
          </a:solidFill>
          <a:ln>
            <a:noFill/>
          </a:ln>
        </p:spPr>
      </p:sp>
      <p:sp>
        <p:nvSpPr>
          <p:cNvPr id="11" name="shape 11"/>
          <p:cNvSpPr/>
          <p:nvPr/>
        </p:nvSpPr>
        <p:spPr>
          <a:xfrm>
            <a:off x="1078992" y="2743200"/>
            <a:ext cx="164592" cy="146304"/>
          </a:xfrm>
          <a:prstGeom prst="rect">
            <a:avLst/>
          </a:prstGeom>
          <a:solidFill>
            <a:srgbClr val="B26A00"/>
          </a:solidFill>
          <a:ln>
            <a:noFill/>
          </a:ln>
        </p:spPr>
      </p:sp>
      <p:sp>
        <p:nvSpPr>
          <p:cNvPr id="12" name="shape 12"/>
          <p:cNvSpPr/>
          <p:nvPr/>
        </p:nvSpPr>
        <p:spPr>
          <a:xfrm>
            <a:off x="1078992" y="2962656"/>
            <a:ext cx="164592" cy="146304"/>
          </a:xfrm>
          <a:prstGeom prst="rect">
            <a:avLst/>
          </a:prstGeom>
          <a:solidFill>
            <a:srgbClr val="3B4B5C"/>
          </a:solidFill>
          <a:ln>
            <a:noFill/>
          </a:ln>
        </p:spPr>
      </p:sp>
      <p:sp>
        <p:nvSpPr>
          <p:cNvPr id="13" name="shape 13"/>
          <p:cNvSpPr/>
          <p:nvPr/>
        </p:nvSpPr>
        <p:spPr>
          <a:xfrm>
            <a:off x="1078992" y="3182111"/>
            <a:ext cx="164592" cy="146304"/>
          </a:xfrm>
          <a:prstGeom prst="rect">
            <a:avLst/>
          </a:prstGeom>
          <a:solidFill>
            <a:srgbClr val="1E5AA8"/>
          </a:solidFill>
          <a:ln>
            <a:noFill/>
          </a:ln>
        </p:spPr>
      </p:sp>
      <p:sp>
        <p:nvSpPr>
          <p:cNvPr id="14" name="shape 14"/>
          <p:cNvSpPr/>
          <p:nvPr/>
        </p:nvSpPr>
        <p:spPr>
          <a:xfrm>
            <a:off x="1078992" y="3401568"/>
            <a:ext cx="164592" cy="146304"/>
          </a:xfrm>
          <a:prstGeom prst="rect">
            <a:avLst/>
          </a:prstGeom>
          <a:solidFill>
            <a:srgbClr val="0097A7"/>
          </a:solidFill>
          <a:ln>
            <a:noFill/>
          </a:ln>
        </p:spPr>
      </p:sp>
      <p:sp>
        <p:nvSpPr>
          <p:cNvPr id="15" name="shape 15"/>
          <p:cNvSpPr/>
          <p:nvPr/>
        </p:nvSpPr>
        <p:spPr>
          <a:xfrm>
            <a:off x="1078992" y="3621024"/>
            <a:ext cx="164592" cy="146304"/>
          </a:xfrm>
          <a:prstGeom prst="rect">
            <a:avLst/>
          </a:prstGeom>
          <a:solidFill>
            <a:srgbClr val="2E7D32"/>
          </a:solidFill>
          <a:ln>
            <a:noFill/>
          </a:ln>
        </p:spPr>
      </p:sp>
      <p:sp>
        <p:nvSpPr>
          <p:cNvPr id="16" name="shape 16"/>
          <p:cNvSpPr/>
          <p:nvPr/>
        </p:nvSpPr>
        <p:spPr>
          <a:xfrm>
            <a:off x="1078992" y="3840479"/>
            <a:ext cx="164592" cy="146304"/>
          </a:xfrm>
          <a:prstGeom prst="rect">
            <a:avLst/>
          </a:prstGeom>
          <a:solidFill>
            <a:srgbClr val="B26A00"/>
          </a:solidFill>
          <a:ln>
            <a:noFill/>
          </a:ln>
        </p:spPr>
      </p:sp>
      <p:sp>
        <p:nvSpPr>
          <p:cNvPr id="17" name="shape 17"/>
          <p:cNvSpPr/>
          <p:nvPr/>
        </p:nvSpPr>
        <p:spPr>
          <a:xfrm>
            <a:off x="1298448" y="2084831"/>
            <a:ext cx="164592" cy="146304"/>
          </a:xfrm>
          <a:prstGeom prst="rect">
            <a:avLst/>
          </a:prstGeom>
          <a:solidFill>
            <a:srgbClr val="2E7D32"/>
          </a:solidFill>
          <a:ln>
            <a:noFill/>
          </a:ln>
        </p:spPr>
      </p:sp>
      <p:sp>
        <p:nvSpPr>
          <p:cNvPr id="18" name="shape 18"/>
          <p:cNvSpPr/>
          <p:nvPr/>
        </p:nvSpPr>
        <p:spPr>
          <a:xfrm>
            <a:off x="1298448" y="2304287"/>
            <a:ext cx="164592" cy="146304"/>
          </a:xfrm>
          <a:prstGeom prst="rect">
            <a:avLst/>
          </a:prstGeom>
          <a:solidFill>
            <a:srgbClr val="B26A00"/>
          </a:solidFill>
          <a:ln>
            <a:noFill/>
          </a:ln>
        </p:spPr>
      </p:sp>
      <p:sp>
        <p:nvSpPr>
          <p:cNvPr id="19" name="shape 19"/>
          <p:cNvSpPr/>
          <p:nvPr/>
        </p:nvSpPr>
        <p:spPr>
          <a:xfrm>
            <a:off x="1298448" y="2523744"/>
            <a:ext cx="164592" cy="146304"/>
          </a:xfrm>
          <a:prstGeom prst="rect">
            <a:avLst/>
          </a:prstGeom>
          <a:solidFill>
            <a:srgbClr val="3B4B5C"/>
          </a:solidFill>
          <a:ln>
            <a:noFill/>
          </a:ln>
        </p:spPr>
      </p:sp>
      <p:sp>
        <p:nvSpPr>
          <p:cNvPr id="20" name="shape 20"/>
          <p:cNvSpPr/>
          <p:nvPr/>
        </p:nvSpPr>
        <p:spPr>
          <a:xfrm>
            <a:off x="1298448" y="2743200"/>
            <a:ext cx="164592" cy="146304"/>
          </a:xfrm>
          <a:prstGeom prst="rect">
            <a:avLst/>
          </a:prstGeom>
          <a:solidFill>
            <a:srgbClr val="1E5AA8"/>
          </a:solidFill>
          <a:ln>
            <a:noFill/>
          </a:ln>
        </p:spPr>
      </p:sp>
      <p:sp>
        <p:nvSpPr>
          <p:cNvPr id="21" name="shape 21"/>
          <p:cNvSpPr/>
          <p:nvPr/>
        </p:nvSpPr>
        <p:spPr>
          <a:xfrm>
            <a:off x="1298448" y="2962656"/>
            <a:ext cx="164592" cy="146304"/>
          </a:xfrm>
          <a:prstGeom prst="rect">
            <a:avLst/>
          </a:prstGeom>
          <a:solidFill>
            <a:srgbClr val="0097A7"/>
          </a:solidFill>
          <a:ln>
            <a:noFill/>
          </a:ln>
        </p:spPr>
      </p:sp>
      <p:sp>
        <p:nvSpPr>
          <p:cNvPr id="22" name="shape 22"/>
          <p:cNvSpPr/>
          <p:nvPr/>
        </p:nvSpPr>
        <p:spPr>
          <a:xfrm>
            <a:off x="1298448" y="3182111"/>
            <a:ext cx="164592" cy="146304"/>
          </a:xfrm>
          <a:prstGeom prst="rect">
            <a:avLst/>
          </a:prstGeom>
          <a:solidFill>
            <a:srgbClr val="2E7D32"/>
          </a:solidFill>
          <a:ln>
            <a:noFill/>
          </a:ln>
        </p:spPr>
      </p:sp>
      <p:sp>
        <p:nvSpPr>
          <p:cNvPr id="23" name="shape 23"/>
          <p:cNvSpPr/>
          <p:nvPr/>
        </p:nvSpPr>
        <p:spPr>
          <a:xfrm>
            <a:off x="1298448" y="3401568"/>
            <a:ext cx="164592" cy="146304"/>
          </a:xfrm>
          <a:prstGeom prst="rect">
            <a:avLst/>
          </a:prstGeom>
          <a:solidFill>
            <a:srgbClr val="B26A00"/>
          </a:solidFill>
          <a:ln>
            <a:noFill/>
          </a:ln>
        </p:spPr>
      </p:sp>
      <p:sp>
        <p:nvSpPr>
          <p:cNvPr id="24" name="shape 24"/>
          <p:cNvSpPr/>
          <p:nvPr/>
        </p:nvSpPr>
        <p:spPr>
          <a:xfrm>
            <a:off x="1298448" y="3621024"/>
            <a:ext cx="164592" cy="146304"/>
          </a:xfrm>
          <a:prstGeom prst="rect">
            <a:avLst/>
          </a:prstGeom>
          <a:solidFill>
            <a:srgbClr val="3B4B5C"/>
          </a:solidFill>
          <a:ln>
            <a:noFill/>
          </a:ln>
        </p:spPr>
      </p:sp>
      <p:sp>
        <p:nvSpPr>
          <p:cNvPr id="25" name="shape 25"/>
          <p:cNvSpPr/>
          <p:nvPr/>
        </p:nvSpPr>
        <p:spPr>
          <a:xfrm>
            <a:off x="1298448" y="3840479"/>
            <a:ext cx="164592" cy="146304"/>
          </a:xfrm>
          <a:prstGeom prst="rect">
            <a:avLst/>
          </a:prstGeom>
          <a:solidFill>
            <a:srgbClr val="1E5AA8"/>
          </a:solidFill>
          <a:ln>
            <a:noFill/>
          </a:ln>
        </p:spPr>
      </p:sp>
      <p:sp>
        <p:nvSpPr>
          <p:cNvPr id="26" name="shape 26"/>
          <p:cNvSpPr/>
          <p:nvPr/>
        </p:nvSpPr>
        <p:spPr>
          <a:xfrm>
            <a:off x="1517904" y="2084831"/>
            <a:ext cx="164592" cy="146304"/>
          </a:xfrm>
          <a:prstGeom prst="rect">
            <a:avLst/>
          </a:prstGeom>
          <a:solidFill>
            <a:srgbClr val="3B4B5C"/>
          </a:solidFill>
          <a:ln>
            <a:noFill/>
          </a:ln>
        </p:spPr>
      </p:sp>
      <p:sp>
        <p:nvSpPr>
          <p:cNvPr id="27" name="shape 27"/>
          <p:cNvSpPr/>
          <p:nvPr/>
        </p:nvSpPr>
        <p:spPr>
          <a:xfrm>
            <a:off x="1517904" y="2304287"/>
            <a:ext cx="164592" cy="146304"/>
          </a:xfrm>
          <a:prstGeom prst="rect">
            <a:avLst/>
          </a:prstGeom>
          <a:solidFill>
            <a:srgbClr val="1E5AA8"/>
          </a:solidFill>
          <a:ln>
            <a:noFill/>
          </a:ln>
        </p:spPr>
      </p:sp>
      <p:sp>
        <p:nvSpPr>
          <p:cNvPr id="28" name="shape 28"/>
          <p:cNvSpPr/>
          <p:nvPr/>
        </p:nvSpPr>
        <p:spPr>
          <a:xfrm>
            <a:off x="1517904" y="2523744"/>
            <a:ext cx="164592" cy="146304"/>
          </a:xfrm>
          <a:prstGeom prst="rect">
            <a:avLst/>
          </a:prstGeom>
          <a:solidFill>
            <a:srgbClr val="0097A7"/>
          </a:solidFill>
          <a:ln>
            <a:noFill/>
          </a:ln>
        </p:spPr>
      </p:sp>
      <p:sp>
        <p:nvSpPr>
          <p:cNvPr id="29" name="shape 29"/>
          <p:cNvSpPr/>
          <p:nvPr/>
        </p:nvSpPr>
        <p:spPr>
          <a:xfrm>
            <a:off x="1517904" y="2743200"/>
            <a:ext cx="164592" cy="146304"/>
          </a:xfrm>
          <a:prstGeom prst="rect">
            <a:avLst/>
          </a:prstGeom>
          <a:solidFill>
            <a:srgbClr val="2E7D32"/>
          </a:solidFill>
          <a:ln>
            <a:noFill/>
          </a:ln>
        </p:spPr>
      </p:sp>
      <p:sp>
        <p:nvSpPr>
          <p:cNvPr id="30" name="shape 30"/>
          <p:cNvSpPr/>
          <p:nvPr/>
        </p:nvSpPr>
        <p:spPr>
          <a:xfrm>
            <a:off x="1517904" y="2962656"/>
            <a:ext cx="164592" cy="146304"/>
          </a:xfrm>
          <a:prstGeom prst="rect">
            <a:avLst/>
          </a:prstGeom>
          <a:solidFill>
            <a:srgbClr val="B26A00"/>
          </a:solidFill>
          <a:ln>
            <a:noFill/>
          </a:ln>
        </p:spPr>
      </p:sp>
      <p:sp>
        <p:nvSpPr>
          <p:cNvPr id="31" name="shape 31"/>
          <p:cNvSpPr/>
          <p:nvPr/>
        </p:nvSpPr>
        <p:spPr>
          <a:xfrm>
            <a:off x="1517904" y="3182111"/>
            <a:ext cx="164592" cy="146304"/>
          </a:xfrm>
          <a:prstGeom prst="rect">
            <a:avLst/>
          </a:prstGeom>
          <a:solidFill>
            <a:srgbClr val="3B4B5C"/>
          </a:solidFill>
          <a:ln>
            <a:noFill/>
          </a:ln>
        </p:spPr>
      </p:sp>
      <p:sp>
        <p:nvSpPr>
          <p:cNvPr id="32" name="shape 32"/>
          <p:cNvSpPr/>
          <p:nvPr/>
        </p:nvSpPr>
        <p:spPr>
          <a:xfrm>
            <a:off x="1517904" y="3401568"/>
            <a:ext cx="164592" cy="146304"/>
          </a:xfrm>
          <a:prstGeom prst="rect">
            <a:avLst/>
          </a:prstGeom>
          <a:solidFill>
            <a:srgbClr val="1E5AA8"/>
          </a:solidFill>
          <a:ln>
            <a:noFill/>
          </a:ln>
        </p:spPr>
      </p:sp>
      <p:sp>
        <p:nvSpPr>
          <p:cNvPr id="33" name="shape 33"/>
          <p:cNvSpPr/>
          <p:nvPr/>
        </p:nvSpPr>
        <p:spPr>
          <a:xfrm>
            <a:off x="1517904" y="3621024"/>
            <a:ext cx="164592" cy="146304"/>
          </a:xfrm>
          <a:prstGeom prst="rect">
            <a:avLst/>
          </a:prstGeom>
          <a:solidFill>
            <a:srgbClr val="0097A7"/>
          </a:solidFill>
          <a:ln>
            <a:noFill/>
          </a:ln>
        </p:spPr>
      </p:sp>
      <p:sp>
        <p:nvSpPr>
          <p:cNvPr id="34" name="shape 34"/>
          <p:cNvSpPr/>
          <p:nvPr/>
        </p:nvSpPr>
        <p:spPr>
          <a:xfrm>
            <a:off x="1517904" y="3840479"/>
            <a:ext cx="164592" cy="146304"/>
          </a:xfrm>
          <a:prstGeom prst="rect">
            <a:avLst/>
          </a:prstGeom>
          <a:solidFill>
            <a:srgbClr val="2E7D32"/>
          </a:solidFill>
          <a:ln>
            <a:noFill/>
          </a:ln>
        </p:spPr>
      </p:sp>
      <p:sp>
        <p:nvSpPr>
          <p:cNvPr id="35" name="shape 35"/>
          <p:cNvSpPr/>
          <p:nvPr/>
        </p:nvSpPr>
        <p:spPr>
          <a:xfrm>
            <a:off x="1737360" y="2084831"/>
            <a:ext cx="164592" cy="146304"/>
          </a:xfrm>
          <a:prstGeom prst="rect">
            <a:avLst/>
          </a:prstGeom>
          <a:solidFill>
            <a:srgbClr val="0097A7"/>
          </a:solidFill>
          <a:ln>
            <a:noFill/>
          </a:ln>
        </p:spPr>
      </p:sp>
      <p:sp>
        <p:nvSpPr>
          <p:cNvPr id="36" name="shape 36"/>
          <p:cNvSpPr/>
          <p:nvPr/>
        </p:nvSpPr>
        <p:spPr>
          <a:xfrm>
            <a:off x="1737360" y="2304287"/>
            <a:ext cx="164592" cy="146304"/>
          </a:xfrm>
          <a:prstGeom prst="rect">
            <a:avLst/>
          </a:prstGeom>
          <a:solidFill>
            <a:srgbClr val="2E7D32"/>
          </a:solidFill>
          <a:ln>
            <a:noFill/>
          </a:ln>
        </p:spPr>
      </p:sp>
      <p:sp>
        <p:nvSpPr>
          <p:cNvPr id="37" name="shape 37"/>
          <p:cNvSpPr/>
          <p:nvPr/>
        </p:nvSpPr>
        <p:spPr>
          <a:xfrm>
            <a:off x="1737360" y="2523744"/>
            <a:ext cx="164592" cy="146304"/>
          </a:xfrm>
          <a:prstGeom prst="rect">
            <a:avLst/>
          </a:prstGeom>
          <a:solidFill>
            <a:srgbClr val="B26A00"/>
          </a:solidFill>
          <a:ln>
            <a:noFill/>
          </a:ln>
        </p:spPr>
      </p:sp>
      <p:sp>
        <p:nvSpPr>
          <p:cNvPr id="38" name="shape 38"/>
          <p:cNvSpPr/>
          <p:nvPr/>
        </p:nvSpPr>
        <p:spPr>
          <a:xfrm>
            <a:off x="1737360" y="2743200"/>
            <a:ext cx="164592" cy="146304"/>
          </a:xfrm>
          <a:prstGeom prst="rect">
            <a:avLst/>
          </a:prstGeom>
          <a:solidFill>
            <a:srgbClr val="3B4B5C"/>
          </a:solidFill>
          <a:ln>
            <a:noFill/>
          </a:ln>
        </p:spPr>
      </p:sp>
      <p:sp>
        <p:nvSpPr>
          <p:cNvPr id="39" name="shape 39"/>
          <p:cNvSpPr/>
          <p:nvPr/>
        </p:nvSpPr>
        <p:spPr>
          <a:xfrm>
            <a:off x="1737360" y="2962656"/>
            <a:ext cx="164592" cy="146304"/>
          </a:xfrm>
          <a:prstGeom prst="rect">
            <a:avLst/>
          </a:prstGeom>
          <a:solidFill>
            <a:srgbClr val="1E5AA8"/>
          </a:solidFill>
          <a:ln>
            <a:noFill/>
          </a:ln>
        </p:spPr>
      </p:sp>
      <p:sp>
        <p:nvSpPr>
          <p:cNvPr id="40" name="shape 40"/>
          <p:cNvSpPr/>
          <p:nvPr/>
        </p:nvSpPr>
        <p:spPr>
          <a:xfrm>
            <a:off x="1737360" y="3182111"/>
            <a:ext cx="164592" cy="146304"/>
          </a:xfrm>
          <a:prstGeom prst="rect">
            <a:avLst/>
          </a:prstGeom>
          <a:solidFill>
            <a:srgbClr val="0097A7"/>
          </a:solidFill>
          <a:ln>
            <a:noFill/>
          </a:ln>
        </p:spPr>
      </p:sp>
      <p:sp>
        <p:nvSpPr>
          <p:cNvPr id="41" name="shape 41"/>
          <p:cNvSpPr/>
          <p:nvPr/>
        </p:nvSpPr>
        <p:spPr>
          <a:xfrm>
            <a:off x="1737360" y="3401568"/>
            <a:ext cx="164592" cy="146304"/>
          </a:xfrm>
          <a:prstGeom prst="rect">
            <a:avLst/>
          </a:prstGeom>
          <a:solidFill>
            <a:srgbClr val="2E7D32"/>
          </a:solidFill>
          <a:ln>
            <a:noFill/>
          </a:ln>
        </p:spPr>
      </p:sp>
      <p:sp>
        <p:nvSpPr>
          <p:cNvPr id="42" name="shape 42"/>
          <p:cNvSpPr/>
          <p:nvPr/>
        </p:nvSpPr>
        <p:spPr>
          <a:xfrm>
            <a:off x="1737360" y="3621024"/>
            <a:ext cx="164592" cy="146304"/>
          </a:xfrm>
          <a:prstGeom prst="rect">
            <a:avLst/>
          </a:prstGeom>
          <a:solidFill>
            <a:srgbClr val="B26A00"/>
          </a:solidFill>
          <a:ln>
            <a:noFill/>
          </a:ln>
        </p:spPr>
      </p:sp>
      <p:sp>
        <p:nvSpPr>
          <p:cNvPr id="43" name="shape 43"/>
          <p:cNvSpPr/>
          <p:nvPr/>
        </p:nvSpPr>
        <p:spPr>
          <a:xfrm>
            <a:off x="1737360" y="3840479"/>
            <a:ext cx="164592" cy="146304"/>
          </a:xfrm>
          <a:prstGeom prst="rect">
            <a:avLst/>
          </a:prstGeom>
          <a:solidFill>
            <a:srgbClr val="3B4B5C"/>
          </a:solidFill>
          <a:ln>
            <a:noFill/>
          </a:ln>
        </p:spPr>
      </p:sp>
      <p:sp>
        <p:nvSpPr>
          <p:cNvPr id="44" name="shape 44"/>
          <p:cNvSpPr/>
          <p:nvPr/>
        </p:nvSpPr>
        <p:spPr>
          <a:xfrm>
            <a:off x="1956815" y="2084831"/>
            <a:ext cx="164592" cy="146304"/>
          </a:xfrm>
          <a:prstGeom prst="rect">
            <a:avLst/>
          </a:prstGeom>
          <a:solidFill>
            <a:srgbClr val="B26A00"/>
          </a:solidFill>
          <a:ln>
            <a:noFill/>
          </a:ln>
        </p:spPr>
      </p:sp>
      <p:sp>
        <p:nvSpPr>
          <p:cNvPr id="45" name="shape 45"/>
          <p:cNvSpPr/>
          <p:nvPr/>
        </p:nvSpPr>
        <p:spPr>
          <a:xfrm>
            <a:off x="1956815" y="2304287"/>
            <a:ext cx="164592" cy="146304"/>
          </a:xfrm>
          <a:prstGeom prst="rect">
            <a:avLst/>
          </a:prstGeom>
          <a:solidFill>
            <a:srgbClr val="3B4B5C"/>
          </a:solidFill>
          <a:ln>
            <a:noFill/>
          </a:ln>
        </p:spPr>
      </p:sp>
      <p:sp>
        <p:nvSpPr>
          <p:cNvPr id="46" name="shape 46"/>
          <p:cNvSpPr/>
          <p:nvPr/>
        </p:nvSpPr>
        <p:spPr>
          <a:xfrm>
            <a:off x="1956815" y="2523744"/>
            <a:ext cx="164592" cy="146304"/>
          </a:xfrm>
          <a:prstGeom prst="rect">
            <a:avLst/>
          </a:prstGeom>
          <a:solidFill>
            <a:srgbClr val="1E5AA8"/>
          </a:solidFill>
          <a:ln>
            <a:noFill/>
          </a:ln>
        </p:spPr>
      </p:sp>
      <p:sp>
        <p:nvSpPr>
          <p:cNvPr id="47" name="shape 47"/>
          <p:cNvSpPr/>
          <p:nvPr/>
        </p:nvSpPr>
        <p:spPr>
          <a:xfrm>
            <a:off x="1956815" y="2743200"/>
            <a:ext cx="164592" cy="146304"/>
          </a:xfrm>
          <a:prstGeom prst="rect">
            <a:avLst/>
          </a:prstGeom>
          <a:solidFill>
            <a:srgbClr val="0097A7"/>
          </a:solidFill>
          <a:ln>
            <a:noFill/>
          </a:ln>
        </p:spPr>
      </p:sp>
      <p:sp>
        <p:nvSpPr>
          <p:cNvPr id="48" name="shape 48"/>
          <p:cNvSpPr/>
          <p:nvPr/>
        </p:nvSpPr>
        <p:spPr>
          <a:xfrm>
            <a:off x="1956815" y="2962656"/>
            <a:ext cx="164592" cy="146304"/>
          </a:xfrm>
          <a:prstGeom prst="rect">
            <a:avLst/>
          </a:prstGeom>
          <a:solidFill>
            <a:srgbClr val="2E7D32"/>
          </a:solidFill>
          <a:ln>
            <a:noFill/>
          </a:ln>
        </p:spPr>
      </p:sp>
      <p:sp>
        <p:nvSpPr>
          <p:cNvPr id="49" name="shape 49"/>
          <p:cNvSpPr/>
          <p:nvPr/>
        </p:nvSpPr>
        <p:spPr>
          <a:xfrm>
            <a:off x="1956815" y="3182111"/>
            <a:ext cx="164592" cy="146304"/>
          </a:xfrm>
          <a:prstGeom prst="rect">
            <a:avLst/>
          </a:prstGeom>
          <a:solidFill>
            <a:srgbClr val="B26A00"/>
          </a:solidFill>
          <a:ln>
            <a:noFill/>
          </a:ln>
        </p:spPr>
      </p:sp>
      <p:sp>
        <p:nvSpPr>
          <p:cNvPr id="50" name="shape 50"/>
          <p:cNvSpPr/>
          <p:nvPr/>
        </p:nvSpPr>
        <p:spPr>
          <a:xfrm>
            <a:off x="1956815" y="3401568"/>
            <a:ext cx="164592" cy="146304"/>
          </a:xfrm>
          <a:prstGeom prst="rect">
            <a:avLst/>
          </a:prstGeom>
          <a:solidFill>
            <a:srgbClr val="3B4B5C"/>
          </a:solidFill>
          <a:ln>
            <a:noFill/>
          </a:ln>
        </p:spPr>
      </p:sp>
      <p:sp>
        <p:nvSpPr>
          <p:cNvPr id="51" name="shape 51"/>
          <p:cNvSpPr/>
          <p:nvPr/>
        </p:nvSpPr>
        <p:spPr>
          <a:xfrm>
            <a:off x="1956815" y="3621024"/>
            <a:ext cx="164592" cy="146304"/>
          </a:xfrm>
          <a:prstGeom prst="rect">
            <a:avLst/>
          </a:prstGeom>
          <a:solidFill>
            <a:srgbClr val="1E5AA8"/>
          </a:solidFill>
          <a:ln>
            <a:noFill/>
          </a:ln>
        </p:spPr>
      </p:sp>
      <p:sp>
        <p:nvSpPr>
          <p:cNvPr id="52" name="shape 52"/>
          <p:cNvSpPr/>
          <p:nvPr/>
        </p:nvSpPr>
        <p:spPr>
          <a:xfrm>
            <a:off x="1956815" y="3840479"/>
            <a:ext cx="164592" cy="146304"/>
          </a:xfrm>
          <a:prstGeom prst="rect">
            <a:avLst/>
          </a:prstGeom>
          <a:solidFill>
            <a:srgbClr val="0097A7"/>
          </a:solidFill>
          <a:ln>
            <a:noFill/>
          </a:ln>
        </p:spPr>
      </p:sp>
      <p:sp>
        <p:nvSpPr>
          <p:cNvPr id="53" name="shape 53"/>
          <p:cNvSpPr/>
          <p:nvPr/>
        </p:nvSpPr>
        <p:spPr>
          <a:xfrm>
            <a:off x="2176272" y="2084831"/>
            <a:ext cx="164592" cy="146304"/>
          </a:xfrm>
          <a:prstGeom prst="rect">
            <a:avLst/>
          </a:prstGeom>
          <a:solidFill>
            <a:srgbClr val="1E5AA8"/>
          </a:solidFill>
          <a:ln>
            <a:noFill/>
          </a:ln>
        </p:spPr>
      </p:sp>
      <p:sp>
        <p:nvSpPr>
          <p:cNvPr id="54" name="shape 54"/>
          <p:cNvSpPr/>
          <p:nvPr/>
        </p:nvSpPr>
        <p:spPr>
          <a:xfrm>
            <a:off x="2176272" y="2304287"/>
            <a:ext cx="164592" cy="146304"/>
          </a:xfrm>
          <a:prstGeom prst="rect">
            <a:avLst/>
          </a:prstGeom>
          <a:solidFill>
            <a:srgbClr val="0097A7"/>
          </a:solidFill>
          <a:ln>
            <a:noFill/>
          </a:ln>
        </p:spPr>
      </p:sp>
      <p:sp>
        <p:nvSpPr>
          <p:cNvPr id="55" name="shape 55"/>
          <p:cNvSpPr/>
          <p:nvPr/>
        </p:nvSpPr>
        <p:spPr>
          <a:xfrm>
            <a:off x="2176272" y="2523744"/>
            <a:ext cx="164592" cy="146304"/>
          </a:xfrm>
          <a:prstGeom prst="rect">
            <a:avLst/>
          </a:prstGeom>
          <a:solidFill>
            <a:srgbClr val="2E7D32"/>
          </a:solidFill>
          <a:ln>
            <a:noFill/>
          </a:ln>
        </p:spPr>
      </p:sp>
      <p:sp>
        <p:nvSpPr>
          <p:cNvPr id="56" name="shape 56"/>
          <p:cNvSpPr/>
          <p:nvPr/>
        </p:nvSpPr>
        <p:spPr>
          <a:xfrm>
            <a:off x="2176272" y="2743200"/>
            <a:ext cx="164592" cy="146304"/>
          </a:xfrm>
          <a:prstGeom prst="rect">
            <a:avLst/>
          </a:prstGeom>
          <a:solidFill>
            <a:srgbClr val="B26A00"/>
          </a:solidFill>
          <a:ln>
            <a:noFill/>
          </a:ln>
        </p:spPr>
      </p:sp>
      <p:sp>
        <p:nvSpPr>
          <p:cNvPr id="57" name="shape 57"/>
          <p:cNvSpPr/>
          <p:nvPr/>
        </p:nvSpPr>
        <p:spPr>
          <a:xfrm>
            <a:off x="2176272" y="2962656"/>
            <a:ext cx="164592" cy="146304"/>
          </a:xfrm>
          <a:prstGeom prst="rect">
            <a:avLst/>
          </a:prstGeom>
          <a:solidFill>
            <a:srgbClr val="3B4B5C"/>
          </a:solidFill>
          <a:ln>
            <a:noFill/>
          </a:ln>
        </p:spPr>
      </p:sp>
      <p:sp>
        <p:nvSpPr>
          <p:cNvPr id="58" name="shape 58"/>
          <p:cNvSpPr/>
          <p:nvPr/>
        </p:nvSpPr>
        <p:spPr>
          <a:xfrm>
            <a:off x="2176272" y="3182111"/>
            <a:ext cx="164592" cy="146304"/>
          </a:xfrm>
          <a:prstGeom prst="rect">
            <a:avLst/>
          </a:prstGeom>
          <a:solidFill>
            <a:srgbClr val="1E5AA8"/>
          </a:solidFill>
          <a:ln>
            <a:noFill/>
          </a:ln>
        </p:spPr>
      </p:sp>
      <p:sp>
        <p:nvSpPr>
          <p:cNvPr id="59" name="shape 59"/>
          <p:cNvSpPr/>
          <p:nvPr/>
        </p:nvSpPr>
        <p:spPr>
          <a:xfrm>
            <a:off x="2176272" y="3401568"/>
            <a:ext cx="164592" cy="146304"/>
          </a:xfrm>
          <a:prstGeom prst="rect">
            <a:avLst/>
          </a:prstGeom>
          <a:solidFill>
            <a:srgbClr val="0097A7"/>
          </a:solidFill>
          <a:ln>
            <a:noFill/>
          </a:ln>
        </p:spPr>
      </p:sp>
      <p:sp>
        <p:nvSpPr>
          <p:cNvPr id="60" name="shape 60"/>
          <p:cNvSpPr/>
          <p:nvPr/>
        </p:nvSpPr>
        <p:spPr>
          <a:xfrm>
            <a:off x="2176272" y="3621024"/>
            <a:ext cx="164592" cy="146304"/>
          </a:xfrm>
          <a:prstGeom prst="rect">
            <a:avLst/>
          </a:prstGeom>
          <a:solidFill>
            <a:srgbClr val="2E7D32"/>
          </a:solidFill>
          <a:ln>
            <a:noFill/>
          </a:ln>
        </p:spPr>
      </p:sp>
      <p:sp>
        <p:nvSpPr>
          <p:cNvPr id="61" name="shape 61"/>
          <p:cNvSpPr/>
          <p:nvPr/>
        </p:nvSpPr>
        <p:spPr>
          <a:xfrm>
            <a:off x="2176272" y="3840479"/>
            <a:ext cx="164592" cy="146304"/>
          </a:xfrm>
          <a:prstGeom prst="rect">
            <a:avLst/>
          </a:prstGeom>
          <a:solidFill>
            <a:srgbClr val="B26A00"/>
          </a:solidFill>
          <a:ln>
            <a:noFill/>
          </a:ln>
        </p:spPr>
      </p:sp>
      <p:sp>
        <p:nvSpPr>
          <p:cNvPr id="62" name="shape 62"/>
          <p:cNvSpPr/>
          <p:nvPr/>
        </p:nvSpPr>
        <p:spPr>
          <a:xfrm>
            <a:off x="2395728" y="2084831"/>
            <a:ext cx="164592" cy="146304"/>
          </a:xfrm>
          <a:prstGeom prst="rect">
            <a:avLst/>
          </a:prstGeom>
          <a:solidFill>
            <a:srgbClr val="2E7D32"/>
          </a:solidFill>
          <a:ln>
            <a:noFill/>
          </a:ln>
        </p:spPr>
      </p:sp>
      <p:sp>
        <p:nvSpPr>
          <p:cNvPr id="63" name="shape 63"/>
          <p:cNvSpPr/>
          <p:nvPr/>
        </p:nvSpPr>
        <p:spPr>
          <a:xfrm>
            <a:off x="2395728" y="2304287"/>
            <a:ext cx="164592" cy="146304"/>
          </a:xfrm>
          <a:prstGeom prst="rect">
            <a:avLst/>
          </a:prstGeom>
          <a:solidFill>
            <a:srgbClr val="B26A00"/>
          </a:solidFill>
          <a:ln>
            <a:noFill/>
          </a:ln>
        </p:spPr>
      </p:sp>
      <p:sp>
        <p:nvSpPr>
          <p:cNvPr id="64" name="shape 64"/>
          <p:cNvSpPr/>
          <p:nvPr/>
        </p:nvSpPr>
        <p:spPr>
          <a:xfrm>
            <a:off x="2395728" y="2523744"/>
            <a:ext cx="164592" cy="146304"/>
          </a:xfrm>
          <a:prstGeom prst="rect">
            <a:avLst/>
          </a:prstGeom>
          <a:solidFill>
            <a:srgbClr val="3B4B5C"/>
          </a:solidFill>
          <a:ln>
            <a:noFill/>
          </a:ln>
        </p:spPr>
      </p:sp>
      <p:sp>
        <p:nvSpPr>
          <p:cNvPr id="65" name="shape 65"/>
          <p:cNvSpPr/>
          <p:nvPr/>
        </p:nvSpPr>
        <p:spPr>
          <a:xfrm>
            <a:off x="2395728" y="2743200"/>
            <a:ext cx="164592" cy="146304"/>
          </a:xfrm>
          <a:prstGeom prst="rect">
            <a:avLst/>
          </a:prstGeom>
          <a:solidFill>
            <a:srgbClr val="1E5AA8"/>
          </a:solidFill>
          <a:ln>
            <a:noFill/>
          </a:ln>
        </p:spPr>
      </p:sp>
      <p:sp>
        <p:nvSpPr>
          <p:cNvPr id="66" name="shape 66"/>
          <p:cNvSpPr/>
          <p:nvPr/>
        </p:nvSpPr>
        <p:spPr>
          <a:xfrm>
            <a:off x="2395728" y="2962656"/>
            <a:ext cx="164592" cy="146304"/>
          </a:xfrm>
          <a:prstGeom prst="rect">
            <a:avLst/>
          </a:prstGeom>
          <a:solidFill>
            <a:srgbClr val="0097A7"/>
          </a:solidFill>
          <a:ln>
            <a:noFill/>
          </a:ln>
        </p:spPr>
      </p:sp>
      <p:sp>
        <p:nvSpPr>
          <p:cNvPr id="67" name="shape 67"/>
          <p:cNvSpPr/>
          <p:nvPr/>
        </p:nvSpPr>
        <p:spPr>
          <a:xfrm>
            <a:off x="2395728" y="3182111"/>
            <a:ext cx="164592" cy="146304"/>
          </a:xfrm>
          <a:prstGeom prst="rect">
            <a:avLst/>
          </a:prstGeom>
          <a:solidFill>
            <a:srgbClr val="2E7D32"/>
          </a:solidFill>
          <a:ln>
            <a:noFill/>
          </a:ln>
        </p:spPr>
      </p:sp>
      <p:sp>
        <p:nvSpPr>
          <p:cNvPr id="68" name="shape 68"/>
          <p:cNvSpPr/>
          <p:nvPr/>
        </p:nvSpPr>
        <p:spPr>
          <a:xfrm>
            <a:off x="2395728" y="3401568"/>
            <a:ext cx="164592" cy="146304"/>
          </a:xfrm>
          <a:prstGeom prst="rect">
            <a:avLst/>
          </a:prstGeom>
          <a:solidFill>
            <a:srgbClr val="B26A00"/>
          </a:solidFill>
          <a:ln>
            <a:noFill/>
          </a:ln>
        </p:spPr>
      </p:sp>
      <p:sp>
        <p:nvSpPr>
          <p:cNvPr id="69" name="shape 69"/>
          <p:cNvSpPr/>
          <p:nvPr/>
        </p:nvSpPr>
        <p:spPr>
          <a:xfrm>
            <a:off x="2395728" y="3621024"/>
            <a:ext cx="164592" cy="146304"/>
          </a:xfrm>
          <a:prstGeom prst="rect">
            <a:avLst/>
          </a:prstGeom>
          <a:solidFill>
            <a:srgbClr val="3B4B5C"/>
          </a:solidFill>
          <a:ln>
            <a:noFill/>
          </a:ln>
        </p:spPr>
      </p:sp>
      <p:sp>
        <p:nvSpPr>
          <p:cNvPr id="70" name="shape 70"/>
          <p:cNvSpPr/>
          <p:nvPr/>
        </p:nvSpPr>
        <p:spPr>
          <a:xfrm>
            <a:off x="2395728" y="3840479"/>
            <a:ext cx="164592" cy="146304"/>
          </a:xfrm>
          <a:prstGeom prst="rect">
            <a:avLst/>
          </a:prstGeom>
          <a:solidFill>
            <a:srgbClr val="1E5AA8"/>
          </a:solidFill>
          <a:ln>
            <a:noFill/>
          </a:ln>
        </p:spPr>
      </p:sp>
      <p:sp>
        <p:nvSpPr>
          <p:cNvPr id="71" name="shape 71"/>
          <p:cNvSpPr/>
          <p:nvPr/>
        </p:nvSpPr>
        <p:spPr>
          <a:xfrm>
            <a:off x="2615184" y="2084831"/>
            <a:ext cx="164592" cy="146304"/>
          </a:xfrm>
          <a:prstGeom prst="rect">
            <a:avLst/>
          </a:prstGeom>
          <a:solidFill>
            <a:srgbClr val="3B4B5C"/>
          </a:solidFill>
          <a:ln>
            <a:noFill/>
          </a:ln>
        </p:spPr>
      </p:sp>
      <p:sp>
        <p:nvSpPr>
          <p:cNvPr id="72" name="shape 72"/>
          <p:cNvSpPr/>
          <p:nvPr/>
        </p:nvSpPr>
        <p:spPr>
          <a:xfrm>
            <a:off x="2615184" y="2304287"/>
            <a:ext cx="164592" cy="146304"/>
          </a:xfrm>
          <a:prstGeom prst="rect">
            <a:avLst/>
          </a:prstGeom>
          <a:solidFill>
            <a:srgbClr val="1E5AA8"/>
          </a:solidFill>
          <a:ln>
            <a:noFill/>
          </a:ln>
        </p:spPr>
      </p:sp>
      <p:sp>
        <p:nvSpPr>
          <p:cNvPr id="73" name="shape 73"/>
          <p:cNvSpPr/>
          <p:nvPr/>
        </p:nvSpPr>
        <p:spPr>
          <a:xfrm>
            <a:off x="2615184" y="2523744"/>
            <a:ext cx="164592" cy="146304"/>
          </a:xfrm>
          <a:prstGeom prst="rect">
            <a:avLst/>
          </a:prstGeom>
          <a:solidFill>
            <a:srgbClr val="0097A7"/>
          </a:solidFill>
          <a:ln>
            <a:noFill/>
          </a:ln>
        </p:spPr>
      </p:sp>
      <p:sp>
        <p:nvSpPr>
          <p:cNvPr id="74" name="shape 74"/>
          <p:cNvSpPr/>
          <p:nvPr/>
        </p:nvSpPr>
        <p:spPr>
          <a:xfrm>
            <a:off x="2615184" y="2743200"/>
            <a:ext cx="164592" cy="146304"/>
          </a:xfrm>
          <a:prstGeom prst="rect">
            <a:avLst/>
          </a:prstGeom>
          <a:solidFill>
            <a:srgbClr val="2E7D32"/>
          </a:solidFill>
          <a:ln>
            <a:noFill/>
          </a:ln>
        </p:spPr>
      </p:sp>
      <p:sp>
        <p:nvSpPr>
          <p:cNvPr id="75" name="shape 75"/>
          <p:cNvSpPr/>
          <p:nvPr/>
        </p:nvSpPr>
        <p:spPr>
          <a:xfrm>
            <a:off x="2615184" y="2962656"/>
            <a:ext cx="164592" cy="146304"/>
          </a:xfrm>
          <a:prstGeom prst="rect">
            <a:avLst/>
          </a:prstGeom>
          <a:solidFill>
            <a:srgbClr val="B26A00"/>
          </a:solidFill>
          <a:ln>
            <a:noFill/>
          </a:ln>
        </p:spPr>
      </p:sp>
      <p:sp>
        <p:nvSpPr>
          <p:cNvPr id="76" name="shape 76"/>
          <p:cNvSpPr/>
          <p:nvPr/>
        </p:nvSpPr>
        <p:spPr>
          <a:xfrm>
            <a:off x="2615184" y="3182111"/>
            <a:ext cx="164592" cy="146304"/>
          </a:xfrm>
          <a:prstGeom prst="rect">
            <a:avLst/>
          </a:prstGeom>
          <a:solidFill>
            <a:srgbClr val="3B4B5C"/>
          </a:solidFill>
          <a:ln>
            <a:noFill/>
          </a:ln>
        </p:spPr>
      </p:sp>
      <p:sp>
        <p:nvSpPr>
          <p:cNvPr id="77" name="shape 77"/>
          <p:cNvSpPr/>
          <p:nvPr/>
        </p:nvSpPr>
        <p:spPr>
          <a:xfrm>
            <a:off x="2615184" y="3401568"/>
            <a:ext cx="164592" cy="146304"/>
          </a:xfrm>
          <a:prstGeom prst="rect">
            <a:avLst/>
          </a:prstGeom>
          <a:solidFill>
            <a:srgbClr val="1E5AA8"/>
          </a:solidFill>
          <a:ln>
            <a:noFill/>
          </a:ln>
        </p:spPr>
      </p:sp>
      <p:sp>
        <p:nvSpPr>
          <p:cNvPr id="78" name="shape 78"/>
          <p:cNvSpPr/>
          <p:nvPr/>
        </p:nvSpPr>
        <p:spPr>
          <a:xfrm>
            <a:off x="2615184" y="3621024"/>
            <a:ext cx="164592" cy="146304"/>
          </a:xfrm>
          <a:prstGeom prst="rect">
            <a:avLst/>
          </a:prstGeom>
          <a:solidFill>
            <a:srgbClr val="0097A7"/>
          </a:solidFill>
          <a:ln>
            <a:noFill/>
          </a:ln>
        </p:spPr>
      </p:sp>
      <p:sp>
        <p:nvSpPr>
          <p:cNvPr id="79" name="shape 79"/>
          <p:cNvSpPr/>
          <p:nvPr/>
        </p:nvSpPr>
        <p:spPr>
          <a:xfrm>
            <a:off x="2615184" y="3840479"/>
            <a:ext cx="164592" cy="146304"/>
          </a:xfrm>
          <a:prstGeom prst="rect">
            <a:avLst/>
          </a:prstGeom>
          <a:solidFill>
            <a:srgbClr val="2E7D32"/>
          </a:solidFill>
          <a:ln>
            <a:noFill/>
          </a:ln>
        </p:spPr>
      </p:sp>
      <p:sp>
        <p:nvSpPr>
          <p:cNvPr id="80" name="shape 80"/>
          <p:cNvSpPr/>
          <p:nvPr/>
        </p:nvSpPr>
        <p:spPr>
          <a:xfrm>
            <a:off x="2834639" y="2084831"/>
            <a:ext cx="164592" cy="146304"/>
          </a:xfrm>
          <a:prstGeom prst="rect">
            <a:avLst/>
          </a:prstGeom>
          <a:solidFill>
            <a:srgbClr val="0097A7"/>
          </a:solidFill>
          <a:ln>
            <a:noFill/>
          </a:ln>
        </p:spPr>
      </p:sp>
      <p:sp>
        <p:nvSpPr>
          <p:cNvPr id="81" name="shape 81"/>
          <p:cNvSpPr/>
          <p:nvPr/>
        </p:nvSpPr>
        <p:spPr>
          <a:xfrm>
            <a:off x="2834639" y="2304287"/>
            <a:ext cx="164592" cy="146304"/>
          </a:xfrm>
          <a:prstGeom prst="rect">
            <a:avLst/>
          </a:prstGeom>
          <a:solidFill>
            <a:srgbClr val="2E7D32"/>
          </a:solidFill>
          <a:ln>
            <a:noFill/>
          </a:ln>
        </p:spPr>
      </p:sp>
      <p:sp>
        <p:nvSpPr>
          <p:cNvPr id="82" name="shape 82"/>
          <p:cNvSpPr/>
          <p:nvPr/>
        </p:nvSpPr>
        <p:spPr>
          <a:xfrm>
            <a:off x="2834639" y="2523744"/>
            <a:ext cx="164592" cy="146304"/>
          </a:xfrm>
          <a:prstGeom prst="rect">
            <a:avLst/>
          </a:prstGeom>
          <a:solidFill>
            <a:srgbClr val="B26A00"/>
          </a:solidFill>
          <a:ln>
            <a:noFill/>
          </a:ln>
        </p:spPr>
      </p:sp>
      <p:sp>
        <p:nvSpPr>
          <p:cNvPr id="83" name="shape 83"/>
          <p:cNvSpPr/>
          <p:nvPr/>
        </p:nvSpPr>
        <p:spPr>
          <a:xfrm>
            <a:off x="2834639" y="2743200"/>
            <a:ext cx="164592" cy="146304"/>
          </a:xfrm>
          <a:prstGeom prst="rect">
            <a:avLst/>
          </a:prstGeom>
          <a:solidFill>
            <a:srgbClr val="3B4B5C"/>
          </a:solidFill>
          <a:ln>
            <a:noFill/>
          </a:ln>
        </p:spPr>
      </p:sp>
      <p:sp>
        <p:nvSpPr>
          <p:cNvPr id="84" name="shape 84"/>
          <p:cNvSpPr/>
          <p:nvPr/>
        </p:nvSpPr>
        <p:spPr>
          <a:xfrm>
            <a:off x="2834639" y="2962656"/>
            <a:ext cx="164592" cy="146304"/>
          </a:xfrm>
          <a:prstGeom prst="rect">
            <a:avLst/>
          </a:prstGeom>
          <a:solidFill>
            <a:srgbClr val="1E5AA8"/>
          </a:solidFill>
          <a:ln>
            <a:noFill/>
          </a:ln>
        </p:spPr>
      </p:sp>
      <p:sp>
        <p:nvSpPr>
          <p:cNvPr id="85" name="shape 85"/>
          <p:cNvSpPr/>
          <p:nvPr/>
        </p:nvSpPr>
        <p:spPr>
          <a:xfrm>
            <a:off x="2834639" y="3182111"/>
            <a:ext cx="164592" cy="146304"/>
          </a:xfrm>
          <a:prstGeom prst="rect">
            <a:avLst/>
          </a:prstGeom>
          <a:solidFill>
            <a:srgbClr val="0097A7"/>
          </a:solidFill>
          <a:ln>
            <a:noFill/>
          </a:ln>
        </p:spPr>
      </p:sp>
      <p:sp>
        <p:nvSpPr>
          <p:cNvPr id="86" name="shape 86"/>
          <p:cNvSpPr/>
          <p:nvPr/>
        </p:nvSpPr>
        <p:spPr>
          <a:xfrm>
            <a:off x="2834639" y="3401568"/>
            <a:ext cx="164592" cy="146304"/>
          </a:xfrm>
          <a:prstGeom prst="rect">
            <a:avLst/>
          </a:prstGeom>
          <a:solidFill>
            <a:srgbClr val="2E7D32"/>
          </a:solidFill>
          <a:ln>
            <a:noFill/>
          </a:ln>
        </p:spPr>
      </p:sp>
      <p:sp>
        <p:nvSpPr>
          <p:cNvPr id="87" name="shape 87"/>
          <p:cNvSpPr/>
          <p:nvPr/>
        </p:nvSpPr>
        <p:spPr>
          <a:xfrm>
            <a:off x="2834639" y="3621024"/>
            <a:ext cx="164592" cy="146304"/>
          </a:xfrm>
          <a:prstGeom prst="rect">
            <a:avLst/>
          </a:prstGeom>
          <a:solidFill>
            <a:srgbClr val="B26A00"/>
          </a:solidFill>
          <a:ln>
            <a:noFill/>
          </a:ln>
        </p:spPr>
      </p:sp>
      <p:sp>
        <p:nvSpPr>
          <p:cNvPr id="88" name="shape 88"/>
          <p:cNvSpPr/>
          <p:nvPr/>
        </p:nvSpPr>
        <p:spPr>
          <a:xfrm>
            <a:off x="2834639" y="3840479"/>
            <a:ext cx="164592" cy="146304"/>
          </a:xfrm>
          <a:prstGeom prst="rect">
            <a:avLst/>
          </a:prstGeom>
          <a:solidFill>
            <a:srgbClr val="3B4B5C"/>
          </a:solidFill>
          <a:ln>
            <a:noFill/>
          </a:ln>
        </p:spPr>
      </p:sp>
      <p:sp>
        <p:nvSpPr>
          <p:cNvPr id="89" name="shape 89"/>
          <p:cNvSpPr/>
          <p:nvPr/>
        </p:nvSpPr>
        <p:spPr>
          <a:xfrm>
            <a:off x="3054096" y="2084831"/>
            <a:ext cx="164592" cy="146304"/>
          </a:xfrm>
          <a:prstGeom prst="rect">
            <a:avLst/>
          </a:prstGeom>
          <a:solidFill>
            <a:srgbClr val="B26A00"/>
          </a:solidFill>
          <a:ln>
            <a:noFill/>
          </a:ln>
        </p:spPr>
      </p:sp>
      <p:sp>
        <p:nvSpPr>
          <p:cNvPr id="90" name="shape 90"/>
          <p:cNvSpPr/>
          <p:nvPr/>
        </p:nvSpPr>
        <p:spPr>
          <a:xfrm>
            <a:off x="3054096" y="2304287"/>
            <a:ext cx="164592" cy="146304"/>
          </a:xfrm>
          <a:prstGeom prst="rect">
            <a:avLst/>
          </a:prstGeom>
          <a:solidFill>
            <a:srgbClr val="3B4B5C"/>
          </a:solidFill>
          <a:ln>
            <a:noFill/>
          </a:ln>
        </p:spPr>
      </p:sp>
      <p:sp>
        <p:nvSpPr>
          <p:cNvPr id="91" name="shape 91"/>
          <p:cNvSpPr/>
          <p:nvPr/>
        </p:nvSpPr>
        <p:spPr>
          <a:xfrm>
            <a:off x="3054096" y="2523744"/>
            <a:ext cx="164592" cy="146304"/>
          </a:xfrm>
          <a:prstGeom prst="rect">
            <a:avLst/>
          </a:prstGeom>
          <a:solidFill>
            <a:srgbClr val="1E5AA8"/>
          </a:solidFill>
          <a:ln>
            <a:noFill/>
          </a:ln>
        </p:spPr>
      </p:sp>
      <p:sp>
        <p:nvSpPr>
          <p:cNvPr id="92" name="shape 92"/>
          <p:cNvSpPr/>
          <p:nvPr/>
        </p:nvSpPr>
        <p:spPr>
          <a:xfrm>
            <a:off x="3054096" y="2743200"/>
            <a:ext cx="164592" cy="146304"/>
          </a:xfrm>
          <a:prstGeom prst="rect">
            <a:avLst/>
          </a:prstGeom>
          <a:solidFill>
            <a:srgbClr val="0097A7"/>
          </a:solidFill>
          <a:ln>
            <a:noFill/>
          </a:ln>
        </p:spPr>
      </p:sp>
      <p:sp>
        <p:nvSpPr>
          <p:cNvPr id="93" name="shape 93"/>
          <p:cNvSpPr/>
          <p:nvPr/>
        </p:nvSpPr>
        <p:spPr>
          <a:xfrm>
            <a:off x="3054096" y="2962656"/>
            <a:ext cx="164592" cy="146304"/>
          </a:xfrm>
          <a:prstGeom prst="rect">
            <a:avLst/>
          </a:prstGeom>
          <a:solidFill>
            <a:srgbClr val="2E7D32"/>
          </a:solidFill>
          <a:ln>
            <a:noFill/>
          </a:ln>
        </p:spPr>
      </p:sp>
      <p:sp>
        <p:nvSpPr>
          <p:cNvPr id="94" name="shape 94"/>
          <p:cNvSpPr/>
          <p:nvPr/>
        </p:nvSpPr>
        <p:spPr>
          <a:xfrm>
            <a:off x="3054096" y="3182111"/>
            <a:ext cx="164592" cy="146304"/>
          </a:xfrm>
          <a:prstGeom prst="rect">
            <a:avLst/>
          </a:prstGeom>
          <a:solidFill>
            <a:srgbClr val="B26A00"/>
          </a:solidFill>
          <a:ln>
            <a:noFill/>
          </a:ln>
        </p:spPr>
      </p:sp>
      <p:sp>
        <p:nvSpPr>
          <p:cNvPr id="95" name="shape 95"/>
          <p:cNvSpPr/>
          <p:nvPr/>
        </p:nvSpPr>
        <p:spPr>
          <a:xfrm>
            <a:off x="3054096" y="3401568"/>
            <a:ext cx="164592" cy="146304"/>
          </a:xfrm>
          <a:prstGeom prst="rect">
            <a:avLst/>
          </a:prstGeom>
          <a:solidFill>
            <a:srgbClr val="3B4B5C"/>
          </a:solidFill>
          <a:ln>
            <a:noFill/>
          </a:ln>
        </p:spPr>
      </p:sp>
      <p:sp>
        <p:nvSpPr>
          <p:cNvPr id="96" name="shape 96"/>
          <p:cNvSpPr/>
          <p:nvPr/>
        </p:nvSpPr>
        <p:spPr>
          <a:xfrm>
            <a:off x="3054096" y="3621024"/>
            <a:ext cx="164592" cy="146304"/>
          </a:xfrm>
          <a:prstGeom prst="rect">
            <a:avLst/>
          </a:prstGeom>
          <a:solidFill>
            <a:srgbClr val="1E5AA8"/>
          </a:solidFill>
          <a:ln>
            <a:noFill/>
          </a:ln>
        </p:spPr>
      </p:sp>
      <p:sp>
        <p:nvSpPr>
          <p:cNvPr id="97" name="shape 97"/>
          <p:cNvSpPr/>
          <p:nvPr/>
        </p:nvSpPr>
        <p:spPr>
          <a:xfrm>
            <a:off x="3054096" y="3840479"/>
            <a:ext cx="164592" cy="146304"/>
          </a:xfrm>
          <a:prstGeom prst="rect">
            <a:avLst/>
          </a:prstGeom>
          <a:solidFill>
            <a:srgbClr val="0097A7"/>
          </a:solidFill>
          <a:ln>
            <a:noFill/>
          </a:ln>
        </p:spPr>
      </p:sp>
      <p:sp>
        <p:nvSpPr>
          <p:cNvPr id="98" name="shape 98"/>
          <p:cNvSpPr/>
          <p:nvPr/>
        </p:nvSpPr>
        <p:spPr>
          <a:xfrm>
            <a:off x="3273552" y="2084831"/>
            <a:ext cx="164592" cy="146304"/>
          </a:xfrm>
          <a:prstGeom prst="rect">
            <a:avLst/>
          </a:prstGeom>
          <a:solidFill>
            <a:srgbClr val="1E5AA8"/>
          </a:solidFill>
          <a:ln>
            <a:noFill/>
          </a:ln>
        </p:spPr>
      </p:sp>
      <p:sp>
        <p:nvSpPr>
          <p:cNvPr id="99" name="shape 99"/>
          <p:cNvSpPr/>
          <p:nvPr/>
        </p:nvSpPr>
        <p:spPr>
          <a:xfrm>
            <a:off x="3273552" y="2304287"/>
            <a:ext cx="164592" cy="146304"/>
          </a:xfrm>
          <a:prstGeom prst="rect">
            <a:avLst/>
          </a:prstGeom>
          <a:solidFill>
            <a:srgbClr val="0097A7"/>
          </a:solidFill>
          <a:ln>
            <a:noFill/>
          </a:ln>
        </p:spPr>
      </p:sp>
      <p:sp>
        <p:nvSpPr>
          <p:cNvPr id="100" name="shape 100"/>
          <p:cNvSpPr/>
          <p:nvPr/>
        </p:nvSpPr>
        <p:spPr>
          <a:xfrm>
            <a:off x="3273552" y="2523744"/>
            <a:ext cx="164592" cy="146304"/>
          </a:xfrm>
          <a:prstGeom prst="rect">
            <a:avLst/>
          </a:prstGeom>
          <a:solidFill>
            <a:srgbClr val="2E7D32"/>
          </a:solidFill>
          <a:ln>
            <a:noFill/>
          </a:ln>
        </p:spPr>
      </p:sp>
      <p:sp>
        <p:nvSpPr>
          <p:cNvPr id="101" name="shape 101"/>
          <p:cNvSpPr/>
          <p:nvPr/>
        </p:nvSpPr>
        <p:spPr>
          <a:xfrm>
            <a:off x="3273552" y="2743200"/>
            <a:ext cx="164592" cy="146304"/>
          </a:xfrm>
          <a:prstGeom prst="rect">
            <a:avLst/>
          </a:prstGeom>
          <a:solidFill>
            <a:srgbClr val="B26A00"/>
          </a:solidFill>
          <a:ln>
            <a:noFill/>
          </a:ln>
        </p:spPr>
      </p:sp>
      <p:sp>
        <p:nvSpPr>
          <p:cNvPr id="102" name="shape 102"/>
          <p:cNvSpPr/>
          <p:nvPr/>
        </p:nvSpPr>
        <p:spPr>
          <a:xfrm>
            <a:off x="3273552" y="2962656"/>
            <a:ext cx="164592" cy="146304"/>
          </a:xfrm>
          <a:prstGeom prst="rect">
            <a:avLst/>
          </a:prstGeom>
          <a:solidFill>
            <a:srgbClr val="3B4B5C"/>
          </a:solidFill>
          <a:ln>
            <a:noFill/>
          </a:ln>
        </p:spPr>
      </p:sp>
      <p:sp>
        <p:nvSpPr>
          <p:cNvPr id="103" name="shape 103"/>
          <p:cNvSpPr/>
          <p:nvPr/>
        </p:nvSpPr>
        <p:spPr>
          <a:xfrm>
            <a:off x="3273552" y="3182111"/>
            <a:ext cx="164592" cy="146304"/>
          </a:xfrm>
          <a:prstGeom prst="rect">
            <a:avLst/>
          </a:prstGeom>
          <a:solidFill>
            <a:srgbClr val="1E5AA8"/>
          </a:solidFill>
          <a:ln>
            <a:noFill/>
          </a:ln>
        </p:spPr>
      </p:sp>
      <p:sp>
        <p:nvSpPr>
          <p:cNvPr id="104" name="shape 104"/>
          <p:cNvSpPr/>
          <p:nvPr/>
        </p:nvSpPr>
        <p:spPr>
          <a:xfrm>
            <a:off x="3273552" y="3401568"/>
            <a:ext cx="164592" cy="146304"/>
          </a:xfrm>
          <a:prstGeom prst="rect">
            <a:avLst/>
          </a:prstGeom>
          <a:solidFill>
            <a:srgbClr val="0097A7"/>
          </a:solidFill>
          <a:ln>
            <a:noFill/>
          </a:ln>
        </p:spPr>
      </p:sp>
      <p:sp>
        <p:nvSpPr>
          <p:cNvPr id="105" name="shape 105"/>
          <p:cNvSpPr/>
          <p:nvPr/>
        </p:nvSpPr>
        <p:spPr>
          <a:xfrm>
            <a:off x="3273552" y="3621024"/>
            <a:ext cx="164592" cy="146304"/>
          </a:xfrm>
          <a:prstGeom prst="rect">
            <a:avLst/>
          </a:prstGeom>
          <a:solidFill>
            <a:srgbClr val="2E7D32"/>
          </a:solidFill>
          <a:ln>
            <a:noFill/>
          </a:ln>
        </p:spPr>
      </p:sp>
      <p:sp>
        <p:nvSpPr>
          <p:cNvPr id="106" name="shape 106"/>
          <p:cNvSpPr/>
          <p:nvPr/>
        </p:nvSpPr>
        <p:spPr>
          <a:xfrm>
            <a:off x="3273552" y="3840479"/>
            <a:ext cx="164592" cy="146304"/>
          </a:xfrm>
          <a:prstGeom prst="rect">
            <a:avLst/>
          </a:prstGeom>
          <a:solidFill>
            <a:srgbClr val="B26A00"/>
          </a:solidFill>
          <a:ln>
            <a:noFill/>
          </a:ln>
        </p:spPr>
      </p:sp>
      <p:sp>
        <p:nvSpPr>
          <p:cNvPr id="107" name="shape 107"/>
          <p:cNvSpPr/>
          <p:nvPr/>
        </p:nvSpPr>
        <p:spPr>
          <a:xfrm>
            <a:off x="3493007" y="2084831"/>
            <a:ext cx="164592" cy="146304"/>
          </a:xfrm>
          <a:prstGeom prst="rect">
            <a:avLst/>
          </a:prstGeom>
          <a:solidFill>
            <a:srgbClr val="2E7D32"/>
          </a:solidFill>
          <a:ln>
            <a:noFill/>
          </a:ln>
        </p:spPr>
      </p:sp>
      <p:sp>
        <p:nvSpPr>
          <p:cNvPr id="108" name="shape 108"/>
          <p:cNvSpPr/>
          <p:nvPr/>
        </p:nvSpPr>
        <p:spPr>
          <a:xfrm>
            <a:off x="3493007" y="2304287"/>
            <a:ext cx="164592" cy="146304"/>
          </a:xfrm>
          <a:prstGeom prst="rect">
            <a:avLst/>
          </a:prstGeom>
          <a:solidFill>
            <a:srgbClr val="B26A00"/>
          </a:solidFill>
          <a:ln>
            <a:noFill/>
          </a:ln>
        </p:spPr>
      </p:sp>
      <p:sp>
        <p:nvSpPr>
          <p:cNvPr id="109" name="shape 109"/>
          <p:cNvSpPr/>
          <p:nvPr/>
        </p:nvSpPr>
        <p:spPr>
          <a:xfrm>
            <a:off x="3493007" y="2523744"/>
            <a:ext cx="164592" cy="146304"/>
          </a:xfrm>
          <a:prstGeom prst="rect">
            <a:avLst/>
          </a:prstGeom>
          <a:solidFill>
            <a:srgbClr val="3B4B5C"/>
          </a:solidFill>
          <a:ln>
            <a:noFill/>
          </a:ln>
        </p:spPr>
      </p:sp>
      <p:sp>
        <p:nvSpPr>
          <p:cNvPr id="110" name="shape 110"/>
          <p:cNvSpPr/>
          <p:nvPr/>
        </p:nvSpPr>
        <p:spPr>
          <a:xfrm>
            <a:off x="3493007" y="2743200"/>
            <a:ext cx="164592" cy="146304"/>
          </a:xfrm>
          <a:prstGeom prst="rect">
            <a:avLst/>
          </a:prstGeom>
          <a:solidFill>
            <a:srgbClr val="1E5AA8"/>
          </a:solidFill>
          <a:ln>
            <a:noFill/>
          </a:ln>
        </p:spPr>
      </p:sp>
      <p:sp>
        <p:nvSpPr>
          <p:cNvPr id="111" name="shape 111"/>
          <p:cNvSpPr/>
          <p:nvPr/>
        </p:nvSpPr>
        <p:spPr>
          <a:xfrm>
            <a:off x="3493007" y="2962656"/>
            <a:ext cx="164592" cy="146304"/>
          </a:xfrm>
          <a:prstGeom prst="rect">
            <a:avLst/>
          </a:prstGeom>
          <a:solidFill>
            <a:srgbClr val="0097A7"/>
          </a:solidFill>
          <a:ln>
            <a:noFill/>
          </a:ln>
        </p:spPr>
      </p:sp>
      <p:sp>
        <p:nvSpPr>
          <p:cNvPr id="112" name="shape 112"/>
          <p:cNvSpPr/>
          <p:nvPr/>
        </p:nvSpPr>
        <p:spPr>
          <a:xfrm>
            <a:off x="3493007" y="3182111"/>
            <a:ext cx="164592" cy="146304"/>
          </a:xfrm>
          <a:prstGeom prst="rect">
            <a:avLst/>
          </a:prstGeom>
          <a:solidFill>
            <a:srgbClr val="2E7D32"/>
          </a:solidFill>
          <a:ln>
            <a:noFill/>
          </a:ln>
        </p:spPr>
      </p:sp>
      <p:sp>
        <p:nvSpPr>
          <p:cNvPr id="113" name="shape 113"/>
          <p:cNvSpPr/>
          <p:nvPr/>
        </p:nvSpPr>
        <p:spPr>
          <a:xfrm>
            <a:off x="3493007" y="3401568"/>
            <a:ext cx="164592" cy="146304"/>
          </a:xfrm>
          <a:prstGeom prst="rect">
            <a:avLst/>
          </a:prstGeom>
          <a:solidFill>
            <a:srgbClr val="B26A00"/>
          </a:solidFill>
          <a:ln>
            <a:noFill/>
          </a:ln>
        </p:spPr>
      </p:sp>
      <p:sp>
        <p:nvSpPr>
          <p:cNvPr id="114" name="shape 114"/>
          <p:cNvSpPr/>
          <p:nvPr/>
        </p:nvSpPr>
        <p:spPr>
          <a:xfrm>
            <a:off x="3493007" y="3621024"/>
            <a:ext cx="164592" cy="146304"/>
          </a:xfrm>
          <a:prstGeom prst="rect">
            <a:avLst/>
          </a:prstGeom>
          <a:solidFill>
            <a:srgbClr val="3B4B5C"/>
          </a:solidFill>
          <a:ln>
            <a:noFill/>
          </a:ln>
        </p:spPr>
      </p:sp>
      <p:sp>
        <p:nvSpPr>
          <p:cNvPr id="115" name="shape 115"/>
          <p:cNvSpPr/>
          <p:nvPr/>
        </p:nvSpPr>
        <p:spPr>
          <a:xfrm>
            <a:off x="3493007" y="3840479"/>
            <a:ext cx="164592" cy="146304"/>
          </a:xfrm>
          <a:prstGeom prst="rect">
            <a:avLst/>
          </a:prstGeom>
          <a:solidFill>
            <a:srgbClr val="1E5AA8"/>
          </a:solidFill>
          <a:ln>
            <a:noFill/>
          </a:ln>
        </p:spPr>
      </p:sp>
      <p:sp>
        <p:nvSpPr>
          <p:cNvPr id="116" name="shape 116"/>
          <p:cNvSpPr/>
          <p:nvPr/>
        </p:nvSpPr>
        <p:spPr>
          <a:xfrm>
            <a:off x="3712463" y="2084831"/>
            <a:ext cx="164592" cy="146304"/>
          </a:xfrm>
          <a:prstGeom prst="rect">
            <a:avLst/>
          </a:prstGeom>
          <a:solidFill>
            <a:srgbClr val="3B4B5C"/>
          </a:solidFill>
          <a:ln>
            <a:noFill/>
          </a:ln>
        </p:spPr>
      </p:sp>
      <p:sp>
        <p:nvSpPr>
          <p:cNvPr id="117" name="shape 117"/>
          <p:cNvSpPr/>
          <p:nvPr/>
        </p:nvSpPr>
        <p:spPr>
          <a:xfrm>
            <a:off x="3712463" y="2304287"/>
            <a:ext cx="164592" cy="146304"/>
          </a:xfrm>
          <a:prstGeom prst="rect">
            <a:avLst/>
          </a:prstGeom>
          <a:solidFill>
            <a:srgbClr val="1E5AA8"/>
          </a:solidFill>
          <a:ln>
            <a:noFill/>
          </a:ln>
        </p:spPr>
      </p:sp>
      <p:sp>
        <p:nvSpPr>
          <p:cNvPr id="118" name="shape 118"/>
          <p:cNvSpPr/>
          <p:nvPr/>
        </p:nvSpPr>
        <p:spPr>
          <a:xfrm>
            <a:off x="3712463" y="2523744"/>
            <a:ext cx="164592" cy="146304"/>
          </a:xfrm>
          <a:prstGeom prst="rect">
            <a:avLst/>
          </a:prstGeom>
          <a:solidFill>
            <a:srgbClr val="0097A7"/>
          </a:solidFill>
          <a:ln>
            <a:noFill/>
          </a:ln>
        </p:spPr>
      </p:sp>
      <p:sp>
        <p:nvSpPr>
          <p:cNvPr id="119" name="shape 119"/>
          <p:cNvSpPr/>
          <p:nvPr/>
        </p:nvSpPr>
        <p:spPr>
          <a:xfrm>
            <a:off x="3712463" y="2743200"/>
            <a:ext cx="164592" cy="146304"/>
          </a:xfrm>
          <a:prstGeom prst="rect">
            <a:avLst/>
          </a:prstGeom>
          <a:solidFill>
            <a:srgbClr val="2E7D32"/>
          </a:solidFill>
          <a:ln>
            <a:noFill/>
          </a:ln>
        </p:spPr>
      </p:sp>
      <p:sp>
        <p:nvSpPr>
          <p:cNvPr id="120" name="shape 120"/>
          <p:cNvSpPr/>
          <p:nvPr/>
        </p:nvSpPr>
        <p:spPr>
          <a:xfrm>
            <a:off x="3712463" y="2962656"/>
            <a:ext cx="164592" cy="146304"/>
          </a:xfrm>
          <a:prstGeom prst="rect">
            <a:avLst/>
          </a:prstGeom>
          <a:solidFill>
            <a:srgbClr val="B26A00"/>
          </a:solidFill>
          <a:ln>
            <a:noFill/>
          </a:ln>
        </p:spPr>
      </p:sp>
      <p:sp>
        <p:nvSpPr>
          <p:cNvPr id="121" name="shape 121"/>
          <p:cNvSpPr/>
          <p:nvPr/>
        </p:nvSpPr>
        <p:spPr>
          <a:xfrm>
            <a:off x="3712463" y="3182111"/>
            <a:ext cx="164592" cy="146304"/>
          </a:xfrm>
          <a:prstGeom prst="rect">
            <a:avLst/>
          </a:prstGeom>
          <a:solidFill>
            <a:srgbClr val="3B4B5C"/>
          </a:solidFill>
          <a:ln>
            <a:noFill/>
          </a:ln>
        </p:spPr>
      </p:sp>
      <p:sp>
        <p:nvSpPr>
          <p:cNvPr id="122" name="shape 122"/>
          <p:cNvSpPr/>
          <p:nvPr/>
        </p:nvSpPr>
        <p:spPr>
          <a:xfrm>
            <a:off x="3712463" y="3401568"/>
            <a:ext cx="164592" cy="146304"/>
          </a:xfrm>
          <a:prstGeom prst="rect">
            <a:avLst/>
          </a:prstGeom>
          <a:solidFill>
            <a:srgbClr val="1E5AA8"/>
          </a:solidFill>
          <a:ln>
            <a:noFill/>
          </a:ln>
        </p:spPr>
      </p:sp>
      <p:sp>
        <p:nvSpPr>
          <p:cNvPr id="123" name="shape 123"/>
          <p:cNvSpPr/>
          <p:nvPr/>
        </p:nvSpPr>
        <p:spPr>
          <a:xfrm>
            <a:off x="3712463" y="3621024"/>
            <a:ext cx="164592" cy="146304"/>
          </a:xfrm>
          <a:prstGeom prst="rect">
            <a:avLst/>
          </a:prstGeom>
          <a:solidFill>
            <a:srgbClr val="0097A7"/>
          </a:solidFill>
          <a:ln>
            <a:noFill/>
          </a:ln>
        </p:spPr>
      </p:sp>
      <p:sp>
        <p:nvSpPr>
          <p:cNvPr id="124" name="shape 124"/>
          <p:cNvSpPr/>
          <p:nvPr/>
        </p:nvSpPr>
        <p:spPr>
          <a:xfrm>
            <a:off x="3712463" y="3840479"/>
            <a:ext cx="164592" cy="146304"/>
          </a:xfrm>
          <a:prstGeom prst="rect">
            <a:avLst/>
          </a:prstGeom>
          <a:solidFill>
            <a:srgbClr val="2E7D32"/>
          </a:solidFill>
          <a:ln>
            <a:noFill/>
          </a:ln>
        </p:spPr>
      </p:sp>
      <p:sp>
        <p:nvSpPr>
          <p:cNvPr id="125" name="shape 125"/>
          <p:cNvSpPr/>
          <p:nvPr/>
        </p:nvSpPr>
        <p:spPr>
          <a:xfrm>
            <a:off x="3931920" y="2084831"/>
            <a:ext cx="164592" cy="146304"/>
          </a:xfrm>
          <a:prstGeom prst="rect">
            <a:avLst/>
          </a:prstGeom>
          <a:solidFill>
            <a:srgbClr val="0097A7"/>
          </a:solidFill>
          <a:ln>
            <a:noFill/>
          </a:ln>
        </p:spPr>
      </p:sp>
      <p:sp>
        <p:nvSpPr>
          <p:cNvPr id="126" name="shape 126"/>
          <p:cNvSpPr/>
          <p:nvPr/>
        </p:nvSpPr>
        <p:spPr>
          <a:xfrm>
            <a:off x="3931920" y="2304287"/>
            <a:ext cx="164592" cy="146304"/>
          </a:xfrm>
          <a:prstGeom prst="rect">
            <a:avLst/>
          </a:prstGeom>
          <a:solidFill>
            <a:srgbClr val="2E7D32"/>
          </a:solidFill>
          <a:ln>
            <a:noFill/>
          </a:ln>
        </p:spPr>
      </p:sp>
      <p:sp>
        <p:nvSpPr>
          <p:cNvPr id="127" name="shape 127"/>
          <p:cNvSpPr/>
          <p:nvPr/>
        </p:nvSpPr>
        <p:spPr>
          <a:xfrm>
            <a:off x="3931920" y="2523744"/>
            <a:ext cx="164592" cy="146304"/>
          </a:xfrm>
          <a:prstGeom prst="rect">
            <a:avLst/>
          </a:prstGeom>
          <a:solidFill>
            <a:srgbClr val="B26A00"/>
          </a:solidFill>
          <a:ln>
            <a:noFill/>
          </a:ln>
        </p:spPr>
      </p:sp>
      <p:sp>
        <p:nvSpPr>
          <p:cNvPr id="128" name="shape 128"/>
          <p:cNvSpPr/>
          <p:nvPr/>
        </p:nvSpPr>
        <p:spPr>
          <a:xfrm>
            <a:off x="3931920" y="2743200"/>
            <a:ext cx="164592" cy="146304"/>
          </a:xfrm>
          <a:prstGeom prst="rect">
            <a:avLst/>
          </a:prstGeom>
          <a:solidFill>
            <a:srgbClr val="3B4B5C"/>
          </a:solidFill>
          <a:ln>
            <a:noFill/>
          </a:ln>
        </p:spPr>
      </p:sp>
      <p:sp>
        <p:nvSpPr>
          <p:cNvPr id="129" name="shape 129"/>
          <p:cNvSpPr/>
          <p:nvPr/>
        </p:nvSpPr>
        <p:spPr>
          <a:xfrm>
            <a:off x="3931920" y="2962656"/>
            <a:ext cx="164592" cy="146304"/>
          </a:xfrm>
          <a:prstGeom prst="rect">
            <a:avLst/>
          </a:prstGeom>
          <a:solidFill>
            <a:srgbClr val="1E5AA8"/>
          </a:solidFill>
          <a:ln>
            <a:noFill/>
          </a:ln>
        </p:spPr>
      </p:sp>
      <p:sp>
        <p:nvSpPr>
          <p:cNvPr id="130" name="shape 130"/>
          <p:cNvSpPr/>
          <p:nvPr/>
        </p:nvSpPr>
        <p:spPr>
          <a:xfrm>
            <a:off x="3931920" y="3182111"/>
            <a:ext cx="164592" cy="146304"/>
          </a:xfrm>
          <a:prstGeom prst="rect">
            <a:avLst/>
          </a:prstGeom>
          <a:solidFill>
            <a:srgbClr val="0097A7"/>
          </a:solidFill>
          <a:ln>
            <a:noFill/>
          </a:ln>
        </p:spPr>
      </p:sp>
      <p:sp>
        <p:nvSpPr>
          <p:cNvPr id="131" name="shape 131"/>
          <p:cNvSpPr/>
          <p:nvPr/>
        </p:nvSpPr>
        <p:spPr>
          <a:xfrm>
            <a:off x="3931920" y="3401568"/>
            <a:ext cx="164592" cy="146304"/>
          </a:xfrm>
          <a:prstGeom prst="rect">
            <a:avLst/>
          </a:prstGeom>
          <a:solidFill>
            <a:srgbClr val="2E7D32"/>
          </a:solidFill>
          <a:ln>
            <a:noFill/>
          </a:ln>
        </p:spPr>
      </p:sp>
      <p:sp>
        <p:nvSpPr>
          <p:cNvPr id="132" name="shape 132"/>
          <p:cNvSpPr/>
          <p:nvPr/>
        </p:nvSpPr>
        <p:spPr>
          <a:xfrm>
            <a:off x="3931920" y="3621024"/>
            <a:ext cx="164592" cy="146304"/>
          </a:xfrm>
          <a:prstGeom prst="rect">
            <a:avLst/>
          </a:prstGeom>
          <a:solidFill>
            <a:srgbClr val="B26A00"/>
          </a:solidFill>
          <a:ln>
            <a:noFill/>
          </a:ln>
        </p:spPr>
      </p:sp>
      <p:sp>
        <p:nvSpPr>
          <p:cNvPr id="133" name="shape 133"/>
          <p:cNvSpPr/>
          <p:nvPr/>
        </p:nvSpPr>
        <p:spPr>
          <a:xfrm>
            <a:off x="3931920" y="3840479"/>
            <a:ext cx="164592" cy="146304"/>
          </a:xfrm>
          <a:prstGeom prst="rect">
            <a:avLst/>
          </a:prstGeom>
          <a:solidFill>
            <a:srgbClr val="3B4B5C"/>
          </a:solidFill>
          <a:ln>
            <a:noFill/>
          </a:ln>
        </p:spPr>
      </p:sp>
      <p:sp>
        <p:nvSpPr>
          <p:cNvPr id="134" name="shape 134"/>
          <p:cNvSpPr/>
          <p:nvPr/>
        </p:nvSpPr>
        <p:spPr>
          <a:xfrm>
            <a:off x="4151376" y="2084831"/>
            <a:ext cx="164592" cy="146304"/>
          </a:xfrm>
          <a:prstGeom prst="rect">
            <a:avLst/>
          </a:prstGeom>
          <a:solidFill>
            <a:srgbClr val="B26A00"/>
          </a:solidFill>
          <a:ln>
            <a:noFill/>
          </a:ln>
        </p:spPr>
      </p:sp>
      <p:sp>
        <p:nvSpPr>
          <p:cNvPr id="135" name="shape 135"/>
          <p:cNvSpPr/>
          <p:nvPr/>
        </p:nvSpPr>
        <p:spPr>
          <a:xfrm>
            <a:off x="4151376" y="2304287"/>
            <a:ext cx="164592" cy="146304"/>
          </a:xfrm>
          <a:prstGeom prst="rect">
            <a:avLst/>
          </a:prstGeom>
          <a:solidFill>
            <a:srgbClr val="3B4B5C"/>
          </a:solidFill>
          <a:ln>
            <a:noFill/>
          </a:ln>
        </p:spPr>
      </p:sp>
      <p:sp>
        <p:nvSpPr>
          <p:cNvPr id="136" name="shape 136"/>
          <p:cNvSpPr/>
          <p:nvPr/>
        </p:nvSpPr>
        <p:spPr>
          <a:xfrm>
            <a:off x="4151376" y="2523744"/>
            <a:ext cx="164592" cy="146304"/>
          </a:xfrm>
          <a:prstGeom prst="rect">
            <a:avLst/>
          </a:prstGeom>
          <a:solidFill>
            <a:srgbClr val="1E5AA8"/>
          </a:solidFill>
          <a:ln>
            <a:noFill/>
          </a:ln>
        </p:spPr>
      </p:sp>
      <p:sp>
        <p:nvSpPr>
          <p:cNvPr id="137" name="shape 137"/>
          <p:cNvSpPr/>
          <p:nvPr/>
        </p:nvSpPr>
        <p:spPr>
          <a:xfrm>
            <a:off x="4151376" y="2743200"/>
            <a:ext cx="164592" cy="146304"/>
          </a:xfrm>
          <a:prstGeom prst="rect">
            <a:avLst/>
          </a:prstGeom>
          <a:solidFill>
            <a:srgbClr val="0097A7"/>
          </a:solidFill>
          <a:ln>
            <a:noFill/>
          </a:ln>
        </p:spPr>
      </p:sp>
      <p:sp>
        <p:nvSpPr>
          <p:cNvPr id="138" name="shape 138"/>
          <p:cNvSpPr/>
          <p:nvPr/>
        </p:nvSpPr>
        <p:spPr>
          <a:xfrm>
            <a:off x="4151376" y="2962656"/>
            <a:ext cx="164592" cy="146304"/>
          </a:xfrm>
          <a:prstGeom prst="rect">
            <a:avLst/>
          </a:prstGeom>
          <a:solidFill>
            <a:srgbClr val="2E7D32"/>
          </a:solidFill>
          <a:ln>
            <a:noFill/>
          </a:ln>
        </p:spPr>
      </p:sp>
      <p:sp>
        <p:nvSpPr>
          <p:cNvPr id="139" name="shape 139"/>
          <p:cNvSpPr/>
          <p:nvPr/>
        </p:nvSpPr>
        <p:spPr>
          <a:xfrm>
            <a:off x="4151376" y="3182111"/>
            <a:ext cx="164592" cy="146304"/>
          </a:xfrm>
          <a:prstGeom prst="rect">
            <a:avLst/>
          </a:prstGeom>
          <a:solidFill>
            <a:srgbClr val="B26A00"/>
          </a:solidFill>
          <a:ln>
            <a:noFill/>
          </a:ln>
        </p:spPr>
      </p:sp>
      <p:sp>
        <p:nvSpPr>
          <p:cNvPr id="140" name="shape 140"/>
          <p:cNvSpPr/>
          <p:nvPr/>
        </p:nvSpPr>
        <p:spPr>
          <a:xfrm>
            <a:off x="4151376" y="3401568"/>
            <a:ext cx="164592" cy="146304"/>
          </a:xfrm>
          <a:prstGeom prst="rect">
            <a:avLst/>
          </a:prstGeom>
          <a:solidFill>
            <a:srgbClr val="3B4B5C"/>
          </a:solidFill>
          <a:ln>
            <a:noFill/>
          </a:ln>
        </p:spPr>
      </p:sp>
      <p:sp>
        <p:nvSpPr>
          <p:cNvPr id="141" name="shape 141"/>
          <p:cNvSpPr/>
          <p:nvPr/>
        </p:nvSpPr>
        <p:spPr>
          <a:xfrm>
            <a:off x="4151376" y="3621024"/>
            <a:ext cx="164592" cy="146304"/>
          </a:xfrm>
          <a:prstGeom prst="rect">
            <a:avLst/>
          </a:prstGeom>
          <a:solidFill>
            <a:srgbClr val="1E5AA8"/>
          </a:solidFill>
          <a:ln>
            <a:noFill/>
          </a:ln>
        </p:spPr>
      </p:sp>
      <p:sp>
        <p:nvSpPr>
          <p:cNvPr id="142" name="shape 142"/>
          <p:cNvSpPr/>
          <p:nvPr/>
        </p:nvSpPr>
        <p:spPr>
          <a:xfrm>
            <a:off x="4151376" y="3840479"/>
            <a:ext cx="164592" cy="146304"/>
          </a:xfrm>
          <a:prstGeom prst="rect">
            <a:avLst/>
          </a:prstGeom>
          <a:solidFill>
            <a:srgbClr val="0097A7"/>
          </a:solidFill>
          <a:ln>
            <a:noFill/>
          </a:ln>
        </p:spPr>
      </p:sp>
      <p:sp>
        <p:nvSpPr>
          <p:cNvPr id="143" name="shape 143"/>
          <p:cNvSpPr/>
          <p:nvPr/>
        </p:nvSpPr>
        <p:spPr>
          <a:xfrm>
            <a:off x="4370831" y="2084831"/>
            <a:ext cx="164592" cy="146304"/>
          </a:xfrm>
          <a:prstGeom prst="rect">
            <a:avLst/>
          </a:prstGeom>
          <a:solidFill>
            <a:srgbClr val="1E5AA8"/>
          </a:solidFill>
          <a:ln>
            <a:noFill/>
          </a:ln>
        </p:spPr>
      </p:sp>
      <p:sp>
        <p:nvSpPr>
          <p:cNvPr id="144" name="shape 144"/>
          <p:cNvSpPr/>
          <p:nvPr/>
        </p:nvSpPr>
        <p:spPr>
          <a:xfrm>
            <a:off x="4370831" y="2304287"/>
            <a:ext cx="164592" cy="146304"/>
          </a:xfrm>
          <a:prstGeom prst="rect">
            <a:avLst/>
          </a:prstGeom>
          <a:solidFill>
            <a:srgbClr val="0097A7"/>
          </a:solidFill>
          <a:ln>
            <a:noFill/>
          </a:ln>
        </p:spPr>
      </p:sp>
      <p:sp>
        <p:nvSpPr>
          <p:cNvPr id="145" name="shape 145"/>
          <p:cNvSpPr/>
          <p:nvPr/>
        </p:nvSpPr>
        <p:spPr>
          <a:xfrm>
            <a:off x="4370831" y="2523744"/>
            <a:ext cx="164592" cy="146304"/>
          </a:xfrm>
          <a:prstGeom prst="rect">
            <a:avLst/>
          </a:prstGeom>
          <a:solidFill>
            <a:srgbClr val="2E7D32"/>
          </a:solidFill>
          <a:ln>
            <a:noFill/>
          </a:ln>
        </p:spPr>
      </p:sp>
      <p:sp>
        <p:nvSpPr>
          <p:cNvPr id="146" name="shape 146"/>
          <p:cNvSpPr/>
          <p:nvPr/>
        </p:nvSpPr>
        <p:spPr>
          <a:xfrm>
            <a:off x="4370831" y="2743200"/>
            <a:ext cx="164592" cy="146304"/>
          </a:xfrm>
          <a:prstGeom prst="rect">
            <a:avLst/>
          </a:prstGeom>
          <a:solidFill>
            <a:srgbClr val="B26A00"/>
          </a:solidFill>
          <a:ln>
            <a:noFill/>
          </a:ln>
        </p:spPr>
      </p:sp>
      <p:sp>
        <p:nvSpPr>
          <p:cNvPr id="147" name="shape 147"/>
          <p:cNvSpPr/>
          <p:nvPr/>
        </p:nvSpPr>
        <p:spPr>
          <a:xfrm>
            <a:off x="4370831" y="2962656"/>
            <a:ext cx="164592" cy="146304"/>
          </a:xfrm>
          <a:prstGeom prst="rect">
            <a:avLst/>
          </a:prstGeom>
          <a:solidFill>
            <a:srgbClr val="3B4B5C"/>
          </a:solidFill>
          <a:ln>
            <a:noFill/>
          </a:ln>
        </p:spPr>
      </p:sp>
      <p:sp>
        <p:nvSpPr>
          <p:cNvPr id="148" name="shape 148"/>
          <p:cNvSpPr/>
          <p:nvPr/>
        </p:nvSpPr>
        <p:spPr>
          <a:xfrm>
            <a:off x="4370831" y="3182111"/>
            <a:ext cx="164592" cy="146304"/>
          </a:xfrm>
          <a:prstGeom prst="rect">
            <a:avLst/>
          </a:prstGeom>
          <a:solidFill>
            <a:srgbClr val="1E5AA8"/>
          </a:solidFill>
          <a:ln>
            <a:noFill/>
          </a:ln>
        </p:spPr>
      </p:sp>
      <p:sp>
        <p:nvSpPr>
          <p:cNvPr id="149" name="shape 149"/>
          <p:cNvSpPr/>
          <p:nvPr/>
        </p:nvSpPr>
        <p:spPr>
          <a:xfrm>
            <a:off x="4370831" y="3401568"/>
            <a:ext cx="164592" cy="146304"/>
          </a:xfrm>
          <a:prstGeom prst="rect">
            <a:avLst/>
          </a:prstGeom>
          <a:solidFill>
            <a:srgbClr val="0097A7"/>
          </a:solidFill>
          <a:ln>
            <a:noFill/>
          </a:ln>
        </p:spPr>
      </p:sp>
      <p:sp>
        <p:nvSpPr>
          <p:cNvPr id="150" name="shape 150"/>
          <p:cNvSpPr/>
          <p:nvPr/>
        </p:nvSpPr>
        <p:spPr>
          <a:xfrm>
            <a:off x="4370831" y="3621024"/>
            <a:ext cx="164592" cy="146304"/>
          </a:xfrm>
          <a:prstGeom prst="rect">
            <a:avLst/>
          </a:prstGeom>
          <a:solidFill>
            <a:srgbClr val="2E7D32"/>
          </a:solidFill>
          <a:ln>
            <a:noFill/>
          </a:ln>
        </p:spPr>
      </p:sp>
      <p:sp>
        <p:nvSpPr>
          <p:cNvPr id="151" name="shape 151"/>
          <p:cNvSpPr/>
          <p:nvPr/>
        </p:nvSpPr>
        <p:spPr>
          <a:xfrm>
            <a:off x="4370831" y="3840479"/>
            <a:ext cx="164592" cy="146304"/>
          </a:xfrm>
          <a:prstGeom prst="rect">
            <a:avLst/>
          </a:prstGeom>
          <a:solidFill>
            <a:srgbClr val="B26A00"/>
          </a:solidFill>
          <a:ln>
            <a:noFill/>
          </a:ln>
        </p:spPr>
      </p:sp>
      <p:sp>
        <p:nvSpPr>
          <p:cNvPr id="152" name="shape 152"/>
          <p:cNvSpPr/>
          <p:nvPr/>
        </p:nvSpPr>
        <p:spPr>
          <a:xfrm>
            <a:off x="4590288" y="2084831"/>
            <a:ext cx="164592" cy="146304"/>
          </a:xfrm>
          <a:prstGeom prst="rect">
            <a:avLst/>
          </a:prstGeom>
          <a:solidFill>
            <a:srgbClr val="2E7D32"/>
          </a:solidFill>
          <a:ln>
            <a:noFill/>
          </a:ln>
        </p:spPr>
      </p:sp>
      <p:sp>
        <p:nvSpPr>
          <p:cNvPr id="153" name="shape 153"/>
          <p:cNvSpPr/>
          <p:nvPr/>
        </p:nvSpPr>
        <p:spPr>
          <a:xfrm>
            <a:off x="4590288" y="2304287"/>
            <a:ext cx="164592" cy="146304"/>
          </a:xfrm>
          <a:prstGeom prst="rect">
            <a:avLst/>
          </a:prstGeom>
          <a:solidFill>
            <a:srgbClr val="B26A00"/>
          </a:solidFill>
          <a:ln>
            <a:noFill/>
          </a:ln>
        </p:spPr>
      </p:sp>
      <p:sp>
        <p:nvSpPr>
          <p:cNvPr id="154" name="shape 154"/>
          <p:cNvSpPr/>
          <p:nvPr/>
        </p:nvSpPr>
        <p:spPr>
          <a:xfrm>
            <a:off x="4590288" y="2523744"/>
            <a:ext cx="164592" cy="146304"/>
          </a:xfrm>
          <a:prstGeom prst="rect">
            <a:avLst/>
          </a:prstGeom>
          <a:solidFill>
            <a:srgbClr val="3B4B5C"/>
          </a:solidFill>
          <a:ln>
            <a:noFill/>
          </a:ln>
        </p:spPr>
      </p:sp>
      <p:sp>
        <p:nvSpPr>
          <p:cNvPr id="155" name="shape 155"/>
          <p:cNvSpPr/>
          <p:nvPr/>
        </p:nvSpPr>
        <p:spPr>
          <a:xfrm>
            <a:off x="4590288" y="2743200"/>
            <a:ext cx="164592" cy="146304"/>
          </a:xfrm>
          <a:prstGeom prst="rect">
            <a:avLst/>
          </a:prstGeom>
          <a:solidFill>
            <a:srgbClr val="1E5AA8"/>
          </a:solidFill>
          <a:ln>
            <a:noFill/>
          </a:ln>
        </p:spPr>
      </p:sp>
      <p:sp>
        <p:nvSpPr>
          <p:cNvPr id="156" name="shape 156"/>
          <p:cNvSpPr/>
          <p:nvPr/>
        </p:nvSpPr>
        <p:spPr>
          <a:xfrm>
            <a:off x="4590288" y="2962656"/>
            <a:ext cx="164592" cy="146304"/>
          </a:xfrm>
          <a:prstGeom prst="rect">
            <a:avLst/>
          </a:prstGeom>
          <a:solidFill>
            <a:srgbClr val="0097A7"/>
          </a:solidFill>
          <a:ln>
            <a:noFill/>
          </a:ln>
        </p:spPr>
      </p:sp>
      <p:sp>
        <p:nvSpPr>
          <p:cNvPr id="157" name="shape 157"/>
          <p:cNvSpPr/>
          <p:nvPr/>
        </p:nvSpPr>
        <p:spPr>
          <a:xfrm>
            <a:off x="4590288" y="3182111"/>
            <a:ext cx="164592" cy="146304"/>
          </a:xfrm>
          <a:prstGeom prst="rect">
            <a:avLst/>
          </a:prstGeom>
          <a:solidFill>
            <a:srgbClr val="2E7D32"/>
          </a:solidFill>
          <a:ln>
            <a:noFill/>
          </a:ln>
        </p:spPr>
      </p:sp>
      <p:sp>
        <p:nvSpPr>
          <p:cNvPr id="158" name="shape 158"/>
          <p:cNvSpPr/>
          <p:nvPr/>
        </p:nvSpPr>
        <p:spPr>
          <a:xfrm>
            <a:off x="4590288" y="3401568"/>
            <a:ext cx="164592" cy="146304"/>
          </a:xfrm>
          <a:prstGeom prst="rect">
            <a:avLst/>
          </a:prstGeom>
          <a:solidFill>
            <a:srgbClr val="B26A00"/>
          </a:solidFill>
          <a:ln>
            <a:noFill/>
          </a:ln>
        </p:spPr>
      </p:sp>
      <p:sp>
        <p:nvSpPr>
          <p:cNvPr id="159" name="shape 159"/>
          <p:cNvSpPr/>
          <p:nvPr/>
        </p:nvSpPr>
        <p:spPr>
          <a:xfrm>
            <a:off x="4590288" y="3621024"/>
            <a:ext cx="164592" cy="146304"/>
          </a:xfrm>
          <a:prstGeom prst="rect">
            <a:avLst/>
          </a:prstGeom>
          <a:solidFill>
            <a:srgbClr val="3B4B5C"/>
          </a:solidFill>
          <a:ln>
            <a:noFill/>
          </a:ln>
        </p:spPr>
      </p:sp>
      <p:sp>
        <p:nvSpPr>
          <p:cNvPr id="160" name="shape 160"/>
          <p:cNvSpPr/>
          <p:nvPr/>
        </p:nvSpPr>
        <p:spPr>
          <a:xfrm>
            <a:off x="4590288" y="3840479"/>
            <a:ext cx="164592" cy="146304"/>
          </a:xfrm>
          <a:prstGeom prst="rect">
            <a:avLst/>
          </a:prstGeom>
          <a:solidFill>
            <a:srgbClr val="1E5AA8"/>
          </a:solidFill>
          <a:ln>
            <a:noFill/>
          </a:ln>
        </p:spPr>
      </p:sp>
      <p:sp>
        <p:nvSpPr>
          <p:cNvPr id="161" name="shape 161"/>
          <p:cNvSpPr/>
          <p:nvPr/>
        </p:nvSpPr>
        <p:spPr>
          <a:xfrm>
            <a:off x="4809744" y="2084831"/>
            <a:ext cx="164592" cy="146304"/>
          </a:xfrm>
          <a:prstGeom prst="rect">
            <a:avLst/>
          </a:prstGeom>
          <a:solidFill>
            <a:srgbClr val="3B4B5C"/>
          </a:solidFill>
          <a:ln>
            <a:noFill/>
          </a:ln>
        </p:spPr>
      </p:sp>
      <p:sp>
        <p:nvSpPr>
          <p:cNvPr id="162" name="shape 162"/>
          <p:cNvSpPr/>
          <p:nvPr/>
        </p:nvSpPr>
        <p:spPr>
          <a:xfrm>
            <a:off x="4809744" y="2304287"/>
            <a:ext cx="164592" cy="146304"/>
          </a:xfrm>
          <a:prstGeom prst="rect">
            <a:avLst/>
          </a:prstGeom>
          <a:solidFill>
            <a:srgbClr val="1E5AA8"/>
          </a:solidFill>
          <a:ln>
            <a:noFill/>
          </a:ln>
        </p:spPr>
      </p:sp>
      <p:sp>
        <p:nvSpPr>
          <p:cNvPr id="163" name="shape 163"/>
          <p:cNvSpPr/>
          <p:nvPr/>
        </p:nvSpPr>
        <p:spPr>
          <a:xfrm>
            <a:off x="4809744" y="2523744"/>
            <a:ext cx="164592" cy="146304"/>
          </a:xfrm>
          <a:prstGeom prst="rect">
            <a:avLst/>
          </a:prstGeom>
          <a:solidFill>
            <a:srgbClr val="0097A7"/>
          </a:solidFill>
          <a:ln>
            <a:noFill/>
          </a:ln>
        </p:spPr>
      </p:sp>
      <p:sp>
        <p:nvSpPr>
          <p:cNvPr id="164" name="shape 164"/>
          <p:cNvSpPr/>
          <p:nvPr/>
        </p:nvSpPr>
        <p:spPr>
          <a:xfrm>
            <a:off x="4809744" y="2743200"/>
            <a:ext cx="164592" cy="146304"/>
          </a:xfrm>
          <a:prstGeom prst="rect">
            <a:avLst/>
          </a:prstGeom>
          <a:solidFill>
            <a:srgbClr val="2E7D32"/>
          </a:solidFill>
          <a:ln>
            <a:noFill/>
          </a:ln>
        </p:spPr>
      </p:sp>
      <p:sp>
        <p:nvSpPr>
          <p:cNvPr id="165" name="shape 165"/>
          <p:cNvSpPr/>
          <p:nvPr/>
        </p:nvSpPr>
        <p:spPr>
          <a:xfrm>
            <a:off x="4809744" y="2962656"/>
            <a:ext cx="164592" cy="146304"/>
          </a:xfrm>
          <a:prstGeom prst="rect">
            <a:avLst/>
          </a:prstGeom>
          <a:solidFill>
            <a:srgbClr val="B26A00"/>
          </a:solidFill>
          <a:ln>
            <a:noFill/>
          </a:ln>
        </p:spPr>
      </p:sp>
      <p:sp>
        <p:nvSpPr>
          <p:cNvPr id="166" name="shape 166"/>
          <p:cNvSpPr/>
          <p:nvPr/>
        </p:nvSpPr>
        <p:spPr>
          <a:xfrm>
            <a:off x="4809744" y="3182111"/>
            <a:ext cx="164592" cy="146304"/>
          </a:xfrm>
          <a:prstGeom prst="rect">
            <a:avLst/>
          </a:prstGeom>
          <a:solidFill>
            <a:srgbClr val="3B4B5C"/>
          </a:solidFill>
          <a:ln>
            <a:noFill/>
          </a:ln>
        </p:spPr>
      </p:sp>
      <p:sp>
        <p:nvSpPr>
          <p:cNvPr id="167" name="shape 167"/>
          <p:cNvSpPr/>
          <p:nvPr/>
        </p:nvSpPr>
        <p:spPr>
          <a:xfrm>
            <a:off x="4809744" y="3401568"/>
            <a:ext cx="164592" cy="146304"/>
          </a:xfrm>
          <a:prstGeom prst="rect">
            <a:avLst/>
          </a:prstGeom>
          <a:solidFill>
            <a:srgbClr val="1E5AA8"/>
          </a:solidFill>
          <a:ln>
            <a:noFill/>
          </a:ln>
        </p:spPr>
      </p:sp>
      <p:sp>
        <p:nvSpPr>
          <p:cNvPr id="168" name="shape 168"/>
          <p:cNvSpPr/>
          <p:nvPr/>
        </p:nvSpPr>
        <p:spPr>
          <a:xfrm>
            <a:off x="4809744" y="3621024"/>
            <a:ext cx="164592" cy="146304"/>
          </a:xfrm>
          <a:prstGeom prst="rect">
            <a:avLst/>
          </a:prstGeom>
          <a:solidFill>
            <a:srgbClr val="0097A7"/>
          </a:solidFill>
          <a:ln>
            <a:noFill/>
          </a:ln>
        </p:spPr>
      </p:sp>
      <p:sp>
        <p:nvSpPr>
          <p:cNvPr id="169" name="shape 169"/>
          <p:cNvSpPr/>
          <p:nvPr/>
        </p:nvSpPr>
        <p:spPr>
          <a:xfrm>
            <a:off x="4809744" y="3840479"/>
            <a:ext cx="164592" cy="146304"/>
          </a:xfrm>
          <a:prstGeom prst="rect">
            <a:avLst/>
          </a:prstGeom>
          <a:solidFill>
            <a:srgbClr val="2E7D32"/>
          </a:solidFill>
          <a:ln>
            <a:noFill/>
          </a:ln>
        </p:spPr>
      </p:sp>
      <p:sp>
        <p:nvSpPr>
          <p:cNvPr id="170" name="text 170"/>
          <p:cNvSpPr txBox="1"/>
          <p:nvPr/>
        </p:nvSpPr>
        <p:spPr>
          <a:xfrm>
            <a:off x="1737360" y="4800600"/>
            <a:ext cx="2560320" cy="201168"/>
          </a:xfrm>
          <a:prstGeom prst="roundRect">
            <a:avLst/>
          </a:prstGeom>
          <a:solidFill>
            <a:srgbClr val="22384A"/>
          </a:solidFill>
          <a:ln>
            <a:noFill/>
          </a:ln>
        </p:spPr>
        <p:txBody>
          <a:bodyPr wrap="square" anchor="t" lIns="73152" tIns="51206" rIns="73152" bIns="51206"/>
          <a:lstStyle/>
          <a:p>
            <a:pPr algn="ctr"/>
            <a:r>
              <a:rPr lang="en-US" sz="900" dirty="0" b="1">
                <a:solidFill>
                  <a:srgbClr val="FFFFFF"/>
                </a:solidFill>
              </a:rPr>
              <a:t>camera-observed display</a:t>
            </a:r>
          </a:p>
        </p:txBody>
      </p:sp>
      <p:sp>
        <p:nvSpPr>
          <p:cNvPr id="171" name="shape 171"/>
          <p:cNvSpPr/>
          <p:nvPr/>
        </p:nvSpPr>
        <p:spPr>
          <a:xfrm>
            <a:off x="5897880" y="2148840"/>
            <a:ext cx="1170432" cy="9144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E5AA8"/>
            </a:solidFill>
          </a:ln>
        </p:spPr>
      </p:sp>
      <p:sp>
        <p:nvSpPr>
          <p:cNvPr id="172" name="text 172"/>
          <p:cNvSpPr txBox="1"/>
          <p:nvPr/>
        </p:nvSpPr>
        <p:spPr>
          <a:xfrm>
            <a:off x="5971032" y="2331720"/>
            <a:ext cx="1024128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819" dirty="0" b="1">
                <a:solidFill>
                  <a:srgbClr val="102033"/>
                </a:solidFill>
              </a:rPr>
              <a:t>Frame capture</a:t>
            </a:r>
          </a:p>
        </p:txBody>
      </p:sp>
      <p:sp>
        <p:nvSpPr>
          <p:cNvPr id="173" name="text 173"/>
          <p:cNvSpPr txBox="1"/>
          <p:nvPr/>
        </p:nvSpPr>
        <p:spPr>
          <a:xfrm>
            <a:off x="5989320" y="2578608"/>
            <a:ext cx="987552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650" dirty="0">
                <a:solidFill>
                  <a:srgbClr val="52667A"/>
                </a:solidFill>
              </a:rPr>
              <a:t>image timestamp</a:t>
            </a:r>
          </a:p>
        </p:txBody>
      </p:sp>
      <p:sp>
        <p:nvSpPr>
          <p:cNvPr id="174" name="line 174"/>
          <p:cNvSpPr/>
          <p:nvPr/>
        </p:nvSpPr>
        <p:spPr>
          <a:xfrm flipH="0" flipV="0">
            <a:off x="7068312" y="2606040"/>
            <a:ext cx="246887" cy="1"/>
          </a:xfrm>
          <a:prstGeom prst="line">
            <a:avLst/>
          </a:prstGeom>
          <a:ln w="19050">
            <a:solidFill>
              <a:srgbClr val="1E5AA8"/>
            </a:solidFill>
            <a:headEnd type="triangle"/>
          </a:ln>
        </p:spPr>
      </p:sp>
      <p:sp>
        <p:nvSpPr>
          <p:cNvPr id="175" name="shape 175"/>
          <p:cNvSpPr/>
          <p:nvPr/>
        </p:nvSpPr>
        <p:spPr>
          <a:xfrm>
            <a:off x="7315200" y="2148840"/>
            <a:ext cx="1170432" cy="9144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E5AA8"/>
            </a:solidFill>
          </a:ln>
        </p:spPr>
      </p:sp>
      <p:sp>
        <p:nvSpPr>
          <p:cNvPr id="176" name="text 176"/>
          <p:cNvSpPr txBox="1"/>
          <p:nvPr/>
        </p:nvSpPr>
        <p:spPr>
          <a:xfrm>
            <a:off x="7388352" y="2331720"/>
            <a:ext cx="1024128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819" dirty="0" b="1">
                <a:solidFill>
                  <a:srgbClr val="102033"/>
                </a:solidFill>
              </a:rPr>
              <a:t>Registration</a:t>
            </a:r>
          </a:p>
        </p:txBody>
      </p:sp>
      <p:sp>
        <p:nvSpPr>
          <p:cNvPr id="177" name="text 177"/>
          <p:cNvSpPr txBox="1"/>
          <p:nvPr/>
        </p:nvSpPr>
        <p:spPr>
          <a:xfrm>
            <a:off x="7406640" y="2578608"/>
            <a:ext cx="987552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650" dirty="0">
                <a:solidFill>
                  <a:srgbClr val="52667A"/>
                </a:solidFill>
              </a:rPr>
              <a:t>align to reference</a:t>
            </a:r>
          </a:p>
        </p:txBody>
      </p:sp>
      <p:sp>
        <p:nvSpPr>
          <p:cNvPr id="178" name="line 178"/>
          <p:cNvSpPr/>
          <p:nvPr/>
        </p:nvSpPr>
        <p:spPr>
          <a:xfrm flipH="0" flipV="0">
            <a:off x="8485632" y="2606040"/>
            <a:ext cx="246888" cy="1"/>
          </a:xfrm>
          <a:prstGeom prst="line">
            <a:avLst/>
          </a:prstGeom>
          <a:ln w="19050">
            <a:solidFill>
              <a:srgbClr val="1E5AA8"/>
            </a:solidFill>
            <a:headEnd type="triangle"/>
          </a:ln>
        </p:spPr>
      </p:sp>
      <p:sp>
        <p:nvSpPr>
          <p:cNvPr id="179" name="shape 179"/>
          <p:cNvSpPr/>
          <p:nvPr/>
        </p:nvSpPr>
        <p:spPr>
          <a:xfrm>
            <a:off x="8732520" y="2148840"/>
            <a:ext cx="1170432" cy="9144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E5AA8"/>
            </a:solidFill>
          </a:ln>
        </p:spPr>
      </p:sp>
      <p:sp>
        <p:nvSpPr>
          <p:cNvPr id="180" name="text 180"/>
          <p:cNvSpPr txBox="1"/>
          <p:nvPr/>
        </p:nvSpPr>
        <p:spPr>
          <a:xfrm>
            <a:off x="8805672" y="2331720"/>
            <a:ext cx="1024128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819" dirty="0" b="1">
                <a:solidFill>
                  <a:srgbClr val="102033"/>
                </a:solidFill>
              </a:rPr>
              <a:t>Analysis</a:t>
            </a:r>
          </a:p>
        </p:txBody>
      </p:sp>
      <p:sp>
        <p:nvSpPr>
          <p:cNvPr id="181" name="text 181"/>
          <p:cNvSpPr txBox="1"/>
          <p:nvPr/>
        </p:nvSpPr>
        <p:spPr>
          <a:xfrm>
            <a:off x="8823960" y="2578608"/>
            <a:ext cx="987552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650" dirty="0">
                <a:solidFill>
                  <a:srgbClr val="52667A"/>
                </a:solidFill>
              </a:rPr>
              <a:t>pixel/OCR/icon/flicker</a:t>
            </a:r>
          </a:p>
        </p:txBody>
      </p:sp>
      <p:sp>
        <p:nvSpPr>
          <p:cNvPr id="182" name="line 182"/>
          <p:cNvSpPr/>
          <p:nvPr/>
        </p:nvSpPr>
        <p:spPr>
          <a:xfrm flipH="0" flipV="0">
            <a:off x="9902952" y="2606040"/>
            <a:ext cx="246888" cy="1"/>
          </a:xfrm>
          <a:prstGeom prst="line">
            <a:avLst/>
          </a:prstGeom>
          <a:ln w="19050">
            <a:solidFill>
              <a:srgbClr val="1E5AA8"/>
            </a:solidFill>
            <a:headEnd type="triangle"/>
          </a:ln>
        </p:spPr>
      </p:sp>
      <p:sp>
        <p:nvSpPr>
          <p:cNvPr id="183" name="shape 183"/>
          <p:cNvSpPr/>
          <p:nvPr/>
        </p:nvSpPr>
        <p:spPr>
          <a:xfrm>
            <a:off x="10149840" y="2148840"/>
            <a:ext cx="1170432" cy="9144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E7D32"/>
            </a:solidFill>
          </a:ln>
        </p:spPr>
      </p:sp>
      <p:sp>
        <p:nvSpPr>
          <p:cNvPr id="184" name="text 184"/>
          <p:cNvSpPr txBox="1"/>
          <p:nvPr/>
        </p:nvSpPr>
        <p:spPr>
          <a:xfrm>
            <a:off x="10222992" y="2331720"/>
            <a:ext cx="1024128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819" dirty="0" b="1">
                <a:solidFill>
                  <a:srgbClr val="102033"/>
                </a:solidFill>
              </a:rPr>
              <a:t>Decision</a:t>
            </a:r>
          </a:p>
        </p:txBody>
      </p:sp>
      <p:sp>
        <p:nvSpPr>
          <p:cNvPr id="185" name="text 185"/>
          <p:cNvSpPr txBox="1"/>
          <p:nvPr/>
        </p:nvSpPr>
        <p:spPr>
          <a:xfrm>
            <a:off x="10241280" y="2578608"/>
            <a:ext cx="987552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650" dirty="0">
                <a:solidFill>
                  <a:srgbClr val="52667A"/>
                </a:solidFill>
              </a:rPr>
              <a:t>pass/fail + evidence</a:t>
            </a:r>
          </a:p>
        </p:txBody>
      </p:sp>
      <p:sp>
        <p:nvSpPr>
          <p:cNvPr id="186" name="text 186"/>
          <p:cNvSpPr txBox="1"/>
          <p:nvPr/>
        </p:nvSpPr>
        <p:spPr>
          <a:xfrm>
            <a:off x="5577840" y="3977639"/>
            <a:ext cx="1828800" cy="347472"/>
          </a:xfrm>
          <a:prstGeom prst="rect">
            <a:avLst/>
          </a:prstGeom>
          <a:solidFill>
            <a:srgbClr val="0B1F33"/>
          </a:solidFill>
          <a:ln w="12700">
            <a:solidFill>
              <a:srgbClr val="FFFFFF"/>
            </a:solidFill>
          </a:ln>
        </p:spPr>
        <p:txBody>
          <a:bodyPr wrap="square" anchor="ctr" lIns="36576" tIns="25603" rIns="36576" bIns="25603"/>
          <a:lstStyle/>
          <a:p>
            <a:pPr algn="ctr"/>
            <a:r>
              <a:rPr lang="en-US" sz="860" dirty="0" b="1">
                <a:solidFill>
                  <a:srgbClr val="FFFFFF"/>
                </a:solidFill>
              </a:rPr>
              <a:t>Detectable issue</a:t>
            </a:r>
          </a:p>
        </p:txBody>
      </p:sp>
      <p:sp>
        <p:nvSpPr>
          <p:cNvPr id="187" name="text 187"/>
          <p:cNvSpPr txBox="1"/>
          <p:nvPr/>
        </p:nvSpPr>
        <p:spPr>
          <a:xfrm>
            <a:off x="7406640" y="3977639"/>
            <a:ext cx="1828800" cy="347472"/>
          </a:xfrm>
          <a:prstGeom prst="rect">
            <a:avLst/>
          </a:prstGeom>
          <a:solidFill>
            <a:srgbClr val="0B1F33"/>
          </a:solidFill>
          <a:ln w="12700">
            <a:solidFill>
              <a:srgbClr val="FFFFFF"/>
            </a:solidFill>
          </a:ln>
        </p:spPr>
        <p:txBody>
          <a:bodyPr wrap="square" anchor="ctr" lIns="36576" tIns="25603" rIns="36576" bIns="25603"/>
          <a:lstStyle/>
          <a:p>
            <a:pPr algn="ctr"/>
            <a:r>
              <a:rPr lang="en-US" sz="860" dirty="0" b="1">
                <a:solidFill>
                  <a:srgbClr val="FFFFFF"/>
                </a:solidFill>
              </a:rPr>
              <a:t>Example</a:t>
            </a:r>
          </a:p>
        </p:txBody>
      </p:sp>
      <p:sp>
        <p:nvSpPr>
          <p:cNvPr id="188" name="text 188"/>
          <p:cNvSpPr txBox="1"/>
          <p:nvPr/>
        </p:nvSpPr>
        <p:spPr>
          <a:xfrm>
            <a:off x="9235440" y="3977639"/>
            <a:ext cx="1828800" cy="347472"/>
          </a:xfrm>
          <a:prstGeom prst="rect">
            <a:avLst/>
          </a:prstGeom>
          <a:solidFill>
            <a:srgbClr val="0B1F33"/>
          </a:solidFill>
          <a:ln w="12700">
            <a:solidFill>
              <a:srgbClr val="FFFFFF"/>
            </a:solidFill>
          </a:ln>
        </p:spPr>
        <p:txBody>
          <a:bodyPr wrap="square" anchor="ctr" lIns="36576" tIns="25603" rIns="36576" bIns="25603"/>
          <a:lstStyle/>
          <a:p>
            <a:pPr algn="ctr"/>
            <a:r>
              <a:rPr lang="en-US" sz="860" dirty="0" b="1">
                <a:solidFill>
                  <a:srgbClr val="FFFFFF"/>
                </a:solidFill>
              </a:rPr>
              <a:t>Value</a:t>
            </a:r>
          </a:p>
        </p:txBody>
      </p:sp>
      <p:sp>
        <p:nvSpPr>
          <p:cNvPr id="189" name="text 189"/>
          <p:cNvSpPr txBox="1"/>
          <p:nvPr/>
        </p:nvSpPr>
        <p:spPr>
          <a:xfrm>
            <a:off x="5577840" y="4325112"/>
            <a:ext cx="1828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Pixel defects</a:t>
            </a:r>
          </a:p>
        </p:txBody>
      </p:sp>
      <p:sp>
        <p:nvSpPr>
          <p:cNvPr id="190" name="text 190"/>
          <p:cNvSpPr txBox="1"/>
          <p:nvPr/>
        </p:nvSpPr>
        <p:spPr>
          <a:xfrm>
            <a:off x="7406640" y="4325112"/>
            <a:ext cx="1828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dead/stuck pixels</a:t>
            </a:r>
          </a:p>
        </p:txBody>
      </p:sp>
      <p:sp>
        <p:nvSpPr>
          <p:cNvPr id="191" name="text 191"/>
          <p:cNvSpPr txBox="1"/>
          <p:nvPr/>
        </p:nvSpPr>
        <p:spPr>
          <a:xfrm>
            <a:off x="9235440" y="4325112"/>
            <a:ext cx="1828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quality control</a:t>
            </a:r>
          </a:p>
        </p:txBody>
      </p:sp>
      <p:sp>
        <p:nvSpPr>
          <p:cNvPr id="192" name="text 192"/>
          <p:cNvSpPr txBox="1"/>
          <p:nvPr/>
        </p:nvSpPr>
        <p:spPr>
          <a:xfrm>
            <a:off x="5577840" y="4672583"/>
            <a:ext cx="1828800" cy="347472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UI failure</a:t>
            </a:r>
          </a:p>
        </p:txBody>
      </p:sp>
      <p:sp>
        <p:nvSpPr>
          <p:cNvPr id="193" name="text 193"/>
          <p:cNvSpPr txBox="1"/>
          <p:nvPr/>
        </p:nvSpPr>
        <p:spPr>
          <a:xfrm>
            <a:off x="7406640" y="4672583"/>
            <a:ext cx="1828800" cy="347472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wrong icon/text</a:t>
            </a:r>
          </a:p>
        </p:txBody>
      </p:sp>
      <p:sp>
        <p:nvSpPr>
          <p:cNvPr id="194" name="text 194"/>
          <p:cNvSpPr txBox="1"/>
          <p:nvPr/>
        </p:nvSpPr>
        <p:spPr>
          <a:xfrm>
            <a:off x="9235440" y="4672583"/>
            <a:ext cx="1828800" cy="347472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functional validation</a:t>
            </a:r>
          </a:p>
        </p:txBody>
      </p:sp>
      <p:sp>
        <p:nvSpPr>
          <p:cNvPr id="195" name="text 195"/>
          <p:cNvSpPr txBox="1"/>
          <p:nvPr/>
        </p:nvSpPr>
        <p:spPr>
          <a:xfrm>
            <a:off x="5577840" y="5020056"/>
            <a:ext cx="1828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Timing delay</a:t>
            </a:r>
          </a:p>
        </p:txBody>
      </p:sp>
      <p:sp>
        <p:nvSpPr>
          <p:cNvPr id="196" name="text 196"/>
          <p:cNvSpPr txBox="1"/>
          <p:nvPr/>
        </p:nvSpPr>
        <p:spPr>
          <a:xfrm>
            <a:off x="7406640" y="5020056"/>
            <a:ext cx="1828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late screen response</a:t>
            </a:r>
          </a:p>
        </p:txBody>
      </p:sp>
      <p:sp>
        <p:nvSpPr>
          <p:cNvPr id="197" name="text 197"/>
          <p:cNvSpPr txBox="1"/>
          <p:nvPr/>
        </p:nvSpPr>
        <p:spPr>
          <a:xfrm>
            <a:off x="9235440" y="5020056"/>
            <a:ext cx="1828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performance metric</a:t>
            </a:r>
          </a:p>
        </p:txBody>
      </p:sp>
      <p:sp>
        <p:nvSpPr>
          <p:cNvPr id="198" name="text 198"/>
          <p:cNvSpPr txBox="1"/>
          <p:nvPr/>
        </p:nvSpPr>
        <p:spPr>
          <a:xfrm>
            <a:off x="5577840" y="5367527"/>
            <a:ext cx="1828800" cy="347472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Flicker/brightness</a:t>
            </a:r>
          </a:p>
        </p:txBody>
      </p:sp>
      <p:sp>
        <p:nvSpPr>
          <p:cNvPr id="199" name="text 199"/>
          <p:cNvSpPr txBox="1"/>
          <p:nvPr/>
        </p:nvSpPr>
        <p:spPr>
          <a:xfrm>
            <a:off x="7406640" y="5367527"/>
            <a:ext cx="1828800" cy="347472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unstable backlight</a:t>
            </a:r>
          </a:p>
        </p:txBody>
      </p:sp>
      <p:sp>
        <p:nvSpPr>
          <p:cNvPr id="200" name="text 200"/>
          <p:cNvSpPr txBox="1"/>
          <p:nvPr/>
        </p:nvSpPr>
        <p:spPr>
          <a:xfrm>
            <a:off x="9235440" y="5367527"/>
            <a:ext cx="1828800" cy="347472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reliability signal</a:t>
            </a:r>
          </a:p>
        </p:txBody>
      </p:sp>
      <p:sp>
        <p:nvSpPr>
          <p:cNvPr id="201" name="text 201"/>
          <p:cNvSpPr txBox="1"/>
          <p:nvPr/>
        </p:nvSpPr>
        <p:spPr>
          <a:xfrm>
            <a:off x="502920" y="6473952"/>
            <a:ext cx="56692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720" dirty="0">
                <a:solidFill>
                  <a:srgbClr val="708090"/>
                </a:solidFill>
              </a:rPr>
              <a:t>Static Robo HMI Test Jig vs. Robotic Hand  |  Research Deck</a:t>
            </a:r>
          </a:p>
        </p:txBody>
      </p:sp>
      <p:sp>
        <p:nvSpPr>
          <p:cNvPr id="202" name="text 202"/>
          <p:cNvSpPr txBox="1"/>
          <p:nvPr/>
        </p:nvSpPr>
        <p:spPr>
          <a:xfrm>
            <a:off x="11384280" y="6473952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/>
            <a:r>
              <a:rPr lang="en-US" sz="720" dirty="0">
                <a:solidFill>
                  <a:srgbClr val="708090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1F33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02920" y="310896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51206" rIns="73152" bIns="51206"/>
          <a:lstStyle/>
          <a:p>
            <a:pPr algn="l"/>
            <a:r>
              <a:rPr lang="en-US" sz="850" dirty="0" b="1">
                <a:solidFill>
                  <a:srgbClr val="1E5AA8"/>
                </a:solidFill>
              </a:rPr>
              <a:t>POWER PROFILE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502920" y="530352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2400" dirty="0" b="1">
                <a:solidFill>
                  <a:srgbClr val="102033"/>
                </a:solidFill>
              </a:rPr>
              <a:t>5. Lower power consumption supports portable and vehicle-powered operation</a:t>
            </a:r>
          </a:p>
        </p:txBody>
      </p:sp>
      <p:sp>
        <p:nvSpPr>
          <p:cNvPr id="5" name="line 5"/>
          <p:cNvSpPr/>
          <p:nvPr/>
        </p:nvSpPr>
        <p:spPr>
          <a:xfrm flipH="0" flipV="0">
            <a:off x="502920" y="1078992"/>
            <a:ext cx="11155680" cy="1"/>
          </a:xfrm>
          <a:prstGeom prst="line">
            <a:avLst/>
          </a:prstGeom>
          <a:ln w="12700">
            <a:solidFill>
              <a:srgbClr val="D5DDE5"/>
            </a:solidFill>
          </a:ln>
        </p:spPr>
      </p:sp>
      <p:sp>
        <p:nvSpPr>
          <p:cNvPr id="6" name="shape 6"/>
          <p:cNvSpPr/>
          <p:nvPr/>
        </p:nvSpPr>
        <p:spPr>
          <a:xfrm>
            <a:off x="685800" y="1234440"/>
            <a:ext cx="1042416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5"/>
            </a:solidFill>
          </a:ln>
        </p:spPr>
      </p:sp>
      <p:sp>
        <p:nvSpPr>
          <p:cNvPr id="7" name="shape 7"/>
          <p:cNvSpPr/>
          <p:nvPr/>
        </p:nvSpPr>
        <p:spPr>
          <a:xfrm>
            <a:off x="685800" y="1234440"/>
            <a:ext cx="73152" cy="822960"/>
          </a:xfrm>
          <a:prstGeom prst="rect">
            <a:avLst/>
          </a:prstGeom>
          <a:solidFill>
            <a:srgbClr val="0097A7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850392" y="1362456"/>
            <a:ext cx="101041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100" dirty="0" b="1">
                <a:solidFill>
                  <a:srgbClr val="0097A7"/>
                </a:solidFill>
              </a:rPr>
              <a:t>Reason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850392" y="1691640"/>
            <a:ext cx="101041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880" dirty="0">
                <a:solidFill>
                  <a:srgbClr val="52667A"/>
                </a:solidFill>
              </a:rPr>
              <a:t>A static jig energizes only the pin, rotary module, camera, light, or I/O channel needed for the current test step. A robotic hand must power many joints and may require holding torque plus arm positioning.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914400" y="2423160"/>
            <a:ext cx="301752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100" dirty="0" b="1">
                <a:solidFill>
                  <a:srgbClr val="1E5AA8"/>
                </a:solidFill>
              </a:rPr>
              <a:t>Relative power demand profile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914400" y="2880360"/>
            <a:ext cx="1828800" cy="1371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750" dirty="0">
                <a:solidFill>
                  <a:srgbClr val="102033"/>
                </a:solidFill>
              </a:rPr>
              <a:t>idle / waiting</a:t>
            </a:r>
          </a:p>
        </p:txBody>
      </p:sp>
      <p:sp>
        <p:nvSpPr>
          <p:cNvPr id="12" name="shape 12"/>
          <p:cNvSpPr/>
          <p:nvPr/>
        </p:nvSpPr>
        <p:spPr>
          <a:xfrm>
            <a:off x="2926080" y="2880360"/>
            <a:ext cx="822960" cy="146304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</p:sp>
      <p:sp>
        <p:nvSpPr>
          <p:cNvPr id="13" name="text 13"/>
          <p:cNvSpPr txBox="1"/>
          <p:nvPr/>
        </p:nvSpPr>
        <p:spPr>
          <a:xfrm>
            <a:off x="3474720" y="2862072"/>
            <a:ext cx="320040" cy="914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600" dirty="0">
                <a:solidFill>
                  <a:srgbClr val="2E7D32"/>
                </a:solidFill>
              </a:rPr>
              <a:t>jig</a:t>
            </a:r>
          </a:p>
        </p:txBody>
      </p:sp>
      <p:sp>
        <p:nvSpPr>
          <p:cNvPr id="14" name="shape 14"/>
          <p:cNvSpPr/>
          <p:nvPr/>
        </p:nvSpPr>
        <p:spPr>
          <a:xfrm>
            <a:off x="5577840" y="2880360"/>
            <a:ext cx="1600200" cy="146304"/>
          </a:xfrm>
          <a:prstGeom prst="roundRect">
            <a:avLst/>
          </a:prstGeom>
          <a:solidFill>
            <a:srgbClr val="9E2A2B"/>
          </a:solidFill>
          <a:ln>
            <a:noFill/>
          </a:ln>
        </p:spPr>
      </p:sp>
      <p:sp>
        <p:nvSpPr>
          <p:cNvPr id="15" name="text 15"/>
          <p:cNvSpPr txBox="1"/>
          <p:nvPr/>
        </p:nvSpPr>
        <p:spPr>
          <a:xfrm>
            <a:off x="6903720" y="2862072"/>
            <a:ext cx="411480" cy="914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600" dirty="0">
                <a:solidFill>
                  <a:srgbClr val="9E2A2B"/>
                </a:solidFill>
              </a:rPr>
              <a:t>hand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914400" y="3355848"/>
            <a:ext cx="1828800" cy="1371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750" dirty="0">
                <a:solidFill>
                  <a:srgbClr val="102033"/>
                </a:solidFill>
              </a:rPr>
              <a:t>single touch</a:t>
            </a:r>
          </a:p>
        </p:txBody>
      </p:sp>
      <p:sp>
        <p:nvSpPr>
          <p:cNvPr id="17" name="shape 17"/>
          <p:cNvSpPr/>
          <p:nvPr/>
        </p:nvSpPr>
        <p:spPr>
          <a:xfrm>
            <a:off x="2926080" y="3355848"/>
            <a:ext cx="1097280" cy="146304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</p:sp>
      <p:sp>
        <p:nvSpPr>
          <p:cNvPr id="18" name="text 18"/>
          <p:cNvSpPr txBox="1"/>
          <p:nvPr/>
        </p:nvSpPr>
        <p:spPr>
          <a:xfrm>
            <a:off x="3749039" y="3337560"/>
            <a:ext cx="320040" cy="914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600" dirty="0">
                <a:solidFill>
                  <a:srgbClr val="2E7D32"/>
                </a:solidFill>
              </a:rPr>
              <a:t>jig</a:t>
            </a:r>
          </a:p>
        </p:txBody>
      </p:sp>
      <p:sp>
        <p:nvSpPr>
          <p:cNvPr id="19" name="shape 19"/>
          <p:cNvSpPr/>
          <p:nvPr/>
        </p:nvSpPr>
        <p:spPr>
          <a:xfrm>
            <a:off x="5577840" y="3355848"/>
            <a:ext cx="2514600" cy="146304"/>
          </a:xfrm>
          <a:prstGeom prst="roundRect">
            <a:avLst/>
          </a:prstGeom>
          <a:solidFill>
            <a:srgbClr val="9E2A2B"/>
          </a:solidFill>
          <a:ln>
            <a:noFill/>
          </a:ln>
        </p:spPr>
      </p:sp>
      <p:sp>
        <p:nvSpPr>
          <p:cNvPr id="20" name="text 20"/>
          <p:cNvSpPr txBox="1"/>
          <p:nvPr/>
        </p:nvSpPr>
        <p:spPr>
          <a:xfrm>
            <a:off x="7818120" y="3337560"/>
            <a:ext cx="411480" cy="914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600" dirty="0">
                <a:solidFill>
                  <a:srgbClr val="9E2A2B"/>
                </a:solidFill>
              </a:rPr>
              <a:t>hand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914400" y="3831335"/>
            <a:ext cx="1828800" cy="1371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750" dirty="0">
                <a:solidFill>
                  <a:srgbClr val="102033"/>
                </a:solidFill>
              </a:rPr>
              <a:t>multi-point test</a:t>
            </a:r>
          </a:p>
        </p:txBody>
      </p:sp>
      <p:sp>
        <p:nvSpPr>
          <p:cNvPr id="22" name="shape 22"/>
          <p:cNvSpPr/>
          <p:nvPr/>
        </p:nvSpPr>
        <p:spPr>
          <a:xfrm>
            <a:off x="2926080" y="3831335"/>
            <a:ext cx="1417319" cy="146304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</p:sp>
      <p:sp>
        <p:nvSpPr>
          <p:cNvPr id="23" name="text 23"/>
          <p:cNvSpPr txBox="1"/>
          <p:nvPr/>
        </p:nvSpPr>
        <p:spPr>
          <a:xfrm>
            <a:off x="4069080" y="3813048"/>
            <a:ext cx="320040" cy="914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600" dirty="0">
                <a:solidFill>
                  <a:srgbClr val="2E7D32"/>
                </a:solidFill>
              </a:rPr>
              <a:t>jig</a:t>
            </a:r>
          </a:p>
        </p:txBody>
      </p:sp>
      <p:sp>
        <p:nvSpPr>
          <p:cNvPr id="24" name="shape 24"/>
          <p:cNvSpPr/>
          <p:nvPr/>
        </p:nvSpPr>
        <p:spPr>
          <a:xfrm>
            <a:off x="5577840" y="3831335"/>
            <a:ext cx="3246120" cy="146304"/>
          </a:xfrm>
          <a:prstGeom prst="roundRect">
            <a:avLst/>
          </a:prstGeom>
          <a:solidFill>
            <a:srgbClr val="9E2A2B"/>
          </a:solidFill>
          <a:ln>
            <a:noFill/>
          </a:ln>
        </p:spPr>
      </p:sp>
      <p:sp>
        <p:nvSpPr>
          <p:cNvPr id="25" name="text 25"/>
          <p:cNvSpPr txBox="1"/>
          <p:nvPr/>
        </p:nvSpPr>
        <p:spPr>
          <a:xfrm>
            <a:off x="8549640" y="3813048"/>
            <a:ext cx="411480" cy="914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600" dirty="0">
                <a:solidFill>
                  <a:srgbClr val="9E2A2B"/>
                </a:solidFill>
              </a:rPr>
              <a:t>hand</a:t>
            </a:r>
          </a:p>
        </p:txBody>
      </p:sp>
      <p:sp>
        <p:nvSpPr>
          <p:cNvPr id="26" name="text 26"/>
          <p:cNvSpPr txBox="1"/>
          <p:nvPr/>
        </p:nvSpPr>
        <p:spPr>
          <a:xfrm>
            <a:off x="914400" y="4306824"/>
            <a:ext cx="1828800" cy="1371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750" dirty="0">
                <a:solidFill>
                  <a:srgbClr val="102033"/>
                </a:solidFill>
              </a:rPr>
              <a:t>knob rotation</a:t>
            </a:r>
          </a:p>
        </p:txBody>
      </p:sp>
      <p:sp>
        <p:nvSpPr>
          <p:cNvPr id="27" name="shape 27"/>
          <p:cNvSpPr/>
          <p:nvPr/>
        </p:nvSpPr>
        <p:spPr>
          <a:xfrm>
            <a:off x="2926080" y="4306824"/>
            <a:ext cx="1234440" cy="146304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</p:sp>
      <p:sp>
        <p:nvSpPr>
          <p:cNvPr id="28" name="text 28"/>
          <p:cNvSpPr txBox="1"/>
          <p:nvPr/>
        </p:nvSpPr>
        <p:spPr>
          <a:xfrm>
            <a:off x="3886200" y="4288536"/>
            <a:ext cx="320040" cy="914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600" dirty="0">
                <a:solidFill>
                  <a:srgbClr val="2E7D32"/>
                </a:solidFill>
              </a:rPr>
              <a:t>jig</a:t>
            </a:r>
          </a:p>
        </p:txBody>
      </p:sp>
      <p:sp>
        <p:nvSpPr>
          <p:cNvPr id="29" name="shape 29"/>
          <p:cNvSpPr/>
          <p:nvPr/>
        </p:nvSpPr>
        <p:spPr>
          <a:xfrm>
            <a:off x="5577840" y="4306824"/>
            <a:ext cx="3611880" cy="146304"/>
          </a:xfrm>
          <a:prstGeom prst="roundRect">
            <a:avLst/>
          </a:prstGeom>
          <a:solidFill>
            <a:srgbClr val="9E2A2B"/>
          </a:solidFill>
          <a:ln>
            <a:noFill/>
          </a:ln>
        </p:spPr>
      </p:sp>
      <p:sp>
        <p:nvSpPr>
          <p:cNvPr id="30" name="text 30"/>
          <p:cNvSpPr txBox="1"/>
          <p:nvPr/>
        </p:nvSpPr>
        <p:spPr>
          <a:xfrm>
            <a:off x="8915400" y="4288536"/>
            <a:ext cx="411480" cy="914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600" dirty="0">
                <a:solidFill>
                  <a:srgbClr val="9E2A2B"/>
                </a:solidFill>
              </a:rPr>
              <a:t>hand</a:t>
            </a:r>
          </a:p>
        </p:txBody>
      </p:sp>
      <p:sp>
        <p:nvSpPr>
          <p:cNvPr id="31" name="text 31"/>
          <p:cNvSpPr txBox="1"/>
          <p:nvPr/>
        </p:nvSpPr>
        <p:spPr>
          <a:xfrm>
            <a:off x="914400" y="4782312"/>
            <a:ext cx="1828800" cy="1371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750" dirty="0">
                <a:solidFill>
                  <a:srgbClr val="102033"/>
                </a:solidFill>
              </a:rPr>
              <a:t>vehicle endurance</a:t>
            </a:r>
          </a:p>
        </p:txBody>
      </p:sp>
      <p:sp>
        <p:nvSpPr>
          <p:cNvPr id="32" name="shape 32"/>
          <p:cNvSpPr/>
          <p:nvPr/>
        </p:nvSpPr>
        <p:spPr>
          <a:xfrm>
            <a:off x="2926080" y="4782312"/>
            <a:ext cx="960119" cy="146304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</p:sp>
      <p:sp>
        <p:nvSpPr>
          <p:cNvPr id="33" name="text 33"/>
          <p:cNvSpPr txBox="1"/>
          <p:nvPr/>
        </p:nvSpPr>
        <p:spPr>
          <a:xfrm>
            <a:off x="3611880" y="4764024"/>
            <a:ext cx="320040" cy="914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600" dirty="0">
                <a:solidFill>
                  <a:srgbClr val="2E7D32"/>
                </a:solidFill>
              </a:rPr>
              <a:t>jig</a:t>
            </a:r>
          </a:p>
        </p:txBody>
      </p:sp>
      <p:sp>
        <p:nvSpPr>
          <p:cNvPr id="34" name="shape 34"/>
          <p:cNvSpPr/>
          <p:nvPr/>
        </p:nvSpPr>
        <p:spPr>
          <a:xfrm>
            <a:off x="5577840" y="4782312"/>
            <a:ext cx="2880360" cy="146304"/>
          </a:xfrm>
          <a:prstGeom prst="roundRect">
            <a:avLst/>
          </a:prstGeom>
          <a:solidFill>
            <a:srgbClr val="9E2A2B"/>
          </a:solidFill>
          <a:ln>
            <a:noFill/>
          </a:ln>
        </p:spPr>
      </p:sp>
      <p:sp>
        <p:nvSpPr>
          <p:cNvPr id="35" name="text 35"/>
          <p:cNvSpPr txBox="1"/>
          <p:nvPr/>
        </p:nvSpPr>
        <p:spPr>
          <a:xfrm>
            <a:off x="8183879" y="4764024"/>
            <a:ext cx="411480" cy="914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600" dirty="0">
                <a:solidFill>
                  <a:srgbClr val="9E2A2B"/>
                </a:solidFill>
              </a:rPr>
              <a:t>hand</a:t>
            </a:r>
          </a:p>
        </p:txBody>
      </p:sp>
      <p:sp>
        <p:nvSpPr>
          <p:cNvPr id="36" name="text 36"/>
          <p:cNvSpPr txBox="1"/>
          <p:nvPr/>
        </p:nvSpPr>
        <p:spPr>
          <a:xfrm>
            <a:off x="868680" y="5532120"/>
            <a:ext cx="2743200" cy="329184"/>
          </a:xfrm>
          <a:prstGeom prst="rect">
            <a:avLst/>
          </a:prstGeom>
          <a:solidFill>
            <a:srgbClr val="0B1F33"/>
          </a:solidFill>
          <a:ln w="12700">
            <a:solidFill>
              <a:srgbClr val="FFFFFF"/>
            </a:solidFill>
          </a:ln>
        </p:spPr>
        <p:txBody>
          <a:bodyPr wrap="square" anchor="ctr" lIns="36576" tIns="25603" rIns="36576" bIns="25603"/>
          <a:lstStyle/>
          <a:p>
            <a:pPr algn="ctr"/>
            <a:r>
              <a:rPr lang="en-US" sz="860" dirty="0" b="1">
                <a:solidFill>
                  <a:srgbClr val="FFFFFF"/>
                </a:solidFill>
              </a:rPr>
              <a:t>Benefit</a:t>
            </a:r>
          </a:p>
        </p:txBody>
      </p:sp>
      <p:sp>
        <p:nvSpPr>
          <p:cNvPr id="37" name="text 37"/>
          <p:cNvSpPr txBox="1"/>
          <p:nvPr/>
        </p:nvSpPr>
        <p:spPr>
          <a:xfrm>
            <a:off x="3611880" y="5532120"/>
            <a:ext cx="2743200" cy="329184"/>
          </a:xfrm>
          <a:prstGeom prst="rect">
            <a:avLst/>
          </a:prstGeom>
          <a:solidFill>
            <a:srgbClr val="0B1F33"/>
          </a:solidFill>
          <a:ln w="12700">
            <a:solidFill>
              <a:srgbClr val="FFFFFF"/>
            </a:solidFill>
          </a:ln>
        </p:spPr>
        <p:txBody>
          <a:bodyPr wrap="square" anchor="ctr" lIns="36576" tIns="25603" rIns="36576" bIns="25603"/>
          <a:lstStyle/>
          <a:p>
            <a:pPr algn="ctr"/>
            <a:r>
              <a:rPr lang="en-US" sz="860" dirty="0" b="1">
                <a:solidFill>
                  <a:srgbClr val="FFFFFF"/>
                </a:solidFill>
              </a:rPr>
              <a:t>Engineering effect</a:t>
            </a:r>
          </a:p>
        </p:txBody>
      </p:sp>
      <p:sp>
        <p:nvSpPr>
          <p:cNvPr id="38" name="text 38"/>
          <p:cNvSpPr txBox="1"/>
          <p:nvPr/>
        </p:nvSpPr>
        <p:spPr>
          <a:xfrm>
            <a:off x="6355080" y="5532120"/>
            <a:ext cx="2743200" cy="329184"/>
          </a:xfrm>
          <a:prstGeom prst="rect">
            <a:avLst/>
          </a:prstGeom>
          <a:solidFill>
            <a:srgbClr val="0B1F33"/>
          </a:solidFill>
          <a:ln w="12700">
            <a:solidFill>
              <a:srgbClr val="FFFFFF"/>
            </a:solidFill>
          </a:ln>
        </p:spPr>
        <p:txBody>
          <a:bodyPr wrap="square" anchor="ctr" lIns="36576" tIns="25603" rIns="36576" bIns="25603"/>
          <a:lstStyle/>
          <a:p>
            <a:pPr algn="ctr"/>
            <a:r>
              <a:rPr lang="en-US" sz="860" dirty="0" b="1">
                <a:solidFill>
                  <a:srgbClr val="FFFFFF"/>
                </a:solidFill>
              </a:rPr>
              <a:t>Operational effect</a:t>
            </a:r>
          </a:p>
        </p:txBody>
      </p:sp>
      <p:sp>
        <p:nvSpPr>
          <p:cNvPr id="39" name="text 39"/>
          <p:cNvSpPr txBox="1"/>
          <p:nvPr/>
        </p:nvSpPr>
        <p:spPr>
          <a:xfrm>
            <a:off x="9098280" y="5532120"/>
            <a:ext cx="1920240" cy="329184"/>
          </a:xfrm>
          <a:prstGeom prst="rect">
            <a:avLst/>
          </a:prstGeom>
          <a:solidFill>
            <a:srgbClr val="0B1F33"/>
          </a:solidFill>
          <a:ln w="12700">
            <a:solidFill>
              <a:srgbClr val="FFFFFF"/>
            </a:solidFill>
          </a:ln>
        </p:spPr>
        <p:txBody>
          <a:bodyPr wrap="square" anchor="ctr" lIns="36576" tIns="25603" rIns="36576" bIns="25603"/>
          <a:lstStyle/>
          <a:p>
            <a:pPr algn="ctr"/>
            <a:r>
              <a:rPr lang="en-US" sz="860" dirty="0" b="1">
                <a:solidFill>
                  <a:srgbClr val="FFFFFF"/>
                </a:solidFill>
              </a:rPr>
              <a:t>Best use case</a:t>
            </a:r>
          </a:p>
        </p:txBody>
      </p:sp>
      <p:sp>
        <p:nvSpPr>
          <p:cNvPr id="40" name="text 40"/>
          <p:cNvSpPr txBox="1"/>
          <p:nvPr/>
        </p:nvSpPr>
        <p:spPr>
          <a:xfrm>
            <a:off x="868680" y="5861304"/>
            <a:ext cx="27432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smaller supply</a:t>
            </a:r>
          </a:p>
        </p:txBody>
      </p:sp>
      <p:sp>
        <p:nvSpPr>
          <p:cNvPr id="41" name="text 41"/>
          <p:cNvSpPr txBox="1"/>
          <p:nvPr/>
        </p:nvSpPr>
        <p:spPr>
          <a:xfrm>
            <a:off x="3611880" y="5861304"/>
            <a:ext cx="27432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less heat/current</a:t>
            </a:r>
          </a:p>
        </p:txBody>
      </p:sp>
      <p:sp>
        <p:nvSpPr>
          <p:cNvPr id="42" name="text 42"/>
          <p:cNvSpPr txBox="1"/>
          <p:nvPr/>
        </p:nvSpPr>
        <p:spPr>
          <a:xfrm>
            <a:off x="6355080" y="5861304"/>
            <a:ext cx="27432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portable test kit</a:t>
            </a:r>
          </a:p>
        </p:txBody>
      </p:sp>
      <p:sp>
        <p:nvSpPr>
          <p:cNvPr id="43" name="text 43"/>
          <p:cNvSpPr txBox="1"/>
          <p:nvPr/>
        </p:nvSpPr>
        <p:spPr>
          <a:xfrm>
            <a:off x="9098280" y="5861304"/>
            <a:ext cx="19202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field test</a:t>
            </a:r>
          </a:p>
        </p:txBody>
      </p:sp>
      <p:sp>
        <p:nvSpPr>
          <p:cNvPr id="44" name="text 44"/>
          <p:cNvSpPr txBox="1"/>
          <p:nvPr/>
        </p:nvSpPr>
        <p:spPr>
          <a:xfrm>
            <a:off x="868680" y="6190488"/>
            <a:ext cx="2743200" cy="329184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battery-friendly</a:t>
            </a:r>
          </a:p>
        </p:txBody>
      </p:sp>
      <p:sp>
        <p:nvSpPr>
          <p:cNvPr id="45" name="text 45"/>
          <p:cNvSpPr txBox="1"/>
          <p:nvPr/>
        </p:nvSpPr>
        <p:spPr>
          <a:xfrm>
            <a:off x="3611880" y="6190488"/>
            <a:ext cx="2743200" cy="329184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less continuous draw</a:t>
            </a:r>
          </a:p>
        </p:txBody>
      </p:sp>
      <p:sp>
        <p:nvSpPr>
          <p:cNvPr id="46" name="text 46"/>
          <p:cNvSpPr txBox="1"/>
          <p:nvPr/>
        </p:nvSpPr>
        <p:spPr>
          <a:xfrm>
            <a:off x="6355080" y="6190488"/>
            <a:ext cx="2743200" cy="329184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vehicle cabin use</a:t>
            </a:r>
          </a:p>
        </p:txBody>
      </p:sp>
      <p:sp>
        <p:nvSpPr>
          <p:cNvPr id="47" name="text 47"/>
          <p:cNvSpPr txBox="1"/>
          <p:nvPr/>
        </p:nvSpPr>
        <p:spPr>
          <a:xfrm>
            <a:off x="9098280" y="6190488"/>
            <a:ext cx="1920240" cy="329184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moving vehicle</a:t>
            </a:r>
          </a:p>
        </p:txBody>
      </p:sp>
      <p:sp>
        <p:nvSpPr>
          <p:cNvPr id="48" name="text 48"/>
          <p:cNvSpPr txBox="1"/>
          <p:nvPr/>
        </p:nvSpPr>
        <p:spPr>
          <a:xfrm>
            <a:off x="868680" y="6519672"/>
            <a:ext cx="27432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less thermal stress</a:t>
            </a:r>
          </a:p>
        </p:txBody>
      </p:sp>
      <p:sp>
        <p:nvSpPr>
          <p:cNvPr id="49" name="text 49"/>
          <p:cNvSpPr txBox="1"/>
          <p:nvPr/>
        </p:nvSpPr>
        <p:spPr>
          <a:xfrm>
            <a:off x="3611880" y="6519672"/>
            <a:ext cx="27432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longer component life</a:t>
            </a:r>
          </a:p>
        </p:txBody>
      </p:sp>
      <p:sp>
        <p:nvSpPr>
          <p:cNvPr id="50" name="text 50"/>
          <p:cNvSpPr txBox="1"/>
          <p:nvPr/>
        </p:nvSpPr>
        <p:spPr>
          <a:xfrm>
            <a:off x="6355080" y="6519672"/>
            <a:ext cx="27432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better uptime</a:t>
            </a:r>
          </a:p>
        </p:txBody>
      </p:sp>
      <p:sp>
        <p:nvSpPr>
          <p:cNvPr id="51" name="text 51"/>
          <p:cNvSpPr txBox="1"/>
          <p:nvPr/>
        </p:nvSpPr>
        <p:spPr>
          <a:xfrm>
            <a:off x="9098280" y="6519672"/>
            <a:ext cx="19202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endurance test</a:t>
            </a:r>
          </a:p>
        </p:txBody>
      </p:sp>
      <p:sp>
        <p:nvSpPr>
          <p:cNvPr id="52" name="text 52"/>
          <p:cNvSpPr txBox="1"/>
          <p:nvPr/>
        </p:nvSpPr>
        <p:spPr>
          <a:xfrm>
            <a:off x="502920" y="6473952"/>
            <a:ext cx="56692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720" dirty="0">
                <a:solidFill>
                  <a:srgbClr val="708090"/>
                </a:solidFill>
              </a:rPr>
              <a:t>Static Robo HMI Test Jig vs. Robotic Hand  |  Research Deck</a:t>
            </a:r>
          </a:p>
        </p:txBody>
      </p:sp>
      <p:sp>
        <p:nvSpPr>
          <p:cNvPr id="53" name="text 53"/>
          <p:cNvSpPr txBox="1"/>
          <p:nvPr/>
        </p:nvSpPr>
        <p:spPr>
          <a:xfrm>
            <a:off x="11384280" y="6473952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/>
            <a:r>
              <a:rPr lang="en-US" sz="720" dirty="0">
                <a:solidFill>
                  <a:srgbClr val="708090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1F33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02920" y="310896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51206" rIns="73152" bIns="51206"/>
          <a:lstStyle/>
          <a:p>
            <a:pPr algn="l"/>
            <a:r>
              <a:rPr lang="en-US" sz="850" dirty="0" b="1">
                <a:solidFill>
                  <a:srgbClr val="1E5AA8"/>
                </a:solidFill>
              </a:rPr>
              <a:t>MAINTENANCE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502920" y="530352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2400" dirty="0" b="1">
                <a:solidFill>
                  <a:srgbClr val="102033"/>
                </a:solidFill>
              </a:rPr>
              <a:t>6. Serviceability: easy replacement of parts reduces downtime</a:t>
            </a:r>
          </a:p>
        </p:txBody>
      </p:sp>
      <p:sp>
        <p:nvSpPr>
          <p:cNvPr id="5" name="line 5"/>
          <p:cNvSpPr/>
          <p:nvPr/>
        </p:nvSpPr>
        <p:spPr>
          <a:xfrm flipH="0" flipV="0">
            <a:off x="502920" y="1078992"/>
            <a:ext cx="11155680" cy="1"/>
          </a:xfrm>
          <a:prstGeom prst="line">
            <a:avLst/>
          </a:prstGeom>
          <a:ln w="12700">
            <a:solidFill>
              <a:srgbClr val="D5DDE5"/>
            </a:solidFill>
          </a:ln>
        </p:spPr>
      </p:sp>
      <p:sp>
        <p:nvSpPr>
          <p:cNvPr id="6" name="text 6"/>
          <p:cNvSpPr txBox="1"/>
          <p:nvPr/>
        </p:nvSpPr>
        <p:spPr>
          <a:xfrm>
            <a:off x="685800" y="1234440"/>
            <a:ext cx="105156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300" dirty="0">
                <a:solidFill>
                  <a:srgbClr val="52667A"/>
                </a:solidFill>
              </a:rPr>
              <a:t>The static jig should be designed as a maintainable test instrument, not a monolithic robot.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685800" y="1783080"/>
            <a:ext cx="2103120" cy="411480"/>
          </a:xfrm>
          <a:prstGeom prst="rect">
            <a:avLst/>
          </a:prstGeom>
          <a:solidFill>
            <a:srgbClr val="0B1F33"/>
          </a:solidFill>
          <a:ln w="12700">
            <a:solidFill>
              <a:srgbClr val="FFFFFF"/>
            </a:solidFill>
          </a:ln>
        </p:spPr>
        <p:txBody>
          <a:bodyPr wrap="square" anchor="ctr" lIns="36576" tIns="25603" rIns="36576" bIns="25603"/>
          <a:lstStyle/>
          <a:p>
            <a:pPr algn="ctr"/>
            <a:r>
              <a:rPr lang="en-US" sz="860" dirty="0" b="1">
                <a:solidFill>
                  <a:srgbClr val="FFFFFF"/>
                </a:solidFill>
              </a:rPr>
              <a:t>Failure item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2788920" y="1783080"/>
            <a:ext cx="3108960" cy="411480"/>
          </a:xfrm>
          <a:prstGeom prst="rect">
            <a:avLst/>
          </a:prstGeom>
          <a:solidFill>
            <a:srgbClr val="0B1F33"/>
          </a:solidFill>
          <a:ln w="12700">
            <a:solidFill>
              <a:srgbClr val="FFFFFF"/>
            </a:solidFill>
          </a:ln>
        </p:spPr>
        <p:txBody>
          <a:bodyPr wrap="square" anchor="ctr" lIns="36576" tIns="25603" rIns="36576" bIns="25603"/>
          <a:lstStyle/>
          <a:p>
            <a:pPr algn="ctr"/>
            <a:r>
              <a:rPr lang="en-US" sz="860" dirty="0" b="1">
                <a:solidFill>
                  <a:srgbClr val="FFFFFF"/>
                </a:solidFill>
              </a:rPr>
              <a:t>Static jig response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5897879" y="1783080"/>
            <a:ext cx="3108960" cy="411480"/>
          </a:xfrm>
          <a:prstGeom prst="rect">
            <a:avLst/>
          </a:prstGeom>
          <a:solidFill>
            <a:srgbClr val="0B1F33"/>
          </a:solidFill>
          <a:ln w="12700">
            <a:solidFill>
              <a:srgbClr val="FFFFFF"/>
            </a:solidFill>
          </a:ln>
        </p:spPr>
        <p:txBody>
          <a:bodyPr wrap="square" anchor="ctr" lIns="36576" tIns="25603" rIns="36576" bIns="25603"/>
          <a:lstStyle/>
          <a:p>
            <a:pPr algn="ctr"/>
            <a:r>
              <a:rPr lang="en-US" sz="860" dirty="0" b="1">
                <a:solidFill>
                  <a:srgbClr val="FFFFFF"/>
                </a:solidFill>
              </a:rPr>
              <a:t>Robotic hand response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9006840" y="1783080"/>
            <a:ext cx="2194560" cy="411480"/>
          </a:xfrm>
          <a:prstGeom prst="rect">
            <a:avLst/>
          </a:prstGeom>
          <a:solidFill>
            <a:srgbClr val="0B1F33"/>
          </a:solidFill>
          <a:ln w="12700">
            <a:solidFill>
              <a:srgbClr val="FFFFFF"/>
            </a:solidFill>
          </a:ln>
        </p:spPr>
        <p:txBody>
          <a:bodyPr wrap="square" anchor="ctr" lIns="36576" tIns="25603" rIns="36576" bIns="25603"/>
          <a:lstStyle/>
          <a:p>
            <a:pPr algn="ctr"/>
            <a:r>
              <a:rPr lang="en-US" sz="860" dirty="0" b="1">
                <a:solidFill>
                  <a:srgbClr val="FFFFFF"/>
                </a:solidFill>
              </a:rPr>
              <a:t>Downtime risk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685800" y="2194560"/>
            <a:ext cx="21031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worn contact tip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2788920" y="2194560"/>
            <a:ext cx="31089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replace rubber/stylus/pogo tip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5897879" y="2194560"/>
            <a:ext cx="31089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finger pad or fingertip assembly repair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9006840" y="2194560"/>
            <a:ext cx="21945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low vs medium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685800" y="2606040"/>
            <a:ext cx="210312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single actuator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2788920" y="2606040"/>
            <a:ext cx="310896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swap press/rotary module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5897879" y="2606040"/>
            <a:ext cx="310896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finger joint motor/gear service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9006840" y="2606040"/>
            <a:ext cx="219456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low vs high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685800" y="3017520"/>
            <a:ext cx="21031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camera issue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2788920" y="3017520"/>
            <a:ext cx="31089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replace fixed camera bracket/module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5897879" y="3017520"/>
            <a:ext cx="31089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vision still required separately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9006840" y="3017520"/>
            <a:ext cx="21945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low vs medium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685800" y="3429000"/>
            <a:ext cx="210312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connector wear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2788920" y="3429000"/>
            <a:ext cx="310896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replace panel connector plate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5897879" y="3429000"/>
            <a:ext cx="310896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not primary hand function</a:t>
            </a:r>
          </a:p>
        </p:txBody>
      </p:sp>
      <p:sp>
        <p:nvSpPr>
          <p:cNvPr id="26" name="text 26"/>
          <p:cNvSpPr txBox="1"/>
          <p:nvPr/>
        </p:nvSpPr>
        <p:spPr>
          <a:xfrm>
            <a:off x="9006840" y="3429000"/>
            <a:ext cx="219456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low</a:t>
            </a:r>
          </a:p>
        </p:txBody>
      </p:sp>
      <p:sp>
        <p:nvSpPr>
          <p:cNvPr id="27" name="text 27"/>
          <p:cNvSpPr txBox="1"/>
          <p:nvPr/>
        </p:nvSpPr>
        <p:spPr>
          <a:xfrm>
            <a:off x="685800" y="3840480"/>
            <a:ext cx="21031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geometry change</a:t>
            </a:r>
          </a:p>
        </p:txBody>
      </p:sp>
      <p:sp>
        <p:nvSpPr>
          <p:cNvPr id="28" name="text 28"/>
          <p:cNvSpPr txBox="1"/>
          <p:nvPr/>
        </p:nvSpPr>
        <p:spPr>
          <a:xfrm>
            <a:off x="2788920" y="3840480"/>
            <a:ext cx="31089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change plate / adjust screws</a:t>
            </a:r>
          </a:p>
        </p:txBody>
      </p:sp>
      <p:sp>
        <p:nvSpPr>
          <p:cNvPr id="29" name="text 29"/>
          <p:cNvSpPr txBox="1"/>
          <p:nvPr/>
        </p:nvSpPr>
        <p:spPr>
          <a:xfrm>
            <a:off x="5897879" y="3840480"/>
            <a:ext cx="31089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reprogram pose and recalibrate</a:t>
            </a:r>
          </a:p>
        </p:txBody>
      </p:sp>
      <p:sp>
        <p:nvSpPr>
          <p:cNvPr id="30" name="text 30"/>
          <p:cNvSpPr txBox="1"/>
          <p:nvPr/>
        </p:nvSpPr>
        <p:spPr>
          <a:xfrm>
            <a:off x="9006840" y="3840480"/>
            <a:ext cx="21945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low vs high</a:t>
            </a:r>
          </a:p>
        </p:txBody>
      </p:sp>
      <p:sp>
        <p:nvSpPr>
          <p:cNvPr id="31" name="shape 31"/>
          <p:cNvSpPr/>
          <p:nvPr/>
        </p:nvSpPr>
        <p:spPr>
          <a:xfrm>
            <a:off x="1051560" y="4617720"/>
            <a:ext cx="9875520" cy="777240"/>
          </a:xfrm>
          <a:prstGeom prst="roundRect">
            <a:avLst/>
          </a:prstGeom>
          <a:solidFill>
            <a:srgbClr val="EEF4FA"/>
          </a:solidFill>
          <a:ln w="12700">
            <a:solidFill>
              <a:srgbClr val="B8CCE3"/>
            </a:solidFill>
          </a:ln>
        </p:spPr>
      </p:sp>
      <p:sp>
        <p:nvSpPr>
          <p:cNvPr id="32" name="text 32"/>
          <p:cNvSpPr txBox="1"/>
          <p:nvPr/>
        </p:nvSpPr>
        <p:spPr>
          <a:xfrm>
            <a:off x="1325880" y="4892040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850" dirty="0" b="1">
                <a:solidFill>
                  <a:srgbClr val="102033"/>
                </a:solidFill>
              </a:rPr>
              <a:t>Inspect</a:t>
            </a:r>
          </a:p>
        </p:txBody>
      </p:sp>
      <p:sp>
        <p:nvSpPr>
          <p:cNvPr id="33" name="line 33"/>
          <p:cNvSpPr/>
          <p:nvPr/>
        </p:nvSpPr>
        <p:spPr>
          <a:xfrm flipH="0" flipV="0">
            <a:off x="2743200" y="4965192"/>
            <a:ext cx="347471" cy="1"/>
          </a:xfrm>
          <a:prstGeom prst="line">
            <a:avLst/>
          </a:prstGeom>
          <a:ln w="15240">
            <a:solidFill>
              <a:srgbClr val="1E5AA8"/>
            </a:solidFill>
            <a:headEnd type="triangle"/>
          </a:ln>
        </p:spPr>
      </p:sp>
      <p:sp>
        <p:nvSpPr>
          <p:cNvPr id="34" name="text 34"/>
          <p:cNvSpPr txBox="1"/>
          <p:nvPr/>
        </p:nvSpPr>
        <p:spPr>
          <a:xfrm>
            <a:off x="3200400" y="4892040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850" dirty="0" b="1">
                <a:solidFill>
                  <a:srgbClr val="102033"/>
                </a:solidFill>
              </a:rPr>
              <a:t>Swap module</a:t>
            </a:r>
          </a:p>
        </p:txBody>
      </p:sp>
      <p:sp>
        <p:nvSpPr>
          <p:cNvPr id="35" name="line 35"/>
          <p:cNvSpPr/>
          <p:nvPr/>
        </p:nvSpPr>
        <p:spPr>
          <a:xfrm flipH="0" flipV="0">
            <a:off x="4617720" y="4965192"/>
            <a:ext cx="347471" cy="1"/>
          </a:xfrm>
          <a:prstGeom prst="line">
            <a:avLst/>
          </a:prstGeom>
          <a:ln w="15240">
            <a:solidFill>
              <a:srgbClr val="1E5AA8"/>
            </a:solidFill>
            <a:headEnd type="triangle"/>
          </a:ln>
        </p:spPr>
      </p:sp>
      <p:sp>
        <p:nvSpPr>
          <p:cNvPr id="36" name="text 36"/>
          <p:cNvSpPr txBox="1"/>
          <p:nvPr/>
        </p:nvSpPr>
        <p:spPr>
          <a:xfrm>
            <a:off x="5074920" y="4892040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850" dirty="0" b="1">
                <a:solidFill>
                  <a:srgbClr val="102033"/>
                </a:solidFill>
              </a:rPr>
              <a:t>Retighten / recalibrate</a:t>
            </a:r>
          </a:p>
        </p:txBody>
      </p:sp>
      <p:sp>
        <p:nvSpPr>
          <p:cNvPr id="37" name="line 37"/>
          <p:cNvSpPr/>
          <p:nvPr/>
        </p:nvSpPr>
        <p:spPr>
          <a:xfrm flipH="0" flipV="0">
            <a:off x="6492240" y="4965192"/>
            <a:ext cx="347471" cy="1"/>
          </a:xfrm>
          <a:prstGeom prst="line">
            <a:avLst/>
          </a:prstGeom>
          <a:ln w="15240">
            <a:solidFill>
              <a:srgbClr val="1E5AA8"/>
            </a:solidFill>
            <a:headEnd type="triangle"/>
          </a:ln>
        </p:spPr>
      </p:sp>
      <p:sp>
        <p:nvSpPr>
          <p:cNvPr id="38" name="text 38"/>
          <p:cNvSpPr txBox="1"/>
          <p:nvPr/>
        </p:nvSpPr>
        <p:spPr>
          <a:xfrm>
            <a:off x="6949440" y="4892040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850" dirty="0" b="1">
                <a:solidFill>
                  <a:srgbClr val="102033"/>
                </a:solidFill>
              </a:rPr>
              <a:t>Run reference test</a:t>
            </a:r>
          </a:p>
        </p:txBody>
      </p:sp>
      <p:sp>
        <p:nvSpPr>
          <p:cNvPr id="39" name="line 39"/>
          <p:cNvSpPr/>
          <p:nvPr/>
        </p:nvSpPr>
        <p:spPr>
          <a:xfrm flipH="0" flipV="0">
            <a:off x="8366760" y="4965192"/>
            <a:ext cx="347471" cy="1"/>
          </a:xfrm>
          <a:prstGeom prst="line">
            <a:avLst/>
          </a:prstGeom>
          <a:ln w="15240">
            <a:solidFill>
              <a:srgbClr val="1E5AA8"/>
            </a:solidFill>
            <a:headEnd type="triangle"/>
          </a:ln>
        </p:spPr>
      </p:sp>
      <p:sp>
        <p:nvSpPr>
          <p:cNvPr id="40" name="text 40"/>
          <p:cNvSpPr txBox="1"/>
          <p:nvPr/>
        </p:nvSpPr>
        <p:spPr>
          <a:xfrm>
            <a:off x="8823959" y="4892040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850" dirty="0" b="1">
                <a:solidFill>
                  <a:srgbClr val="102033"/>
                </a:solidFill>
              </a:rPr>
              <a:t>Return to service</a:t>
            </a:r>
          </a:p>
        </p:txBody>
      </p:sp>
      <p:sp>
        <p:nvSpPr>
          <p:cNvPr id="41" name="text 41"/>
          <p:cNvSpPr txBox="1"/>
          <p:nvPr/>
        </p:nvSpPr>
        <p:spPr>
          <a:xfrm>
            <a:off x="1371600" y="5806440"/>
            <a:ext cx="9464040" cy="320040"/>
          </a:xfrm>
          <a:prstGeom prst="roundRect">
            <a:avLst/>
          </a:prstGeom>
          <a:solidFill>
            <a:srgbClr val="0B1F33"/>
          </a:solidFill>
          <a:ln w="12700">
            <a:solidFill>
              <a:srgbClr val="0B1F33"/>
            </a:solidFill>
          </a:ln>
        </p:spPr>
        <p:txBody>
          <a:bodyPr wrap="square" anchor="t" lIns="73152" tIns="51206" rIns="73152" bIns="51206"/>
          <a:lstStyle/>
          <a:p>
            <a:pPr algn="ctr"/>
            <a:r>
              <a:rPr lang="en-US" sz="1300" dirty="0" b="1">
                <a:solidFill>
                  <a:srgbClr val="FFFFFF"/>
                </a:solidFill>
              </a:rPr>
              <a:t>Maintenance objective: minutes to restore operation, not hours of robotic repair and recalibration.</a:t>
            </a:r>
          </a:p>
        </p:txBody>
      </p:sp>
      <p:sp>
        <p:nvSpPr>
          <p:cNvPr id="42" name="text 42"/>
          <p:cNvSpPr txBox="1"/>
          <p:nvPr/>
        </p:nvSpPr>
        <p:spPr>
          <a:xfrm>
            <a:off x="502920" y="6473952"/>
            <a:ext cx="56692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720" dirty="0">
                <a:solidFill>
                  <a:srgbClr val="708090"/>
                </a:solidFill>
              </a:rPr>
              <a:t>Static Robo HMI Test Jig vs. Robotic Hand  |  Research Deck</a:t>
            </a:r>
          </a:p>
        </p:txBody>
      </p:sp>
      <p:sp>
        <p:nvSpPr>
          <p:cNvPr id="43" name="text 43"/>
          <p:cNvSpPr txBox="1"/>
          <p:nvPr/>
        </p:nvSpPr>
        <p:spPr>
          <a:xfrm>
            <a:off x="11384280" y="6473952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/>
            <a:r>
              <a:rPr lang="en-US" sz="720" dirty="0">
                <a:solidFill>
                  <a:srgbClr val="708090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1F33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02920" y="310896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51206" rIns="73152" bIns="51206"/>
          <a:lstStyle/>
          <a:p>
            <a:pPr algn="l"/>
            <a:r>
              <a:rPr lang="en-US" sz="850" dirty="0" b="1">
                <a:solidFill>
                  <a:srgbClr val="1E5AA8"/>
                </a:solidFill>
              </a:rPr>
              <a:t>CONTROL ACTUATION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502920" y="530352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2400" dirty="0" b="1">
                <a:solidFill>
                  <a:srgbClr val="102033"/>
                </a:solidFill>
              </a:rPr>
              <a:t>7. Custom knob-turning modules are more repeatable than robotic gripping</a:t>
            </a:r>
          </a:p>
        </p:txBody>
      </p:sp>
      <p:sp>
        <p:nvSpPr>
          <p:cNvPr id="5" name="line 5"/>
          <p:cNvSpPr/>
          <p:nvPr/>
        </p:nvSpPr>
        <p:spPr>
          <a:xfrm flipH="0" flipV="0">
            <a:off x="502920" y="1078992"/>
            <a:ext cx="11155680" cy="1"/>
          </a:xfrm>
          <a:prstGeom prst="line">
            <a:avLst/>
          </a:prstGeom>
          <a:ln w="12700">
            <a:solidFill>
              <a:srgbClr val="D5DDE5"/>
            </a:solidFill>
          </a:ln>
        </p:spPr>
      </p:sp>
      <p:sp>
        <p:nvSpPr>
          <p:cNvPr id="6" name="shape 6"/>
          <p:cNvSpPr/>
          <p:nvPr/>
        </p:nvSpPr>
        <p:spPr>
          <a:xfrm>
            <a:off x="685800" y="1234440"/>
            <a:ext cx="1042416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5"/>
            </a:solidFill>
          </a:ln>
        </p:spPr>
      </p:sp>
      <p:sp>
        <p:nvSpPr>
          <p:cNvPr id="7" name="shape 7"/>
          <p:cNvSpPr/>
          <p:nvPr/>
        </p:nvSpPr>
        <p:spPr>
          <a:xfrm>
            <a:off x="685800" y="1234440"/>
            <a:ext cx="73152" cy="804672"/>
          </a:xfrm>
          <a:prstGeom prst="rect">
            <a:avLst/>
          </a:prstGeom>
          <a:solidFill>
            <a:srgbClr val="1E5AA8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850392" y="1362456"/>
            <a:ext cx="101041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100" dirty="0" b="1">
                <a:solidFill>
                  <a:srgbClr val="1E5AA8"/>
                </a:solidFill>
              </a:rPr>
              <a:t>Why dedicated modules win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850392" y="1691640"/>
            <a:ext cx="101041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880" dirty="0">
                <a:solidFill>
                  <a:srgbClr val="52667A"/>
                </a:solidFill>
              </a:rPr>
              <a:t>A knob test needs angle, direction, detent count, torque consistency, and pass/fail correlation—not human-like finger posture. A direct rotary module is mechanically simpler and easier to measure.</a:t>
            </a:r>
          </a:p>
        </p:txBody>
      </p:sp>
      <p:sp>
        <p:nvSpPr>
          <p:cNvPr id="10" name="shape 10"/>
          <p:cNvSpPr/>
          <p:nvPr/>
        </p:nvSpPr>
        <p:spPr>
          <a:xfrm>
            <a:off x="777240" y="2514600"/>
            <a:ext cx="233172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5"/>
            </a:solidFill>
          </a:ln>
        </p:spPr>
      </p:sp>
      <p:sp>
        <p:nvSpPr>
          <p:cNvPr id="11" name="ellipse 11"/>
          <p:cNvSpPr/>
          <p:nvPr/>
        </p:nvSpPr>
        <p:spPr>
          <a:xfrm>
            <a:off x="1097280" y="2971800"/>
            <a:ext cx="713232" cy="713232"/>
          </a:xfrm>
          <a:prstGeom prst="ellipse">
            <a:avLst/>
          </a:prstGeom>
          <a:solidFill>
            <a:srgbClr val="E6EBF0"/>
          </a:solidFill>
          <a:ln w="12700">
            <a:solidFill>
              <a:srgbClr val="6E7F90"/>
            </a:solidFill>
          </a:ln>
        </p:spPr>
      </p:sp>
      <p:sp>
        <p:nvSpPr>
          <p:cNvPr id="12" name="shape 12"/>
          <p:cNvSpPr/>
          <p:nvPr/>
        </p:nvSpPr>
        <p:spPr>
          <a:xfrm>
            <a:off x="2075688" y="3063240"/>
            <a:ext cx="594360" cy="411480"/>
          </a:xfrm>
          <a:prstGeom prst="roundRect">
            <a:avLst/>
          </a:prstGeom>
          <a:solidFill>
            <a:srgbClr val="1E5AA8"/>
          </a:solidFill>
          <a:ln>
            <a:noFill/>
          </a:ln>
        </p:spPr>
      </p:sp>
      <p:sp>
        <p:nvSpPr>
          <p:cNvPr id="13" name="line 13"/>
          <p:cNvSpPr/>
          <p:nvPr/>
        </p:nvSpPr>
        <p:spPr>
          <a:xfrm flipH="0" flipV="1">
            <a:off x="1801368" y="3264408"/>
            <a:ext cx="274319" cy="64008"/>
          </a:xfrm>
          <a:prstGeom prst="line">
            <a:avLst/>
          </a:prstGeom>
          <a:ln w="17780">
            <a:solidFill>
              <a:srgbClr val="1E5AA8"/>
            </a:solidFill>
            <a:headEnd type="triangle"/>
          </a:ln>
        </p:spPr>
      </p:sp>
      <p:sp>
        <p:nvSpPr>
          <p:cNvPr id="14" name="text 14"/>
          <p:cNvSpPr txBox="1"/>
          <p:nvPr/>
        </p:nvSpPr>
        <p:spPr>
          <a:xfrm>
            <a:off x="941832" y="3822191"/>
            <a:ext cx="20116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900" dirty="0" b="1">
                <a:solidFill>
                  <a:srgbClr val="102033"/>
                </a:solidFill>
              </a:rPr>
              <a:t>Direct coupler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978408" y="4078224"/>
            <a:ext cx="192024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720" dirty="0">
                <a:solidFill>
                  <a:srgbClr val="52667A"/>
                </a:solidFill>
              </a:rPr>
              <a:t>best for exposed shaft / adapter</a:t>
            </a:r>
          </a:p>
        </p:txBody>
      </p:sp>
      <p:sp>
        <p:nvSpPr>
          <p:cNvPr id="16" name="shape 16"/>
          <p:cNvSpPr/>
          <p:nvPr/>
        </p:nvSpPr>
        <p:spPr>
          <a:xfrm>
            <a:off x="3566160" y="2514600"/>
            <a:ext cx="233172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5"/>
            </a:solidFill>
          </a:ln>
        </p:spPr>
      </p:sp>
      <p:sp>
        <p:nvSpPr>
          <p:cNvPr id="17" name="ellipse 17"/>
          <p:cNvSpPr/>
          <p:nvPr/>
        </p:nvSpPr>
        <p:spPr>
          <a:xfrm>
            <a:off x="3886200" y="2971800"/>
            <a:ext cx="713232" cy="713232"/>
          </a:xfrm>
          <a:prstGeom prst="ellipse">
            <a:avLst/>
          </a:prstGeom>
          <a:solidFill>
            <a:srgbClr val="E6EBF0"/>
          </a:solidFill>
          <a:ln w="12700">
            <a:solidFill>
              <a:srgbClr val="6E7F90"/>
            </a:solidFill>
          </a:ln>
        </p:spPr>
      </p:sp>
      <p:sp>
        <p:nvSpPr>
          <p:cNvPr id="18" name="shape 18"/>
          <p:cNvSpPr/>
          <p:nvPr/>
        </p:nvSpPr>
        <p:spPr>
          <a:xfrm>
            <a:off x="4864608" y="3063240"/>
            <a:ext cx="594360" cy="411480"/>
          </a:xfrm>
          <a:prstGeom prst="roundRect">
            <a:avLst/>
          </a:prstGeom>
          <a:solidFill>
            <a:srgbClr val="1E5AA8"/>
          </a:solidFill>
          <a:ln>
            <a:noFill/>
          </a:ln>
        </p:spPr>
      </p:sp>
      <p:sp>
        <p:nvSpPr>
          <p:cNvPr id="19" name="line 19"/>
          <p:cNvSpPr/>
          <p:nvPr/>
        </p:nvSpPr>
        <p:spPr>
          <a:xfrm flipH="0" flipV="1">
            <a:off x="4590288" y="3264408"/>
            <a:ext cx="274320" cy="64008"/>
          </a:xfrm>
          <a:prstGeom prst="line">
            <a:avLst/>
          </a:prstGeom>
          <a:ln w="17780">
            <a:solidFill>
              <a:srgbClr val="1E5AA8"/>
            </a:solidFill>
            <a:headEnd type="triangle"/>
          </a:ln>
        </p:spPr>
      </p:sp>
      <p:sp>
        <p:nvSpPr>
          <p:cNvPr id="20" name="ellipse 20"/>
          <p:cNvSpPr/>
          <p:nvPr/>
        </p:nvSpPr>
        <p:spPr>
          <a:xfrm>
            <a:off x="4206240" y="3328416"/>
            <a:ext cx="219456" cy="219456"/>
          </a:xfrm>
          <a:prstGeom prst="ellipse">
            <a:avLst/>
          </a:prstGeom>
          <a:solidFill>
            <a:srgbClr val="B26A00"/>
          </a:solidFill>
          <a:ln>
            <a:noFill/>
          </a:ln>
        </p:spPr>
      </p:sp>
      <p:sp>
        <p:nvSpPr>
          <p:cNvPr id="21" name="text 21"/>
          <p:cNvSpPr txBox="1"/>
          <p:nvPr/>
        </p:nvSpPr>
        <p:spPr>
          <a:xfrm>
            <a:off x="3730752" y="3822191"/>
            <a:ext cx="20116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900" dirty="0" b="1">
                <a:solidFill>
                  <a:srgbClr val="102033"/>
                </a:solidFill>
              </a:rPr>
              <a:t>Friction wheel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3767328" y="4078224"/>
            <a:ext cx="192024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720" dirty="0">
                <a:solidFill>
                  <a:srgbClr val="52667A"/>
                </a:solidFill>
              </a:rPr>
              <a:t>best for existing knob surface</a:t>
            </a:r>
          </a:p>
        </p:txBody>
      </p:sp>
      <p:sp>
        <p:nvSpPr>
          <p:cNvPr id="23" name="shape 23"/>
          <p:cNvSpPr/>
          <p:nvPr/>
        </p:nvSpPr>
        <p:spPr>
          <a:xfrm>
            <a:off x="6355079" y="2514600"/>
            <a:ext cx="233172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5"/>
            </a:solidFill>
          </a:ln>
        </p:spPr>
      </p:sp>
      <p:sp>
        <p:nvSpPr>
          <p:cNvPr id="24" name="ellipse 24"/>
          <p:cNvSpPr/>
          <p:nvPr/>
        </p:nvSpPr>
        <p:spPr>
          <a:xfrm>
            <a:off x="6675119" y="2971800"/>
            <a:ext cx="713232" cy="713232"/>
          </a:xfrm>
          <a:prstGeom prst="ellipse">
            <a:avLst/>
          </a:prstGeom>
          <a:solidFill>
            <a:srgbClr val="E6EBF0"/>
          </a:solidFill>
          <a:ln w="12700">
            <a:solidFill>
              <a:srgbClr val="6E7F90"/>
            </a:solidFill>
          </a:ln>
        </p:spPr>
      </p:sp>
      <p:sp>
        <p:nvSpPr>
          <p:cNvPr id="25" name="shape 25"/>
          <p:cNvSpPr/>
          <p:nvPr/>
        </p:nvSpPr>
        <p:spPr>
          <a:xfrm>
            <a:off x="7653527" y="3063240"/>
            <a:ext cx="594360" cy="411480"/>
          </a:xfrm>
          <a:prstGeom prst="roundRect">
            <a:avLst/>
          </a:prstGeom>
          <a:solidFill>
            <a:srgbClr val="1E5AA8"/>
          </a:solidFill>
          <a:ln>
            <a:noFill/>
          </a:ln>
        </p:spPr>
      </p:sp>
      <p:sp>
        <p:nvSpPr>
          <p:cNvPr id="26" name="line 26"/>
          <p:cNvSpPr/>
          <p:nvPr/>
        </p:nvSpPr>
        <p:spPr>
          <a:xfrm flipH="0" flipV="1">
            <a:off x="7379208" y="3264408"/>
            <a:ext cx="274319" cy="64008"/>
          </a:xfrm>
          <a:prstGeom prst="line">
            <a:avLst/>
          </a:prstGeom>
          <a:ln w="17780">
            <a:solidFill>
              <a:srgbClr val="1E5AA8"/>
            </a:solidFill>
            <a:headEnd type="triangle"/>
          </a:ln>
        </p:spPr>
      </p:sp>
      <p:sp>
        <p:nvSpPr>
          <p:cNvPr id="27" name="text 27"/>
          <p:cNvSpPr txBox="1"/>
          <p:nvPr/>
        </p:nvSpPr>
        <p:spPr>
          <a:xfrm>
            <a:off x="6519671" y="3822191"/>
            <a:ext cx="20116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900" dirty="0" b="1">
                <a:solidFill>
                  <a:srgbClr val="102033"/>
                </a:solidFill>
              </a:rPr>
              <a:t>Clamp collar</a:t>
            </a:r>
          </a:p>
        </p:txBody>
      </p:sp>
      <p:sp>
        <p:nvSpPr>
          <p:cNvPr id="28" name="text 28"/>
          <p:cNvSpPr txBox="1"/>
          <p:nvPr/>
        </p:nvSpPr>
        <p:spPr>
          <a:xfrm>
            <a:off x="6556247" y="4078224"/>
            <a:ext cx="192024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720" dirty="0">
                <a:solidFill>
                  <a:srgbClr val="52667A"/>
                </a:solidFill>
              </a:rPr>
              <a:t>best for repeatable production fixture</a:t>
            </a:r>
          </a:p>
        </p:txBody>
      </p:sp>
      <p:sp>
        <p:nvSpPr>
          <p:cNvPr id="29" name="shape 29"/>
          <p:cNvSpPr/>
          <p:nvPr/>
        </p:nvSpPr>
        <p:spPr>
          <a:xfrm>
            <a:off x="9143999" y="2514600"/>
            <a:ext cx="233172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5"/>
            </a:solidFill>
          </a:ln>
        </p:spPr>
      </p:sp>
      <p:sp>
        <p:nvSpPr>
          <p:cNvPr id="30" name="ellipse 30"/>
          <p:cNvSpPr/>
          <p:nvPr/>
        </p:nvSpPr>
        <p:spPr>
          <a:xfrm>
            <a:off x="9464039" y="2971800"/>
            <a:ext cx="713232" cy="713232"/>
          </a:xfrm>
          <a:prstGeom prst="ellipse">
            <a:avLst/>
          </a:prstGeom>
          <a:solidFill>
            <a:srgbClr val="E6EBF0"/>
          </a:solidFill>
          <a:ln w="12700">
            <a:solidFill>
              <a:srgbClr val="6E7F90"/>
            </a:solidFill>
          </a:ln>
        </p:spPr>
      </p:sp>
      <p:sp>
        <p:nvSpPr>
          <p:cNvPr id="31" name="shape 31"/>
          <p:cNvSpPr/>
          <p:nvPr/>
        </p:nvSpPr>
        <p:spPr>
          <a:xfrm>
            <a:off x="10442447" y="3063240"/>
            <a:ext cx="594360" cy="411480"/>
          </a:xfrm>
          <a:prstGeom prst="roundRect">
            <a:avLst/>
          </a:prstGeom>
          <a:solidFill>
            <a:srgbClr val="1E5AA8"/>
          </a:solidFill>
          <a:ln>
            <a:noFill/>
          </a:ln>
        </p:spPr>
      </p:sp>
      <p:sp>
        <p:nvSpPr>
          <p:cNvPr id="32" name="line 32"/>
          <p:cNvSpPr/>
          <p:nvPr/>
        </p:nvSpPr>
        <p:spPr>
          <a:xfrm flipH="0" flipV="1">
            <a:off x="10168127" y="3264408"/>
            <a:ext cx="274320" cy="64008"/>
          </a:xfrm>
          <a:prstGeom prst="line">
            <a:avLst/>
          </a:prstGeom>
          <a:ln w="17780">
            <a:solidFill>
              <a:srgbClr val="1E5AA8"/>
            </a:solidFill>
            <a:headEnd type="triangle"/>
          </a:ln>
        </p:spPr>
      </p:sp>
      <p:sp>
        <p:nvSpPr>
          <p:cNvPr id="33" name="line 33"/>
          <p:cNvSpPr/>
          <p:nvPr/>
        </p:nvSpPr>
        <p:spPr>
          <a:xfrm flipH="0" flipV="0">
            <a:off x="9820655" y="2697480"/>
            <a:ext cx="1" cy="274319"/>
          </a:xfrm>
          <a:prstGeom prst="line">
            <a:avLst/>
          </a:prstGeom>
          <a:ln w="17780">
            <a:solidFill>
              <a:srgbClr val="2E7D32"/>
            </a:solidFill>
            <a:headEnd type="triangle"/>
          </a:ln>
        </p:spPr>
      </p:sp>
      <p:sp>
        <p:nvSpPr>
          <p:cNvPr id="34" name="text 34"/>
          <p:cNvSpPr txBox="1"/>
          <p:nvPr/>
        </p:nvSpPr>
        <p:spPr>
          <a:xfrm>
            <a:off x="9308591" y="3822191"/>
            <a:ext cx="20116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900" dirty="0" b="1">
                <a:solidFill>
                  <a:srgbClr val="102033"/>
                </a:solidFill>
              </a:rPr>
              <a:t>Push-turn stack</a:t>
            </a:r>
          </a:p>
        </p:txBody>
      </p:sp>
      <p:sp>
        <p:nvSpPr>
          <p:cNvPr id="35" name="text 35"/>
          <p:cNvSpPr txBox="1"/>
          <p:nvPr/>
        </p:nvSpPr>
        <p:spPr>
          <a:xfrm>
            <a:off x="9345167" y="4078224"/>
            <a:ext cx="192024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720" dirty="0">
                <a:solidFill>
                  <a:srgbClr val="52667A"/>
                </a:solidFill>
              </a:rPr>
              <a:t>best for encoder with center push</a:t>
            </a:r>
          </a:p>
        </p:txBody>
      </p:sp>
      <p:sp>
        <p:nvSpPr>
          <p:cNvPr id="36" name="text 36"/>
          <p:cNvSpPr txBox="1"/>
          <p:nvPr/>
        </p:nvSpPr>
        <p:spPr>
          <a:xfrm>
            <a:off x="777240" y="5074920"/>
            <a:ext cx="2194560" cy="310896"/>
          </a:xfrm>
          <a:prstGeom prst="rect">
            <a:avLst/>
          </a:prstGeom>
          <a:solidFill>
            <a:srgbClr val="0B1F33"/>
          </a:solidFill>
          <a:ln w="12700">
            <a:solidFill>
              <a:srgbClr val="FFFFFF"/>
            </a:solidFill>
          </a:ln>
        </p:spPr>
        <p:txBody>
          <a:bodyPr wrap="square" anchor="ctr" lIns="36576" tIns="25603" rIns="36576" bIns="25603"/>
          <a:lstStyle/>
          <a:p>
            <a:pPr algn="ctr"/>
            <a:r>
              <a:rPr lang="en-US" sz="860" dirty="0" b="1">
                <a:solidFill>
                  <a:srgbClr val="FFFFFF"/>
                </a:solidFill>
              </a:rPr>
              <a:t>Measured item</a:t>
            </a:r>
          </a:p>
        </p:txBody>
      </p:sp>
      <p:sp>
        <p:nvSpPr>
          <p:cNvPr id="37" name="text 37"/>
          <p:cNvSpPr txBox="1"/>
          <p:nvPr/>
        </p:nvSpPr>
        <p:spPr>
          <a:xfrm>
            <a:off x="2971800" y="5074920"/>
            <a:ext cx="2286000" cy="310896"/>
          </a:xfrm>
          <a:prstGeom prst="rect">
            <a:avLst/>
          </a:prstGeom>
          <a:solidFill>
            <a:srgbClr val="0B1F33"/>
          </a:solidFill>
          <a:ln w="12700">
            <a:solidFill>
              <a:srgbClr val="FFFFFF"/>
            </a:solidFill>
          </a:ln>
        </p:spPr>
        <p:txBody>
          <a:bodyPr wrap="square" anchor="ctr" lIns="36576" tIns="25603" rIns="36576" bIns="25603"/>
          <a:lstStyle/>
          <a:p>
            <a:pPr algn="ctr"/>
            <a:r>
              <a:rPr lang="en-US" sz="860" dirty="0" b="1">
                <a:solidFill>
                  <a:srgbClr val="FFFFFF"/>
                </a:solidFill>
              </a:rPr>
              <a:t>Angle</a:t>
            </a:r>
          </a:p>
        </p:txBody>
      </p:sp>
      <p:sp>
        <p:nvSpPr>
          <p:cNvPr id="38" name="text 38"/>
          <p:cNvSpPr txBox="1"/>
          <p:nvPr/>
        </p:nvSpPr>
        <p:spPr>
          <a:xfrm>
            <a:off x="5257800" y="5074920"/>
            <a:ext cx="2286000" cy="310896"/>
          </a:xfrm>
          <a:prstGeom prst="rect">
            <a:avLst/>
          </a:prstGeom>
          <a:solidFill>
            <a:srgbClr val="0B1F33"/>
          </a:solidFill>
          <a:ln w="12700">
            <a:solidFill>
              <a:srgbClr val="FFFFFF"/>
            </a:solidFill>
          </a:ln>
        </p:spPr>
        <p:txBody>
          <a:bodyPr wrap="square" anchor="ctr" lIns="36576" tIns="25603" rIns="36576" bIns="25603"/>
          <a:lstStyle/>
          <a:p>
            <a:pPr algn="ctr"/>
            <a:r>
              <a:rPr lang="en-US" sz="860" dirty="0" b="1">
                <a:solidFill>
                  <a:srgbClr val="FFFFFF"/>
                </a:solidFill>
              </a:rPr>
              <a:t>Detents</a:t>
            </a:r>
          </a:p>
        </p:txBody>
      </p:sp>
      <p:sp>
        <p:nvSpPr>
          <p:cNvPr id="39" name="text 39"/>
          <p:cNvSpPr txBox="1"/>
          <p:nvPr/>
        </p:nvSpPr>
        <p:spPr>
          <a:xfrm>
            <a:off x="7543800" y="5074920"/>
            <a:ext cx="2468880" cy="310896"/>
          </a:xfrm>
          <a:prstGeom prst="rect">
            <a:avLst/>
          </a:prstGeom>
          <a:solidFill>
            <a:srgbClr val="0B1F33"/>
          </a:solidFill>
          <a:ln w="12700">
            <a:solidFill>
              <a:srgbClr val="FFFFFF"/>
            </a:solidFill>
          </a:ln>
        </p:spPr>
        <p:txBody>
          <a:bodyPr wrap="square" anchor="ctr" lIns="36576" tIns="25603" rIns="36576" bIns="25603"/>
          <a:lstStyle/>
          <a:p>
            <a:pPr algn="ctr"/>
            <a:r>
              <a:rPr lang="en-US" sz="860" dirty="0" b="1">
                <a:solidFill>
                  <a:srgbClr val="FFFFFF"/>
                </a:solidFill>
              </a:rPr>
              <a:t>Speed</a:t>
            </a:r>
          </a:p>
        </p:txBody>
      </p:sp>
      <p:sp>
        <p:nvSpPr>
          <p:cNvPr id="40" name="text 40"/>
          <p:cNvSpPr txBox="1"/>
          <p:nvPr/>
        </p:nvSpPr>
        <p:spPr>
          <a:xfrm>
            <a:off x="10012680" y="5074920"/>
            <a:ext cx="1554480" cy="310896"/>
          </a:xfrm>
          <a:prstGeom prst="rect">
            <a:avLst/>
          </a:prstGeom>
          <a:solidFill>
            <a:srgbClr val="0B1F33"/>
          </a:solidFill>
          <a:ln w="12700">
            <a:solidFill>
              <a:srgbClr val="FFFFFF"/>
            </a:solidFill>
          </a:ln>
        </p:spPr>
        <p:txBody>
          <a:bodyPr wrap="square" anchor="ctr" lIns="36576" tIns="25603" rIns="36576" bIns="25603"/>
          <a:lstStyle/>
          <a:p>
            <a:pPr algn="ctr"/>
            <a:r>
              <a:rPr lang="en-US" sz="860" dirty="0" b="1">
                <a:solidFill>
                  <a:srgbClr val="FFFFFF"/>
                </a:solidFill>
              </a:rPr>
              <a:t>End stop / push</a:t>
            </a:r>
          </a:p>
        </p:txBody>
      </p:sp>
      <p:sp>
        <p:nvSpPr>
          <p:cNvPr id="41" name="text 41"/>
          <p:cNvSpPr txBox="1"/>
          <p:nvPr/>
        </p:nvSpPr>
        <p:spPr>
          <a:xfrm>
            <a:off x="777240" y="5385816"/>
            <a:ext cx="21945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Rotary encoder</a:t>
            </a:r>
          </a:p>
        </p:txBody>
      </p:sp>
      <p:sp>
        <p:nvSpPr>
          <p:cNvPr id="42" name="text 42"/>
          <p:cNvSpPr txBox="1"/>
          <p:nvPr/>
        </p:nvSpPr>
        <p:spPr>
          <a:xfrm>
            <a:off x="2971800" y="5385816"/>
            <a:ext cx="22860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yes</a:t>
            </a:r>
          </a:p>
        </p:txBody>
      </p:sp>
      <p:sp>
        <p:nvSpPr>
          <p:cNvPr id="43" name="text 43"/>
          <p:cNvSpPr txBox="1"/>
          <p:nvPr/>
        </p:nvSpPr>
        <p:spPr>
          <a:xfrm>
            <a:off x="5257800" y="5385816"/>
            <a:ext cx="22860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yes</a:t>
            </a:r>
          </a:p>
        </p:txBody>
      </p:sp>
      <p:sp>
        <p:nvSpPr>
          <p:cNvPr id="44" name="text 44"/>
          <p:cNvSpPr txBox="1"/>
          <p:nvPr/>
        </p:nvSpPr>
        <p:spPr>
          <a:xfrm>
            <a:off x="7543800" y="5385816"/>
            <a:ext cx="24688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yes</a:t>
            </a:r>
          </a:p>
        </p:txBody>
      </p:sp>
      <p:sp>
        <p:nvSpPr>
          <p:cNvPr id="45" name="text 45"/>
          <p:cNvSpPr txBox="1"/>
          <p:nvPr/>
        </p:nvSpPr>
        <p:spPr>
          <a:xfrm>
            <a:off x="10012680" y="5385816"/>
            <a:ext cx="15544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optional</a:t>
            </a:r>
          </a:p>
        </p:txBody>
      </p:sp>
      <p:sp>
        <p:nvSpPr>
          <p:cNvPr id="46" name="text 46"/>
          <p:cNvSpPr txBox="1"/>
          <p:nvPr/>
        </p:nvSpPr>
        <p:spPr>
          <a:xfrm>
            <a:off x="777240" y="5696712"/>
            <a:ext cx="2194560" cy="310896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Volume/HVAC knob</a:t>
            </a:r>
          </a:p>
        </p:txBody>
      </p:sp>
      <p:sp>
        <p:nvSpPr>
          <p:cNvPr id="47" name="text 47"/>
          <p:cNvSpPr txBox="1"/>
          <p:nvPr/>
        </p:nvSpPr>
        <p:spPr>
          <a:xfrm>
            <a:off x="2971800" y="5696712"/>
            <a:ext cx="2286000" cy="310896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yes</a:t>
            </a:r>
          </a:p>
        </p:txBody>
      </p:sp>
      <p:sp>
        <p:nvSpPr>
          <p:cNvPr id="48" name="text 48"/>
          <p:cNvSpPr txBox="1"/>
          <p:nvPr/>
        </p:nvSpPr>
        <p:spPr>
          <a:xfrm>
            <a:off x="5257800" y="5696712"/>
            <a:ext cx="2286000" cy="310896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possible</a:t>
            </a:r>
          </a:p>
        </p:txBody>
      </p:sp>
      <p:sp>
        <p:nvSpPr>
          <p:cNvPr id="49" name="text 49"/>
          <p:cNvSpPr txBox="1"/>
          <p:nvPr/>
        </p:nvSpPr>
        <p:spPr>
          <a:xfrm>
            <a:off x="7543800" y="5696712"/>
            <a:ext cx="2468880" cy="310896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yes</a:t>
            </a:r>
          </a:p>
        </p:txBody>
      </p:sp>
      <p:sp>
        <p:nvSpPr>
          <p:cNvPr id="50" name="text 50"/>
          <p:cNvSpPr txBox="1"/>
          <p:nvPr/>
        </p:nvSpPr>
        <p:spPr>
          <a:xfrm>
            <a:off x="10012680" y="5696712"/>
            <a:ext cx="1554480" cy="310896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possible</a:t>
            </a:r>
          </a:p>
        </p:txBody>
      </p:sp>
      <p:sp>
        <p:nvSpPr>
          <p:cNvPr id="51" name="text 51"/>
          <p:cNvSpPr txBox="1"/>
          <p:nvPr/>
        </p:nvSpPr>
        <p:spPr>
          <a:xfrm>
            <a:off x="777240" y="6007608"/>
            <a:ext cx="21945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Selector dial</a:t>
            </a:r>
          </a:p>
        </p:txBody>
      </p:sp>
      <p:sp>
        <p:nvSpPr>
          <p:cNvPr id="52" name="text 52"/>
          <p:cNvSpPr txBox="1"/>
          <p:nvPr/>
        </p:nvSpPr>
        <p:spPr>
          <a:xfrm>
            <a:off x="2971800" y="6007608"/>
            <a:ext cx="22860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yes</a:t>
            </a:r>
          </a:p>
        </p:txBody>
      </p:sp>
      <p:sp>
        <p:nvSpPr>
          <p:cNvPr id="53" name="text 53"/>
          <p:cNvSpPr txBox="1"/>
          <p:nvPr/>
        </p:nvSpPr>
        <p:spPr>
          <a:xfrm>
            <a:off x="5257800" y="6007608"/>
            <a:ext cx="22860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yes</a:t>
            </a:r>
          </a:p>
        </p:txBody>
      </p:sp>
      <p:sp>
        <p:nvSpPr>
          <p:cNvPr id="54" name="text 54"/>
          <p:cNvSpPr txBox="1"/>
          <p:nvPr/>
        </p:nvSpPr>
        <p:spPr>
          <a:xfrm>
            <a:off x="7543800" y="6007608"/>
            <a:ext cx="24688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yes</a:t>
            </a:r>
          </a:p>
        </p:txBody>
      </p:sp>
      <p:sp>
        <p:nvSpPr>
          <p:cNvPr id="55" name="text 55"/>
          <p:cNvSpPr txBox="1"/>
          <p:nvPr/>
        </p:nvSpPr>
        <p:spPr>
          <a:xfrm>
            <a:off x="10012680" y="6007608"/>
            <a:ext cx="15544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yes</a:t>
            </a:r>
          </a:p>
        </p:txBody>
      </p:sp>
      <p:sp>
        <p:nvSpPr>
          <p:cNvPr id="56" name="text 56"/>
          <p:cNvSpPr txBox="1"/>
          <p:nvPr/>
        </p:nvSpPr>
        <p:spPr>
          <a:xfrm>
            <a:off x="502920" y="6473952"/>
            <a:ext cx="56692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720" dirty="0">
                <a:solidFill>
                  <a:srgbClr val="708090"/>
                </a:solidFill>
              </a:rPr>
              <a:t>Static Robo HMI Test Jig vs. Robotic Hand  |  Research Deck</a:t>
            </a:r>
          </a:p>
        </p:txBody>
      </p:sp>
      <p:sp>
        <p:nvSpPr>
          <p:cNvPr id="57" name="text 57"/>
          <p:cNvSpPr txBox="1"/>
          <p:nvPr/>
        </p:nvSpPr>
        <p:spPr>
          <a:xfrm>
            <a:off x="11384280" y="6473952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/>
            <a:r>
              <a:rPr lang="en-US" sz="720" dirty="0">
                <a:solidFill>
                  <a:srgbClr val="708090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1F33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02920" y="310896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51206" rIns="73152" bIns="51206"/>
          <a:lstStyle/>
          <a:p>
            <a:pPr algn="l"/>
            <a:r>
              <a:rPr lang="en-US" sz="850" dirty="0" b="1">
                <a:solidFill>
                  <a:srgbClr val="1E5AA8"/>
                </a:solidFill>
              </a:rPr>
              <a:t>DEPLOYMENT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502920" y="530352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2400" dirty="0" b="1">
                <a:solidFill>
                  <a:srgbClr val="102033"/>
                </a:solidFill>
              </a:rPr>
              <a:t>8–9. Compact, lightweight, and suitable for in-vehicle dynamic testing</a:t>
            </a:r>
          </a:p>
        </p:txBody>
      </p:sp>
      <p:sp>
        <p:nvSpPr>
          <p:cNvPr id="5" name="line 5"/>
          <p:cNvSpPr/>
          <p:nvPr/>
        </p:nvSpPr>
        <p:spPr>
          <a:xfrm flipH="0" flipV="0">
            <a:off x="502920" y="1078992"/>
            <a:ext cx="11155680" cy="1"/>
          </a:xfrm>
          <a:prstGeom prst="line">
            <a:avLst/>
          </a:prstGeom>
          <a:ln w="12700">
            <a:solidFill>
              <a:srgbClr val="D5DDE5"/>
            </a:solidFill>
          </a:ln>
        </p:spPr>
      </p:sp>
      <p:sp>
        <p:nvSpPr>
          <p:cNvPr id="6" name="text 6"/>
          <p:cNvSpPr txBox="1"/>
          <p:nvPr/>
        </p:nvSpPr>
        <p:spPr>
          <a:xfrm>
            <a:off x="685800" y="1207008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300" dirty="0">
                <a:solidFill>
                  <a:srgbClr val="52667A"/>
                </a:solidFill>
              </a:rPr>
              <a:t>The fixture can be built as a compact bench/field system or mounted around an HMI inside a vehicle cabin for real-world validation.</a:t>
            </a:r>
          </a:p>
        </p:txBody>
      </p:sp>
      <p:sp>
        <p:nvSpPr>
          <p:cNvPr id="7" name="shape 7"/>
          <p:cNvSpPr/>
          <p:nvPr/>
        </p:nvSpPr>
        <p:spPr>
          <a:xfrm>
            <a:off x="777240" y="1965960"/>
            <a:ext cx="475488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5"/>
            </a:solidFill>
          </a:ln>
        </p:spPr>
      </p:sp>
      <p:sp>
        <p:nvSpPr>
          <p:cNvPr id="8" name="text 8"/>
          <p:cNvSpPr txBox="1"/>
          <p:nvPr/>
        </p:nvSpPr>
        <p:spPr>
          <a:xfrm>
            <a:off x="1005840" y="2212848"/>
            <a:ext cx="246888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000" dirty="0" b="1">
                <a:solidFill>
                  <a:srgbClr val="1E5AA8"/>
                </a:solidFill>
              </a:rPr>
              <a:t>Vehicle cabin mounting concept</a:t>
            </a:r>
          </a:p>
        </p:txBody>
      </p:sp>
      <p:sp>
        <p:nvSpPr>
          <p:cNvPr id="9" name="shape 9"/>
          <p:cNvSpPr/>
          <p:nvPr/>
        </p:nvSpPr>
        <p:spPr>
          <a:xfrm>
            <a:off x="1234440" y="3429000"/>
            <a:ext cx="3749039" cy="475488"/>
          </a:xfrm>
          <a:prstGeom prst="roundRect">
            <a:avLst/>
          </a:prstGeom>
          <a:solidFill>
            <a:srgbClr val="3B4B5C"/>
          </a:solidFill>
          <a:ln>
            <a:noFill/>
          </a:ln>
        </p:spPr>
      </p:sp>
      <p:sp>
        <p:nvSpPr>
          <p:cNvPr id="10" name="shape 10"/>
          <p:cNvSpPr/>
          <p:nvPr/>
        </p:nvSpPr>
        <p:spPr>
          <a:xfrm>
            <a:off x="1828800" y="2697480"/>
            <a:ext cx="2606040" cy="777240"/>
          </a:xfrm>
          <a:prstGeom prst="roundRect">
            <a:avLst/>
          </a:prstGeom>
          <a:solidFill>
            <a:srgbClr val="C7D2DC"/>
          </a:solidFill>
          <a:ln w="12700">
            <a:solidFill>
              <a:srgbClr val="6E7F90"/>
            </a:solidFill>
          </a:ln>
        </p:spPr>
      </p:sp>
      <p:sp>
        <p:nvSpPr>
          <p:cNvPr id="11" name="shape 11"/>
          <p:cNvSpPr/>
          <p:nvPr/>
        </p:nvSpPr>
        <p:spPr>
          <a:xfrm>
            <a:off x="2487168" y="2898648"/>
            <a:ext cx="1051560" cy="329184"/>
          </a:xfrm>
          <a:prstGeom prst="roundRect">
            <a:avLst/>
          </a:prstGeom>
          <a:solidFill>
            <a:srgbClr val="1E5AA8"/>
          </a:solidFill>
          <a:ln w="12700">
            <a:solidFill>
              <a:srgbClr val="9AC5E5"/>
            </a:solidFill>
          </a:ln>
        </p:spPr>
      </p:sp>
      <p:sp>
        <p:nvSpPr>
          <p:cNvPr id="12" name="text 12"/>
          <p:cNvSpPr txBox="1"/>
          <p:nvPr/>
        </p:nvSpPr>
        <p:spPr>
          <a:xfrm>
            <a:off x="2788920" y="2999232"/>
            <a:ext cx="347472" cy="7315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600" dirty="0" b="1">
                <a:solidFill>
                  <a:srgbClr val="FFFFFF"/>
                </a:solidFill>
              </a:rPr>
              <a:t>HMI</a:t>
            </a:r>
          </a:p>
        </p:txBody>
      </p:sp>
      <p:sp>
        <p:nvSpPr>
          <p:cNvPr id="13" name="shape 13"/>
          <p:cNvSpPr/>
          <p:nvPr/>
        </p:nvSpPr>
        <p:spPr>
          <a:xfrm>
            <a:off x="2286000" y="2578608"/>
            <a:ext cx="1417320" cy="73152"/>
          </a:xfrm>
          <a:prstGeom prst="rect">
            <a:avLst/>
          </a:prstGeom>
          <a:solidFill>
            <a:srgbClr val="B26A00"/>
          </a:solidFill>
          <a:ln>
            <a:noFill/>
          </a:ln>
        </p:spPr>
      </p:sp>
      <p:sp>
        <p:nvSpPr>
          <p:cNvPr id="14" name="shape 14"/>
          <p:cNvSpPr/>
          <p:nvPr/>
        </p:nvSpPr>
        <p:spPr>
          <a:xfrm>
            <a:off x="2286000" y="3310128"/>
            <a:ext cx="1417320" cy="73152"/>
          </a:xfrm>
          <a:prstGeom prst="rect">
            <a:avLst/>
          </a:prstGeom>
          <a:solidFill>
            <a:srgbClr val="B26A00"/>
          </a:solidFill>
          <a:ln>
            <a:noFill/>
          </a:ln>
        </p:spPr>
      </p:sp>
      <p:sp>
        <p:nvSpPr>
          <p:cNvPr id="15" name="line 15"/>
          <p:cNvSpPr/>
          <p:nvPr/>
        </p:nvSpPr>
        <p:spPr>
          <a:xfrm flipH="0" flipV="0">
            <a:off x="2377440" y="2578608"/>
            <a:ext cx="1" cy="210311"/>
          </a:xfrm>
          <a:prstGeom prst="line">
            <a:avLst/>
          </a:prstGeom>
          <a:ln w="12700">
            <a:solidFill>
              <a:srgbClr val="B26A00"/>
            </a:solidFill>
            <a:headEnd type="triangle"/>
          </a:ln>
        </p:spPr>
      </p:sp>
      <p:sp>
        <p:nvSpPr>
          <p:cNvPr id="16" name="line 16"/>
          <p:cNvSpPr/>
          <p:nvPr/>
        </p:nvSpPr>
        <p:spPr>
          <a:xfrm flipH="0" flipV="0">
            <a:off x="3611880" y="2578608"/>
            <a:ext cx="1" cy="210311"/>
          </a:xfrm>
          <a:prstGeom prst="line">
            <a:avLst/>
          </a:prstGeom>
          <a:ln w="12700">
            <a:solidFill>
              <a:srgbClr val="B26A00"/>
            </a:solidFill>
            <a:headEnd type="triangle"/>
          </a:ln>
        </p:spPr>
      </p:sp>
      <p:sp>
        <p:nvSpPr>
          <p:cNvPr id="17" name="ellipse 17"/>
          <p:cNvSpPr/>
          <p:nvPr/>
        </p:nvSpPr>
        <p:spPr>
          <a:xfrm>
            <a:off x="1417320" y="3977639"/>
            <a:ext cx="411480" cy="411480"/>
          </a:xfrm>
          <a:prstGeom prst="ellipse">
            <a:avLst/>
          </a:prstGeom>
          <a:solidFill>
            <a:srgbClr val="111A22"/>
          </a:solidFill>
          <a:ln w="12700">
            <a:solidFill>
              <a:srgbClr val="6E7F90"/>
            </a:solidFill>
          </a:ln>
        </p:spPr>
      </p:sp>
      <p:sp>
        <p:nvSpPr>
          <p:cNvPr id="18" name="ellipse 18"/>
          <p:cNvSpPr/>
          <p:nvPr/>
        </p:nvSpPr>
        <p:spPr>
          <a:xfrm>
            <a:off x="4434840" y="3977639"/>
            <a:ext cx="411480" cy="411480"/>
          </a:xfrm>
          <a:prstGeom prst="ellipse">
            <a:avLst/>
          </a:prstGeom>
          <a:solidFill>
            <a:srgbClr val="111A22"/>
          </a:solidFill>
          <a:ln w="12700">
            <a:solidFill>
              <a:srgbClr val="6E7F90"/>
            </a:solidFill>
          </a:ln>
        </p:spPr>
      </p:sp>
      <p:sp>
        <p:nvSpPr>
          <p:cNvPr id="19" name="shape 19"/>
          <p:cNvSpPr/>
          <p:nvPr/>
        </p:nvSpPr>
        <p:spPr>
          <a:xfrm>
            <a:off x="6172200" y="1965960"/>
            <a:ext cx="475488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5"/>
            </a:solidFill>
          </a:ln>
        </p:spPr>
      </p:sp>
      <p:sp>
        <p:nvSpPr>
          <p:cNvPr id="20" name="text 20"/>
          <p:cNvSpPr txBox="1"/>
          <p:nvPr/>
        </p:nvSpPr>
        <p:spPr>
          <a:xfrm>
            <a:off x="6400800" y="2212848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000" dirty="0" b="1">
                <a:solidFill>
                  <a:srgbClr val="1E5AA8"/>
                </a:solidFill>
              </a:rPr>
              <a:t>Portability attributes</a:t>
            </a:r>
          </a:p>
        </p:txBody>
      </p:sp>
      <p:sp>
        <p:nvSpPr>
          <p:cNvPr id="21" name="shape 21"/>
          <p:cNvSpPr/>
          <p:nvPr/>
        </p:nvSpPr>
        <p:spPr>
          <a:xfrm>
            <a:off x="6583680" y="2651760"/>
            <a:ext cx="3611880" cy="228600"/>
          </a:xfrm>
          <a:prstGeom prst="roundRect">
            <a:avLst/>
          </a:prstGeom>
          <a:solidFill>
            <a:srgbClr val="1E5AA8"/>
          </a:solidFill>
          <a:ln>
            <a:noFill/>
          </a:ln>
        </p:spPr>
      </p:sp>
      <p:sp>
        <p:nvSpPr>
          <p:cNvPr id="22" name="text 22"/>
          <p:cNvSpPr txBox="1"/>
          <p:nvPr/>
        </p:nvSpPr>
        <p:spPr>
          <a:xfrm>
            <a:off x="6720840" y="2706624"/>
            <a:ext cx="3017520" cy="914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730" dirty="0" b="1">
                <a:solidFill>
                  <a:srgbClr val="FFFFFF"/>
                </a:solidFill>
              </a:rPr>
              <a:t>bench-top footprint</a:t>
            </a:r>
          </a:p>
        </p:txBody>
      </p:sp>
      <p:sp>
        <p:nvSpPr>
          <p:cNvPr id="23" name="shape 23"/>
          <p:cNvSpPr/>
          <p:nvPr/>
        </p:nvSpPr>
        <p:spPr>
          <a:xfrm>
            <a:off x="6583680" y="3035808"/>
            <a:ext cx="3611880" cy="228600"/>
          </a:xfrm>
          <a:prstGeom prst="roundRect">
            <a:avLst/>
          </a:prstGeom>
          <a:solidFill>
            <a:srgbClr val="0097A7"/>
          </a:solidFill>
          <a:ln>
            <a:noFill/>
          </a:ln>
        </p:spPr>
      </p:sp>
      <p:sp>
        <p:nvSpPr>
          <p:cNvPr id="24" name="text 24"/>
          <p:cNvSpPr txBox="1"/>
          <p:nvPr/>
        </p:nvSpPr>
        <p:spPr>
          <a:xfrm>
            <a:off x="6720840" y="3090672"/>
            <a:ext cx="3017520" cy="914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730" dirty="0" b="1">
                <a:solidFill>
                  <a:srgbClr val="FFFFFF"/>
                </a:solidFill>
              </a:rPr>
              <a:t>carry-case transport</a:t>
            </a:r>
          </a:p>
        </p:txBody>
      </p:sp>
      <p:sp>
        <p:nvSpPr>
          <p:cNvPr id="25" name="shape 25"/>
          <p:cNvSpPr/>
          <p:nvPr/>
        </p:nvSpPr>
        <p:spPr>
          <a:xfrm>
            <a:off x="6583680" y="3419856"/>
            <a:ext cx="3611880" cy="2286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</p:sp>
      <p:sp>
        <p:nvSpPr>
          <p:cNvPr id="26" name="text 26"/>
          <p:cNvSpPr txBox="1"/>
          <p:nvPr/>
        </p:nvSpPr>
        <p:spPr>
          <a:xfrm>
            <a:off x="6720840" y="3474720"/>
            <a:ext cx="3017520" cy="914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730" dirty="0" b="1">
                <a:solidFill>
                  <a:srgbClr val="FFFFFF"/>
                </a:solidFill>
              </a:rPr>
              <a:t>low vehicle power draw</a:t>
            </a:r>
          </a:p>
        </p:txBody>
      </p:sp>
      <p:sp>
        <p:nvSpPr>
          <p:cNvPr id="27" name="shape 27"/>
          <p:cNvSpPr/>
          <p:nvPr/>
        </p:nvSpPr>
        <p:spPr>
          <a:xfrm>
            <a:off x="6583680" y="3803904"/>
            <a:ext cx="3611880" cy="228600"/>
          </a:xfrm>
          <a:prstGeom prst="roundRect">
            <a:avLst/>
          </a:prstGeom>
          <a:solidFill>
            <a:srgbClr val="B26A00"/>
          </a:solidFill>
          <a:ln>
            <a:noFill/>
          </a:ln>
        </p:spPr>
      </p:sp>
      <p:sp>
        <p:nvSpPr>
          <p:cNvPr id="28" name="text 28"/>
          <p:cNvSpPr txBox="1"/>
          <p:nvPr/>
        </p:nvSpPr>
        <p:spPr>
          <a:xfrm>
            <a:off x="6720840" y="3858768"/>
            <a:ext cx="3017520" cy="914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730" dirty="0" b="1">
                <a:solidFill>
                  <a:srgbClr val="FFFFFF"/>
                </a:solidFill>
              </a:rPr>
              <a:t>vibration-tolerant mounting</a:t>
            </a:r>
          </a:p>
        </p:txBody>
      </p:sp>
      <p:sp>
        <p:nvSpPr>
          <p:cNvPr id="29" name="text 29"/>
          <p:cNvSpPr txBox="1"/>
          <p:nvPr/>
        </p:nvSpPr>
        <p:spPr>
          <a:xfrm>
            <a:off x="777240" y="5166360"/>
            <a:ext cx="2194560" cy="329184"/>
          </a:xfrm>
          <a:prstGeom prst="rect">
            <a:avLst/>
          </a:prstGeom>
          <a:solidFill>
            <a:srgbClr val="0B1F33"/>
          </a:solidFill>
          <a:ln w="12700">
            <a:solidFill>
              <a:srgbClr val="FFFFFF"/>
            </a:solidFill>
          </a:ln>
        </p:spPr>
        <p:txBody>
          <a:bodyPr wrap="square" anchor="ctr" lIns="36576" tIns="25603" rIns="36576" bIns="25603"/>
          <a:lstStyle/>
          <a:p>
            <a:pPr algn="ctr"/>
            <a:r>
              <a:rPr lang="en-US" sz="860" dirty="0" b="1">
                <a:solidFill>
                  <a:srgbClr val="FFFFFF"/>
                </a:solidFill>
              </a:rPr>
              <a:t>Real condition</a:t>
            </a:r>
          </a:p>
        </p:txBody>
      </p:sp>
      <p:sp>
        <p:nvSpPr>
          <p:cNvPr id="30" name="text 30"/>
          <p:cNvSpPr txBox="1"/>
          <p:nvPr/>
        </p:nvSpPr>
        <p:spPr>
          <a:xfrm>
            <a:off x="2971800" y="5166360"/>
            <a:ext cx="3017520" cy="329184"/>
          </a:xfrm>
          <a:prstGeom prst="rect">
            <a:avLst/>
          </a:prstGeom>
          <a:solidFill>
            <a:srgbClr val="0B1F33"/>
          </a:solidFill>
          <a:ln w="12700">
            <a:solidFill>
              <a:srgbClr val="FFFFFF"/>
            </a:solidFill>
          </a:ln>
        </p:spPr>
        <p:txBody>
          <a:bodyPr wrap="square" anchor="ctr" lIns="36576" tIns="25603" rIns="36576" bIns="25603"/>
          <a:lstStyle/>
          <a:p>
            <a:pPr algn="ctr"/>
            <a:r>
              <a:rPr lang="en-US" sz="860" dirty="0" b="1">
                <a:solidFill>
                  <a:srgbClr val="FFFFFF"/>
                </a:solidFill>
              </a:rPr>
              <a:t>Why it matters</a:t>
            </a:r>
          </a:p>
        </p:txBody>
      </p:sp>
      <p:sp>
        <p:nvSpPr>
          <p:cNvPr id="31" name="text 31"/>
          <p:cNvSpPr txBox="1"/>
          <p:nvPr/>
        </p:nvSpPr>
        <p:spPr>
          <a:xfrm>
            <a:off x="5989319" y="5166360"/>
            <a:ext cx="3017520" cy="329184"/>
          </a:xfrm>
          <a:prstGeom prst="rect">
            <a:avLst/>
          </a:prstGeom>
          <a:solidFill>
            <a:srgbClr val="0B1F33"/>
          </a:solidFill>
          <a:ln w="12700">
            <a:solidFill>
              <a:srgbClr val="FFFFFF"/>
            </a:solidFill>
          </a:ln>
        </p:spPr>
        <p:txBody>
          <a:bodyPr wrap="square" anchor="ctr" lIns="36576" tIns="25603" rIns="36576" bIns="25603"/>
          <a:lstStyle/>
          <a:p>
            <a:pPr algn="ctr"/>
            <a:r>
              <a:rPr lang="en-US" sz="860" dirty="0" b="1">
                <a:solidFill>
                  <a:srgbClr val="FFFFFF"/>
                </a:solidFill>
              </a:rPr>
              <a:t>Static jig advantage</a:t>
            </a:r>
          </a:p>
        </p:txBody>
      </p:sp>
      <p:sp>
        <p:nvSpPr>
          <p:cNvPr id="32" name="text 32"/>
          <p:cNvSpPr txBox="1"/>
          <p:nvPr/>
        </p:nvSpPr>
        <p:spPr>
          <a:xfrm>
            <a:off x="9006840" y="5166360"/>
            <a:ext cx="2011680" cy="329184"/>
          </a:xfrm>
          <a:prstGeom prst="rect">
            <a:avLst/>
          </a:prstGeom>
          <a:solidFill>
            <a:srgbClr val="0B1F33"/>
          </a:solidFill>
          <a:ln w="12700">
            <a:solidFill>
              <a:srgbClr val="FFFFFF"/>
            </a:solidFill>
          </a:ln>
        </p:spPr>
        <p:txBody>
          <a:bodyPr wrap="square" anchor="ctr" lIns="36576" tIns="25603" rIns="36576" bIns="25603"/>
          <a:lstStyle/>
          <a:p>
            <a:pPr algn="ctr"/>
            <a:r>
              <a:rPr lang="en-US" sz="860" dirty="0" b="1">
                <a:solidFill>
                  <a:srgbClr val="FFFFFF"/>
                </a:solidFill>
              </a:rPr>
              <a:t>Robotic hand issue</a:t>
            </a:r>
          </a:p>
        </p:txBody>
      </p:sp>
      <p:sp>
        <p:nvSpPr>
          <p:cNvPr id="33" name="text 33"/>
          <p:cNvSpPr txBox="1"/>
          <p:nvPr/>
        </p:nvSpPr>
        <p:spPr>
          <a:xfrm>
            <a:off x="777240" y="5495544"/>
            <a:ext cx="21945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vibration/shock</a:t>
            </a:r>
          </a:p>
        </p:txBody>
      </p:sp>
      <p:sp>
        <p:nvSpPr>
          <p:cNvPr id="34" name="text 34"/>
          <p:cNvSpPr txBox="1"/>
          <p:nvPr/>
        </p:nvSpPr>
        <p:spPr>
          <a:xfrm>
            <a:off x="2971800" y="5495544"/>
            <a:ext cx="30175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vehicle-representative testing</a:t>
            </a:r>
          </a:p>
        </p:txBody>
      </p:sp>
      <p:sp>
        <p:nvSpPr>
          <p:cNvPr id="35" name="text 35"/>
          <p:cNvSpPr txBox="1"/>
          <p:nvPr/>
        </p:nvSpPr>
        <p:spPr>
          <a:xfrm>
            <a:off x="5989319" y="5495544"/>
            <a:ext cx="30175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rigid, low-mass fixture</a:t>
            </a:r>
          </a:p>
        </p:txBody>
      </p:sp>
      <p:sp>
        <p:nvSpPr>
          <p:cNvPr id="36" name="text 36"/>
          <p:cNvSpPr txBox="1"/>
          <p:nvPr/>
        </p:nvSpPr>
        <p:spPr>
          <a:xfrm>
            <a:off x="9006840" y="5495544"/>
            <a:ext cx="20116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high inertia</a:t>
            </a:r>
          </a:p>
        </p:txBody>
      </p:sp>
      <p:sp>
        <p:nvSpPr>
          <p:cNvPr id="37" name="text 37"/>
          <p:cNvSpPr txBox="1"/>
          <p:nvPr/>
        </p:nvSpPr>
        <p:spPr>
          <a:xfrm>
            <a:off x="777240" y="5824728"/>
            <a:ext cx="2194560" cy="329184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lighting changes</a:t>
            </a:r>
          </a:p>
        </p:txBody>
      </p:sp>
      <p:sp>
        <p:nvSpPr>
          <p:cNvPr id="38" name="text 38"/>
          <p:cNvSpPr txBox="1"/>
          <p:nvPr/>
        </p:nvSpPr>
        <p:spPr>
          <a:xfrm>
            <a:off x="2971800" y="5824728"/>
            <a:ext cx="3017520" cy="329184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screen readability checks</a:t>
            </a:r>
          </a:p>
        </p:txBody>
      </p:sp>
      <p:sp>
        <p:nvSpPr>
          <p:cNvPr id="39" name="text 39"/>
          <p:cNvSpPr txBox="1"/>
          <p:nvPr/>
        </p:nvSpPr>
        <p:spPr>
          <a:xfrm>
            <a:off x="5989319" y="5824728"/>
            <a:ext cx="3017520" cy="329184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fixed camera + controlled reference</a:t>
            </a:r>
          </a:p>
        </p:txBody>
      </p:sp>
      <p:sp>
        <p:nvSpPr>
          <p:cNvPr id="40" name="text 40"/>
          <p:cNvSpPr txBox="1"/>
          <p:nvPr/>
        </p:nvSpPr>
        <p:spPr>
          <a:xfrm>
            <a:off x="9006840" y="5824728"/>
            <a:ext cx="2011680" cy="329184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separate setup</a:t>
            </a:r>
          </a:p>
        </p:txBody>
      </p:sp>
      <p:sp>
        <p:nvSpPr>
          <p:cNvPr id="41" name="text 41"/>
          <p:cNvSpPr txBox="1"/>
          <p:nvPr/>
        </p:nvSpPr>
        <p:spPr>
          <a:xfrm>
            <a:off x="777240" y="6153912"/>
            <a:ext cx="21945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power fluctuation</a:t>
            </a:r>
          </a:p>
        </p:txBody>
      </p:sp>
      <p:sp>
        <p:nvSpPr>
          <p:cNvPr id="42" name="text 42"/>
          <p:cNvSpPr txBox="1"/>
          <p:nvPr/>
        </p:nvSpPr>
        <p:spPr>
          <a:xfrm>
            <a:off x="2971800" y="6153912"/>
            <a:ext cx="30175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real ECU/HMI behavior</a:t>
            </a:r>
          </a:p>
        </p:txBody>
      </p:sp>
      <p:sp>
        <p:nvSpPr>
          <p:cNvPr id="43" name="text 43"/>
          <p:cNvSpPr txBox="1"/>
          <p:nvPr/>
        </p:nvSpPr>
        <p:spPr>
          <a:xfrm>
            <a:off x="5989319" y="6153912"/>
            <a:ext cx="30175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low draw + logging</a:t>
            </a:r>
          </a:p>
        </p:txBody>
      </p:sp>
      <p:sp>
        <p:nvSpPr>
          <p:cNvPr id="44" name="text 44"/>
          <p:cNvSpPr txBox="1"/>
          <p:nvPr/>
        </p:nvSpPr>
        <p:spPr>
          <a:xfrm>
            <a:off x="9006840" y="6153912"/>
            <a:ext cx="20116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large supply demand</a:t>
            </a:r>
          </a:p>
        </p:txBody>
      </p:sp>
      <p:sp>
        <p:nvSpPr>
          <p:cNvPr id="45" name="text 45"/>
          <p:cNvSpPr txBox="1"/>
          <p:nvPr/>
        </p:nvSpPr>
        <p:spPr>
          <a:xfrm>
            <a:off x="502920" y="6473952"/>
            <a:ext cx="56692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720" dirty="0">
                <a:solidFill>
                  <a:srgbClr val="708090"/>
                </a:solidFill>
              </a:rPr>
              <a:t>Static Robo HMI Test Jig vs. Robotic Hand  |  Research Deck</a:t>
            </a:r>
          </a:p>
        </p:txBody>
      </p:sp>
      <p:sp>
        <p:nvSpPr>
          <p:cNvPr id="46" name="text 46"/>
          <p:cNvSpPr txBox="1"/>
          <p:nvPr/>
        </p:nvSpPr>
        <p:spPr>
          <a:xfrm>
            <a:off x="11384280" y="6473952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/>
            <a:r>
              <a:rPr lang="en-US" sz="720" dirty="0">
                <a:solidFill>
                  <a:srgbClr val="708090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1F33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02920" y="310896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51206" rIns="73152" bIns="51206"/>
          <a:lstStyle/>
          <a:p>
            <a:pPr algn="l"/>
            <a:r>
              <a:rPr lang="en-US" sz="850" dirty="0" b="1">
                <a:solidFill>
                  <a:srgbClr val="1E5AA8"/>
                </a:solidFill>
              </a:rPr>
              <a:t>DATA ARCHITECTURE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502920" y="530352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2400" dirty="0" b="1">
                <a:solidFill>
                  <a:srgbClr val="102033"/>
                </a:solidFill>
              </a:rPr>
              <a:t>10. Real-time data and cloud output turn the jig into a traceable test platform</a:t>
            </a:r>
          </a:p>
        </p:txBody>
      </p:sp>
      <p:sp>
        <p:nvSpPr>
          <p:cNvPr id="5" name="line 5"/>
          <p:cNvSpPr/>
          <p:nvPr/>
        </p:nvSpPr>
        <p:spPr>
          <a:xfrm flipH="0" flipV="0">
            <a:off x="502920" y="1078992"/>
            <a:ext cx="11155680" cy="1"/>
          </a:xfrm>
          <a:prstGeom prst="line">
            <a:avLst/>
          </a:prstGeom>
          <a:ln w="12700">
            <a:solidFill>
              <a:srgbClr val="D5DDE5"/>
            </a:solidFill>
          </a:ln>
        </p:spPr>
      </p:sp>
      <p:sp>
        <p:nvSpPr>
          <p:cNvPr id="6" name="shape 6"/>
          <p:cNvSpPr/>
          <p:nvPr/>
        </p:nvSpPr>
        <p:spPr>
          <a:xfrm>
            <a:off x="685800" y="1828800"/>
            <a:ext cx="1828800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E5AA8"/>
            </a:solidFill>
          </a:ln>
        </p:spPr>
      </p:sp>
      <p:sp>
        <p:nvSpPr>
          <p:cNvPr id="7" name="text 7"/>
          <p:cNvSpPr txBox="1"/>
          <p:nvPr/>
        </p:nvSpPr>
        <p:spPr>
          <a:xfrm>
            <a:off x="795528" y="2029968"/>
            <a:ext cx="1600200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880" dirty="0" b="1">
                <a:solidFill>
                  <a:srgbClr val="102033"/>
                </a:solidFill>
              </a:rPr>
              <a:t>Test action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822960" y="2304288"/>
            <a:ext cx="15544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680" dirty="0">
                <a:solidFill>
                  <a:srgbClr val="52667A"/>
                </a:solidFill>
              </a:rPr>
              <a:t>pin / knob / button command</a:t>
            </a:r>
          </a:p>
        </p:txBody>
      </p:sp>
      <p:sp>
        <p:nvSpPr>
          <p:cNvPr id="9" name="line 9"/>
          <p:cNvSpPr/>
          <p:nvPr/>
        </p:nvSpPr>
        <p:spPr>
          <a:xfrm flipH="0" flipV="0">
            <a:off x="2514600" y="2304288"/>
            <a:ext cx="457200" cy="1"/>
          </a:xfrm>
          <a:prstGeom prst="line">
            <a:avLst/>
          </a:prstGeom>
          <a:ln w="17780">
            <a:solidFill>
              <a:srgbClr val="1E5AA8"/>
            </a:solidFill>
            <a:headEnd type="triangle"/>
          </a:ln>
        </p:spPr>
      </p:sp>
      <p:sp>
        <p:nvSpPr>
          <p:cNvPr id="10" name="shape 10"/>
          <p:cNvSpPr/>
          <p:nvPr/>
        </p:nvSpPr>
        <p:spPr>
          <a:xfrm>
            <a:off x="2971800" y="1828800"/>
            <a:ext cx="1828800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E5AA8"/>
            </a:solidFill>
          </a:ln>
        </p:spPr>
      </p:sp>
      <p:sp>
        <p:nvSpPr>
          <p:cNvPr id="11" name="text 11"/>
          <p:cNvSpPr txBox="1"/>
          <p:nvPr/>
        </p:nvSpPr>
        <p:spPr>
          <a:xfrm>
            <a:off x="3081528" y="2029968"/>
            <a:ext cx="1600200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880" dirty="0" b="1">
                <a:solidFill>
                  <a:srgbClr val="102033"/>
                </a:solidFill>
              </a:rPr>
              <a:t>Measurement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3108960" y="2304288"/>
            <a:ext cx="15544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680" dirty="0">
                <a:solidFill>
                  <a:srgbClr val="52667A"/>
                </a:solidFill>
              </a:rPr>
              <a:t>camera + voltage + bus</a:t>
            </a:r>
          </a:p>
        </p:txBody>
      </p:sp>
      <p:sp>
        <p:nvSpPr>
          <p:cNvPr id="13" name="line 13"/>
          <p:cNvSpPr/>
          <p:nvPr/>
        </p:nvSpPr>
        <p:spPr>
          <a:xfrm flipH="0" flipV="0">
            <a:off x="4800600" y="2304288"/>
            <a:ext cx="457200" cy="1"/>
          </a:xfrm>
          <a:prstGeom prst="line">
            <a:avLst/>
          </a:prstGeom>
          <a:ln w="17780">
            <a:solidFill>
              <a:srgbClr val="1E5AA8"/>
            </a:solidFill>
            <a:headEnd type="triangle"/>
          </a:ln>
        </p:spPr>
      </p:sp>
      <p:sp>
        <p:nvSpPr>
          <p:cNvPr id="14" name="shape 14"/>
          <p:cNvSpPr/>
          <p:nvPr/>
        </p:nvSpPr>
        <p:spPr>
          <a:xfrm>
            <a:off x="5257800" y="1828800"/>
            <a:ext cx="1828800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E5AA8"/>
            </a:solidFill>
          </a:ln>
        </p:spPr>
      </p:sp>
      <p:sp>
        <p:nvSpPr>
          <p:cNvPr id="15" name="text 15"/>
          <p:cNvSpPr txBox="1"/>
          <p:nvPr/>
        </p:nvSpPr>
        <p:spPr>
          <a:xfrm>
            <a:off x="5367528" y="2029968"/>
            <a:ext cx="1600200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880" dirty="0" b="1">
                <a:solidFill>
                  <a:srgbClr val="102033"/>
                </a:solidFill>
              </a:rPr>
              <a:t>Edge decision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5394960" y="2304288"/>
            <a:ext cx="15544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680" dirty="0">
                <a:solidFill>
                  <a:srgbClr val="52667A"/>
                </a:solidFill>
              </a:rPr>
              <a:t>limits + timing + evidence</a:t>
            </a:r>
          </a:p>
        </p:txBody>
      </p:sp>
      <p:sp>
        <p:nvSpPr>
          <p:cNvPr id="17" name="line 17"/>
          <p:cNvSpPr/>
          <p:nvPr/>
        </p:nvSpPr>
        <p:spPr>
          <a:xfrm flipH="0" flipV="0">
            <a:off x="7086600" y="2304288"/>
            <a:ext cx="457200" cy="1"/>
          </a:xfrm>
          <a:prstGeom prst="line">
            <a:avLst/>
          </a:prstGeom>
          <a:ln w="17780">
            <a:solidFill>
              <a:srgbClr val="1E5AA8"/>
            </a:solidFill>
            <a:headEnd type="triangle"/>
          </a:ln>
        </p:spPr>
      </p:sp>
      <p:sp>
        <p:nvSpPr>
          <p:cNvPr id="18" name="shape 18"/>
          <p:cNvSpPr/>
          <p:nvPr/>
        </p:nvSpPr>
        <p:spPr>
          <a:xfrm>
            <a:off x="7543800" y="1828800"/>
            <a:ext cx="1828800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E7D32"/>
            </a:solidFill>
          </a:ln>
        </p:spPr>
      </p:sp>
      <p:sp>
        <p:nvSpPr>
          <p:cNvPr id="19" name="text 19"/>
          <p:cNvSpPr txBox="1"/>
          <p:nvPr/>
        </p:nvSpPr>
        <p:spPr>
          <a:xfrm>
            <a:off x="7653527" y="2029968"/>
            <a:ext cx="1600200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880" dirty="0" b="1">
                <a:solidFill>
                  <a:srgbClr val="102033"/>
                </a:solidFill>
              </a:rPr>
              <a:t>Cloud record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7680960" y="2304288"/>
            <a:ext cx="15544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680" dirty="0">
                <a:solidFill>
                  <a:srgbClr val="52667A"/>
                </a:solidFill>
              </a:rPr>
              <a:t>serial, timestamp, result</a:t>
            </a:r>
          </a:p>
        </p:txBody>
      </p:sp>
      <p:sp>
        <p:nvSpPr>
          <p:cNvPr id="21" name="line 21"/>
          <p:cNvSpPr/>
          <p:nvPr/>
        </p:nvSpPr>
        <p:spPr>
          <a:xfrm flipH="0" flipV="0">
            <a:off x="9372600" y="2304288"/>
            <a:ext cx="457200" cy="1"/>
          </a:xfrm>
          <a:prstGeom prst="line">
            <a:avLst/>
          </a:prstGeom>
          <a:ln w="17780">
            <a:solidFill>
              <a:srgbClr val="1E5AA8"/>
            </a:solidFill>
            <a:headEnd type="triangle"/>
          </a:ln>
        </p:spPr>
      </p:sp>
      <p:sp>
        <p:nvSpPr>
          <p:cNvPr id="22" name="shape 22"/>
          <p:cNvSpPr/>
          <p:nvPr/>
        </p:nvSpPr>
        <p:spPr>
          <a:xfrm>
            <a:off x="9829800" y="1828800"/>
            <a:ext cx="1828800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26A00"/>
            </a:solidFill>
          </a:ln>
        </p:spPr>
      </p:sp>
      <p:sp>
        <p:nvSpPr>
          <p:cNvPr id="23" name="text 23"/>
          <p:cNvSpPr txBox="1"/>
          <p:nvPr/>
        </p:nvSpPr>
        <p:spPr>
          <a:xfrm>
            <a:off x="9939528" y="2029968"/>
            <a:ext cx="1600200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880" dirty="0" b="1">
                <a:solidFill>
                  <a:srgbClr val="102033"/>
                </a:solidFill>
              </a:rPr>
              <a:t>Dashboard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9966960" y="2304288"/>
            <a:ext cx="15544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680" dirty="0">
                <a:solidFill>
                  <a:srgbClr val="52667A"/>
                </a:solidFill>
              </a:rPr>
              <a:t>trends, failures, yield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731520" y="3520440"/>
            <a:ext cx="2560320" cy="384048"/>
          </a:xfrm>
          <a:prstGeom prst="rect">
            <a:avLst/>
          </a:prstGeom>
          <a:solidFill>
            <a:srgbClr val="0B1F33"/>
          </a:solidFill>
          <a:ln w="12700">
            <a:solidFill>
              <a:srgbClr val="FFFFFF"/>
            </a:solidFill>
          </a:ln>
        </p:spPr>
        <p:txBody>
          <a:bodyPr wrap="square" anchor="ctr" lIns="36576" tIns="25603" rIns="36576" bIns="25603"/>
          <a:lstStyle/>
          <a:p>
            <a:pPr algn="ctr"/>
            <a:r>
              <a:rPr lang="en-US" sz="860" dirty="0" b="1">
                <a:solidFill>
                  <a:srgbClr val="FFFFFF"/>
                </a:solidFill>
              </a:rPr>
              <a:t>Data stream</a:t>
            </a:r>
          </a:p>
        </p:txBody>
      </p:sp>
      <p:sp>
        <p:nvSpPr>
          <p:cNvPr id="26" name="text 26"/>
          <p:cNvSpPr txBox="1"/>
          <p:nvPr/>
        </p:nvSpPr>
        <p:spPr>
          <a:xfrm>
            <a:off x="3291839" y="3520440"/>
            <a:ext cx="2834640" cy="384048"/>
          </a:xfrm>
          <a:prstGeom prst="rect">
            <a:avLst/>
          </a:prstGeom>
          <a:solidFill>
            <a:srgbClr val="0B1F33"/>
          </a:solidFill>
          <a:ln w="12700">
            <a:solidFill>
              <a:srgbClr val="FFFFFF"/>
            </a:solidFill>
          </a:ln>
        </p:spPr>
        <p:txBody>
          <a:bodyPr wrap="square" anchor="ctr" lIns="36576" tIns="25603" rIns="36576" bIns="25603"/>
          <a:lstStyle/>
          <a:p>
            <a:pPr algn="ctr"/>
            <a:r>
              <a:rPr lang="en-US" sz="860" dirty="0" b="1">
                <a:solidFill>
                  <a:srgbClr val="FFFFFF"/>
                </a:solidFill>
              </a:rPr>
              <a:t>Example fields</a:t>
            </a:r>
          </a:p>
        </p:txBody>
      </p:sp>
      <p:sp>
        <p:nvSpPr>
          <p:cNvPr id="27" name="text 27"/>
          <p:cNvSpPr txBox="1"/>
          <p:nvPr/>
        </p:nvSpPr>
        <p:spPr>
          <a:xfrm>
            <a:off x="6126480" y="3520440"/>
            <a:ext cx="2834640" cy="384048"/>
          </a:xfrm>
          <a:prstGeom prst="rect">
            <a:avLst/>
          </a:prstGeom>
          <a:solidFill>
            <a:srgbClr val="0B1F33"/>
          </a:solidFill>
          <a:ln w="12700">
            <a:solidFill>
              <a:srgbClr val="FFFFFF"/>
            </a:solidFill>
          </a:ln>
        </p:spPr>
        <p:txBody>
          <a:bodyPr wrap="square" anchor="ctr" lIns="36576" tIns="25603" rIns="36576" bIns="25603"/>
          <a:lstStyle/>
          <a:p>
            <a:pPr algn="ctr"/>
            <a:r>
              <a:rPr lang="en-US" sz="860" dirty="0" b="1">
                <a:solidFill>
                  <a:srgbClr val="FFFFFF"/>
                </a:solidFill>
              </a:rPr>
              <a:t>Use</a:t>
            </a:r>
          </a:p>
        </p:txBody>
      </p:sp>
      <p:sp>
        <p:nvSpPr>
          <p:cNvPr id="28" name="text 28"/>
          <p:cNvSpPr txBox="1"/>
          <p:nvPr/>
        </p:nvSpPr>
        <p:spPr>
          <a:xfrm>
            <a:off x="8961120" y="3520440"/>
            <a:ext cx="2468880" cy="384048"/>
          </a:xfrm>
          <a:prstGeom prst="rect">
            <a:avLst/>
          </a:prstGeom>
          <a:solidFill>
            <a:srgbClr val="0B1F33"/>
          </a:solidFill>
          <a:ln w="12700">
            <a:solidFill>
              <a:srgbClr val="FFFFFF"/>
            </a:solidFill>
          </a:ln>
        </p:spPr>
        <p:txBody>
          <a:bodyPr wrap="square" anchor="ctr" lIns="36576" tIns="25603" rIns="36576" bIns="25603"/>
          <a:lstStyle/>
          <a:p>
            <a:pPr algn="ctr"/>
            <a:r>
              <a:rPr lang="en-US" sz="860" dirty="0" b="1">
                <a:solidFill>
                  <a:srgbClr val="FFFFFF"/>
                </a:solidFill>
              </a:rPr>
              <a:t>Business value</a:t>
            </a:r>
          </a:p>
        </p:txBody>
      </p:sp>
      <p:sp>
        <p:nvSpPr>
          <p:cNvPr id="29" name="text 29"/>
          <p:cNvSpPr txBox="1"/>
          <p:nvPr/>
        </p:nvSpPr>
        <p:spPr>
          <a:xfrm>
            <a:off x="731520" y="3904488"/>
            <a:ext cx="25603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Actuator events</a:t>
            </a:r>
          </a:p>
        </p:txBody>
      </p:sp>
      <p:sp>
        <p:nvSpPr>
          <p:cNvPr id="30" name="text 30"/>
          <p:cNvSpPr txBox="1"/>
          <p:nvPr/>
        </p:nvSpPr>
        <p:spPr>
          <a:xfrm>
            <a:off x="3291839" y="3904488"/>
            <a:ext cx="28346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pin ID, force proxy, dwell, knob angle</a:t>
            </a:r>
          </a:p>
        </p:txBody>
      </p:sp>
      <p:sp>
        <p:nvSpPr>
          <p:cNvPr id="31" name="text 31"/>
          <p:cNvSpPr txBox="1"/>
          <p:nvPr/>
        </p:nvSpPr>
        <p:spPr>
          <a:xfrm>
            <a:off x="6126480" y="3904488"/>
            <a:ext cx="28346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test reconstruction</a:t>
            </a:r>
          </a:p>
        </p:txBody>
      </p:sp>
      <p:sp>
        <p:nvSpPr>
          <p:cNvPr id="32" name="text 32"/>
          <p:cNvSpPr txBox="1"/>
          <p:nvPr/>
        </p:nvSpPr>
        <p:spPr>
          <a:xfrm>
            <a:off x="8961120" y="3904488"/>
            <a:ext cx="24688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root-cause analysis</a:t>
            </a:r>
          </a:p>
        </p:txBody>
      </p:sp>
      <p:sp>
        <p:nvSpPr>
          <p:cNvPr id="33" name="text 33"/>
          <p:cNvSpPr txBox="1"/>
          <p:nvPr/>
        </p:nvSpPr>
        <p:spPr>
          <a:xfrm>
            <a:off x="731520" y="4288536"/>
            <a:ext cx="2560320" cy="384048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Vision evidence</a:t>
            </a:r>
          </a:p>
        </p:txBody>
      </p:sp>
      <p:sp>
        <p:nvSpPr>
          <p:cNvPr id="34" name="text 34"/>
          <p:cNvSpPr txBox="1"/>
          <p:nvPr/>
        </p:nvSpPr>
        <p:spPr>
          <a:xfrm>
            <a:off x="3291839" y="4288536"/>
            <a:ext cx="2834640" cy="384048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image, OCR, icon match, pixel map</a:t>
            </a:r>
          </a:p>
        </p:txBody>
      </p:sp>
      <p:sp>
        <p:nvSpPr>
          <p:cNvPr id="35" name="text 35"/>
          <p:cNvSpPr txBox="1"/>
          <p:nvPr/>
        </p:nvSpPr>
        <p:spPr>
          <a:xfrm>
            <a:off x="6126480" y="4288536"/>
            <a:ext cx="2834640" cy="384048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screen proof</a:t>
            </a:r>
          </a:p>
        </p:txBody>
      </p:sp>
      <p:sp>
        <p:nvSpPr>
          <p:cNvPr id="36" name="text 36"/>
          <p:cNvSpPr txBox="1"/>
          <p:nvPr/>
        </p:nvSpPr>
        <p:spPr>
          <a:xfrm>
            <a:off x="8961120" y="4288536"/>
            <a:ext cx="2468880" cy="384048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quality traceability</a:t>
            </a:r>
          </a:p>
        </p:txBody>
      </p:sp>
      <p:sp>
        <p:nvSpPr>
          <p:cNvPr id="37" name="text 37"/>
          <p:cNvSpPr txBox="1"/>
          <p:nvPr/>
        </p:nvSpPr>
        <p:spPr>
          <a:xfrm>
            <a:off x="731520" y="4672584"/>
            <a:ext cx="25603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Electrical data</a:t>
            </a:r>
          </a:p>
        </p:txBody>
      </p:sp>
      <p:sp>
        <p:nvSpPr>
          <p:cNvPr id="38" name="text 38"/>
          <p:cNvSpPr txBox="1"/>
          <p:nvPr/>
        </p:nvSpPr>
        <p:spPr>
          <a:xfrm>
            <a:off x="3291839" y="4672584"/>
            <a:ext cx="28346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voltage, current, continuity, bus status</a:t>
            </a:r>
          </a:p>
        </p:txBody>
      </p:sp>
      <p:sp>
        <p:nvSpPr>
          <p:cNvPr id="39" name="text 39"/>
          <p:cNvSpPr txBox="1"/>
          <p:nvPr/>
        </p:nvSpPr>
        <p:spPr>
          <a:xfrm>
            <a:off x="6126480" y="4672584"/>
            <a:ext cx="28346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functional proof</a:t>
            </a:r>
          </a:p>
        </p:txBody>
      </p:sp>
      <p:sp>
        <p:nvSpPr>
          <p:cNvPr id="40" name="text 40"/>
          <p:cNvSpPr txBox="1"/>
          <p:nvPr/>
        </p:nvSpPr>
        <p:spPr>
          <a:xfrm>
            <a:off x="8961120" y="4672584"/>
            <a:ext cx="24688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reject reduction</a:t>
            </a:r>
          </a:p>
        </p:txBody>
      </p:sp>
      <p:sp>
        <p:nvSpPr>
          <p:cNvPr id="41" name="text 41"/>
          <p:cNvSpPr txBox="1"/>
          <p:nvPr/>
        </p:nvSpPr>
        <p:spPr>
          <a:xfrm>
            <a:off x="731520" y="5056632"/>
            <a:ext cx="2560320" cy="384048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Cloud analytics</a:t>
            </a:r>
          </a:p>
        </p:txBody>
      </p:sp>
      <p:sp>
        <p:nvSpPr>
          <p:cNvPr id="42" name="text 42"/>
          <p:cNvSpPr txBox="1"/>
          <p:nvPr/>
        </p:nvSpPr>
        <p:spPr>
          <a:xfrm>
            <a:off x="3291839" y="5056632"/>
            <a:ext cx="2834640" cy="384048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yield, station, unit serial, failure mode</a:t>
            </a:r>
          </a:p>
        </p:txBody>
      </p:sp>
      <p:sp>
        <p:nvSpPr>
          <p:cNvPr id="43" name="text 43"/>
          <p:cNvSpPr txBox="1"/>
          <p:nvPr/>
        </p:nvSpPr>
        <p:spPr>
          <a:xfrm>
            <a:off x="6126480" y="5056632"/>
            <a:ext cx="2834640" cy="384048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trend dashboards</a:t>
            </a:r>
          </a:p>
        </p:txBody>
      </p:sp>
      <p:sp>
        <p:nvSpPr>
          <p:cNvPr id="44" name="text 44"/>
          <p:cNvSpPr txBox="1"/>
          <p:nvPr/>
        </p:nvSpPr>
        <p:spPr>
          <a:xfrm>
            <a:off x="8961120" y="5056632"/>
            <a:ext cx="2468880" cy="384048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process improvement</a:t>
            </a:r>
          </a:p>
        </p:txBody>
      </p:sp>
      <p:sp>
        <p:nvSpPr>
          <p:cNvPr id="45" name="text 45"/>
          <p:cNvSpPr txBox="1"/>
          <p:nvPr/>
        </p:nvSpPr>
        <p:spPr>
          <a:xfrm>
            <a:off x="502920" y="6473952"/>
            <a:ext cx="56692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720" dirty="0">
                <a:solidFill>
                  <a:srgbClr val="708090"/>
                </a:solidFill>
              </a:rPr>
              <a:t>Static Robo HMI Test Jig vs. Robotic Hand  |  Research Deck</a:t>
            </a:r>
          </a:p>
        </p:txBody>
      </p:sp>
      <p:sp>
        <p:nvSpPr>
          <p:cNvPr id="46" name="text 46"/>
          <p:cNvSpPr txBox="1"/>
          <p:nvPr/>
        </p:nvSpPr>
        <p:spPr>
          <a:xfrm>
            <a:off x="11384280" y="6473952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/>
            <a:r>
              <a:rPr lang="en-US" sz="720" dirty="0">
                <a:solidFill>
                  <a:srgbClr val="708090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1F33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02920" y="310896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51206" rIns="73152" bIns="51206"/>
          <a:lstStyle/>
          <a:p>
            <a:pPr algn="l"/>
            <a:r>
              <a:rPr lang="en-US" sz="850" dirty="0" b="1">
                <a:solidFill>
                  <a:srgbClr val="1E5AA8"/>
                </a:solidFill>
              </a:rPr>
              <a:t>DECISION MATRIX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502920" y="530352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2400" dirty="0" b="1">
                <a:solidFill>
                  <a:srgbClr val="102033"/>
                </a:solidFill>
              </a:rPr>
              <a:t>Weighted scorecard: the jig wins on the criteria that matter most for HMI validation</a:t>
            </a:r>
          </a:p>
        </p:txBody>
      </p:sp>
      <p:sp>
        <p:nvSpPr>
          <p:cNvPr id="5" name="line 5"/>
          <p:cNvSpPr/>
          <p:nvPr/>
        </p:nvSpPr>
        <p:spPr>
          <a:xfrm flipH="0" flipV="0">
            <a:off x="502920" y="1078992"/>
            <a:ext cx="11155680" cy="1"/>
          </a:xfrm>
          <a:prstGeom prst="line">
            <a:avLst/>
          </a:prstGeom>
          <a:ln w="12700">
            <a:solidFill>
              <a:srgbClr val="D5DDE5"/>
            </a:solidFill>
          </a:ln>
        </p:spPr>
      </p:sp>
      <p:sp>
        <p:nvSpPr>
          <p:cNvPr id="6" name="text 6"/>
          <p:cNvSpPr txBox="1"/>
          <p:nvPr/>
        </p:nvSpPr>
        <p:spPr>
          <a:xfrm>
            <a:off x="594360" y="1325880"/>
            <a:ext cx="2743200" cy="384048"/>
          </a:xfrm>
          <a:prstGeom prst="rect">
            <a:avLst/>
          </a:prstGeom>
          <a:solidFill>
            <a:srgbClr val="0B1F33"/>
          </a:solidFill>
          <a:ln w="12700">
            <a:solidFill>
              <a:srgbClr val="FFFFFF"/>
            </a:solidFill>
          </a:ln>
        </p:spPr>
        <p:txBody>
          <a:bodyPr wrap="square" anchor="ctr" lIns="36576" tIns="25603" rIns="36576" bIns="25603"/>
          <a:lstStyle/>
          <a:p>
            <a:pPr algn="ctr"/>
            <a:r>
              <a:rPr lang="en-US" sz="860" dirty="0" b="1">
                <a:solidFill>
                  <a:srgbClr val="FFFFFF"/>
                </a:solidFill>
              </a:rPr>
              <a:t>Criterion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3337560" y="1325880"/>
            <a:ext cx="1143000" cy="384048"/>
          </a:xfrm>
          <a:prstGeom prst="rect">
            <a:avLst/>
          </a:prstGeom>
          <a:solidFill>
            <a:srgbClr val="0B1F33"/>
          </a:solidFill>
          <a:ln w="12700">
            <a:solidFill>
              <a:srgbClr val="FFFFFF"/>
            </a:solidFill>
          </a:ln>
        </p:spPr>
        <p:txBody>
          <a:bodyPr wrap="square" anchor="ctr" lIns="36576" tIns="25603" rIns="36576" bIns="25603"/>
          <a:lstStyle/>
          <a:p>
            <a:pPr algn="ctr"/>
            <a:r>
              <a:rPr lang="en-US" sz="860" dirty="0" b="1">
                <a:solidFill>
                  <a:srgbClr val="FFFFFF"/>
                </a:solidFill>
              </a:rPr>
              <a:t>Weight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4480560" y="1325880"/>
            <a:ext cx="2011680" cy="384048"/>
          </a:xfrm>
          <a:prstGeom prst="rect">
            <a:avLst/>
          </a:prstGeom>
          <a:solidFill>
            <a:srgbClr val="0B1F33"/>
          </a:solidFill>
          <a:ln w="12700">
            <a:solidFill>
              <a:srgbClr val="FFFFFF"/>
            </a:solidFill>
          </a:ln>
        </p:spPr>
        <p:txBody>
          <a:bodyPr wrap="square" anchor="ctr" lIns="36576" tIns="25603" rIns="36576" bIns="25603"/>
          <a:lstStyle/>
          <a:p>
            <a:pPr algn="ctr"/>
            <a:r>
              <a:rPr lang="en-US" sz="860" dirty="0" b="1">
                <a:solidFill>
                  <a:srgbClr val="FFFFFF"/>
                </a:solidFill>
              </a:rPr>
              <a:t>Static jig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6492240" y="1325880"/>
            <a:ext cx="2011680" cy="384048"/>
          </a:xfrm>
          <a:prstGeom prst="rect">
            <a:avLst/>
          </a:prstGeom>
          <a:solidFill>
            <a:srgbClr val="0B1F33"/>
          </a:solidFill>
          <a:ln w="12700">
            <a:solidFill>
              <a:srgbClr val="FFFFFF"/>
            </a:solidFill>
          </a:ln>
        </p:spPr>
        <p:txBody>
          <a:bodyPr wrap="square" anchor="ctr" lIns="36576" tIns="25603" rIns="36576" bIns="25603"/>
          <a:lstStyle/>
          <a:p>
            <a:pPr algn="ctr"/>
            <a:r>
              <a:rPr lang="en-US" sz="860" dirty="0" b="1">
                <a:solidFill>
                  <a:srgbClr val="FFFFFF"/>
                </a:solidFill>
              </a:rPr>
              <a:t>Robotic hand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8503920" y="1325880"/>
            <a:ext cx="2743200" cy="384048"/>
          </a:xfrm>
          <a:prstGeom prst="rect">
            <a:avLst/>
          </a:prstGeom>
          <a:solidFill>
            <a:srgbClr val="0B1F33"/>
          </a:solidFill>
          <a:ln w="12700">
            <a:solidFill>
              <a:srgbClr val="FFFFFF"/>
            </a:solidFill>
          </a:ln>
        </p:spPr>
        <p:txBody>
          <a:bodyPr wrap="square" anchor="ctr" lIns="36576" tIns="25603" rIns="36576" bIns="25603"/>
          <a:lstStyle/>
          <a:p>
            <a:pPr algn="ctr"/>
            <a:r>
              <a:rPr lang="en-US" sz="860" dirty="0" b="1">
                <a:solidFill>
                  <a:srgbClr val="FFFFFF"/>
                </a:solidFill>
              </a:rPr>
              <a:t>Reason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594360" y="1709928"/>
            <a:ext cx="2743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Cost effectiveness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3337560" y="1709928"/>
            <a:ext cx="11430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high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4480560" y="1709928"/>
            <a:ext cx="20116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excellent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6492240" y="1709928"/>
            <a:ext cx="20116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poor/fair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8503920" y="1709928"/>
            <a:ext cx="2743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jig avoids dexterous hardware and complex motion stack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594360" y="2093976"/>
            <a:ext cx="2743200" cy="384048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Repeatability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3337560" y="2093976"/>
            <a:ext cx="1143000" cy="384048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high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4480560" y="2093976"/>
            <a:ext cx="2011680" cy="384048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excellent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6492240" y="2093976"/>
            <a:ext cx="2011680" cy="384048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good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8503920" y="2093976"/>
            <a:ext cx="2743200" cy="384048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fixed contacts and fixed cameras reduce variation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594360" y="2478024"/>
            <a:ext cx="2743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Curved surface support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3337560" y="2478024"/>
            <a:ext cx="11430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high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4480560" y="2478024"/>
            <a:ext cx="20116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excellent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6492240" y="2478024"/>
            <a:ext cx="20116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fair/good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8503920" y="2478024"/>
            <a:ext cx="2743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screw-height pins are direct mechanical compensation</a:t>
            </a:r>
          </a:p>
        </p:txBody>
      </p:sp>
      <p:sp>
        <p:nvSpPr>
          <p:cNvPr id="26" name="text 26"/>
          <p:cNvSpPr txBox="1"/>
          <p:nvPr/>
        </p:nvSpPr>
        <p:spPr>
          <a:xfrm>
            <a:off x="594360" y="2862072"/>
            <a:ext cx="2743200" cy="384048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Pixel-level feedback</a:t>
            </a:r>
          </a:p>
        </p:txBody>
      </p:sp>
      <p:sp>
        <p:nvSpPr>
          <p:cNvPr id="27" name="text 27"/>
          <p:cNvSpPr txBox="1"/>
          <p:nvPr/>
        </p:nvSpPr>
        <p:spPr>
          <a:xfrm>
            <a:off x="3337560" y="2862072"/>
            <a:ext cx="1143000" cy="384048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high</a:t>
            </a:r>
          </a:p>
        </p:txBody>
      </p:sp>
      <p:sp>
        <p:nvSpPr>
          <p:cNvPr id="28" name="text 28"/>
          <p:cNvSpPr txBox="1"/>
          <p:nvPr/>
        </p:nvSpPr>
        <p:spPr>
          <a:xfrm>
            <a:off x="4480560" y="2862072"/>
            <a:ext cx="2011680" cy="384048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excellent</a:t>
            </a:r>
          </a:p>
        </p:txBody>
      </p:sp>
      <p:sp>
        <p:nvSpPr>
          <p:cNvPr id="29" name="text 29"/>
          <p:cNvSpPr txBox="1"/>
          <p:nvPr/>
        </p:nvSpPr>
        <p:spPr>
          <a:xfrm>
            <a:off x="6492240" y="2862072"/>
            <a:ext cx="2011680" cy="384048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requires add-on</a:t>
            </a:r>
          </a:p>
        </p:txBody>
      </p:sp>
      <p:sp>
        <p:nvSpPr>
          <p:cNvPr id="30" name="text 30"/>
          <p:cNvSpPr txBox="1"/>
          <p:nvPr/>
        </p:nvSpPr>
        <p:spPr>
          <a:xfrm>
            <a:off x="8503920" y="2862072"/>
            <a:ext cx="2743200" cy="384048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camera system is native to jig design</a:t>
            </a:r>
          </a:p>
        </p:txBody>
      </p:sp>
      <p:sp>
        <p:nvSpPr>
          <p:cNvPr id="31" name="text 31"/>
          <p:cNvSpPr txBox="1"/>
          <p:nvPr/>
        </p:nvSpPr>
        <p:spPr>
          <a:xfrm>
            <a:off x="594360" y="3246120"/>
            <a:ext cx="2743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Power and portability</a:t>
            </a:r>
          </a:p>
        </p:txBody>
      </p:sp>
      <p:sp>
        <p:nvSpPr>
          <p:cNvPr id="32" name="text 32"/>
          <p:cNvSpPr txBox="1"/>
          <p:nvPr/>
        </p:nvSpPr>
        <p:spPr>
          <a:xfrm>
            <a:off x="3337560" y="3246120"/>
            <a:ext cx="11430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medium</a:t>
            </a:r>
          </a:p>
        </p:txBody>
      </p:sp>
      <p:sp>
        <p:nvSpPr>
          <p:cNvPr id="33" name="text 33"/>
          <p:cNvSpPr txBox="1"/>
          <p:nvPr/>
        </p:nvSpPr>
        <p:spPr>
          <a:xfrm>
            <a:off x="4480560" y="3246120"/>
            <a:ext cx="20116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excellent</a:t>
            </a:r>
          </a:p>
        </p:txBody>
      </p:sp>
      <p:sp>
        <p:nvSpPr>
          <p:cNvPr id="34" name="text 34"/>
          <p:cNvSpPr txBox="1"/>
          <p:nvPr/>
        </p:nvSpPr>
        <p:spPr>
          <a:xfrm>
            <a:off x="6492240" y="3246120"/>
            <a:ext cx="20116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poor/fair</a:t>
            </a:r>
          </a:p>
        </p:txBody>
      </p:sp>
      <p:sp>
        <p:nvSpPr>
          <p:cNvPr id="35" name="text 35"/>
          <p:cNvSpPr txBox="1"/>
          <p:nvPr/>
        </p:nvSpPr>
        <p:spPr>
          <a:xfrm>
            <a:off x="8503920" y="3246120"/>
            <a:ext cx="2743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low mass and selective actuation</a:t>
            </a:r>
          </a:p>
        </p:txBody>
      </p:sp>
      <p:sp>
        <p:nvSpPr>
          <p:cNvPr id="36" name="text 36"/>
          <p:cNvSpPr txBox="1"/>
          <p:nvPr/>
        </p:nvSpPr>
        <p:spPr>
          <a:xfrm>
            <a:off x="594360" y="3630168"/>
            <a:ext cx="2743200" cy="384048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Maintenance</a:t>
            </a:r>
          </a:p>
        </p:txBody>
      </p:sp>
      <p:sp>
        <p:nvSpPr>
          <p:cNvPr id="37" name="text 37"/>
          <p:cNvSpPr txBox="1"/>
          <p:nvPr/>
        </p:nvSpPr>
        <p:spPr>
          <a:xfrm>
            <a:off x="3337560" y="3630168"/>
            <a:ext cx="1143000" cy="384048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medium</a:t>
            </a:r>
          </a:p>
        </p:txBody>
      </p:sp>
      <p:sp>
        <p:nvSpPr>
          <p:cNvPr id="38" name="text 38"/>
          <p:cNvSpPr txBox="1"/>
          <p:nvPr/>
        </p:nvSpPr>
        <p:spPr>
          <a:xfrm>
            <a:off x="4480560" y="3630168"/>
            <a:ext cx="2011680" cy="384048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excellent</a:t>
            </a:r>
          </a:p>
        </p:txBody>
      </p:sp>
      <p:sp>
        <p:nvSpPr>
          <p:cNvPr id="39" name="text 39"/>
          <p:cNvSpPr txBox="1"/>
          <p:nvPr/>
        </p:nvSpPr>
        <p:spPr>
          <a:xfrm>
            <a:off x="6492240" y="3630168"/>
            <a:ext cx="2011680" cy="384048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fair</a:t>
            </a:r>
          </a:p>
        </p:txBody>
      </p:sp>
      <p:sp>
        <p:nvSpPr>
          <p:cNvPr id="40" name="text 40"/>
          <p:cNvSpPr txBox="1"/>
          <p:nvPr/>
        </p:nvSpPr>
        <p:spPr>
          <a:xfrm>
            <a:off x="8503920" y="3630168"/>
            <a:ext cx="2743200" cy="384048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modular spares vs specialized robotic repair</a:t>
            </a:r>
          </a:p>
        </p:txBody>
      </p:sp>
      <p:sp>
        <p:nvSpPr>
          <p:cNvPr id="41" name="text 41"/>
          <p:cNvSpPr txBox="1"/>
          <p:nvPr/>
        </p:nvSpPr>
        <p:spPr>
          <a:xfrm>
            <a:off x="594360" y="4014215"/>
            <a:ext cx="2743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Unknown layouts</a:t>
            </a:r>
          </a:p>
        </p:txBody>
      </p:sp>
      <p:sp>
        <p:nvSpPr>
          <p:cNvPr id="42" name="text 42"/>
          <p:cNvSpPr txBox="1"/>
          <p:nvPr/>
        </p:nvSpPr>
        <p:spPr>
          <a:xfrm>
            <a:off x="3337560" y="4014215"/>
            <a:ext cx="11430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low/medium</a:t>
            </a:r>
          </a:p>
        </p:txBody>
      </p:sp>
      <p:sp>
        <p:nvSpPr>
          <p:cNvPr id="43" name="text 43"/>
          <p:cNvSpPr txBox="1"/>
          <p:nvPr/>
        </p:nvSpPr>
        <p:spPr>
          <a:xfrm>
            <a:off x="4480560" y="4014215"/>
            <a:ext cx="20116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fair</a:t>
            </a:r>
          </a:p>
        </p:txBody>
      </p:sp>
      <p:sp>
        <p:nvSpPr>
          <p:cNvPr id="44" name="text 44"/>
          <p:cNvSpPr txBox="1"/>
          <p:nvPr/>
        </p:nvSpPr>
        <p:spPr>
          <a:xfrm>
            <a:off x="6492240" y="4014215"/>
            <a:ext cx="20116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excellent</a:t>
            </a:r>
          </a:p>
        </p:txBody>
      </p:sp>
      <p:sp>
        <p:nvSpPr>
          <p:cNvPr id="45" name="text 45"/>
          <p:cNvSpPr txBox="1"/>
          <p:nvPr/>
        </p:nvSpPr>
        <p:spPr>
          <a:xfrm>
            <a:off x="8503920" y="4014215"/>
            <a:ext cx="2743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hand is stronger only when layout is highly variable</a:t>
            </a:r>
          </a:p>
        </p:txBody>
      </p:sp>
      <p:sp>
        <p:nvSpPr>
          <p:cNvPr id="46" name="text 46"/>
          <p:cNvSpPr txBox="1"/>
          <p:nvPr/>
        </p:nvSpPr>
        <p:spPr>
          <a:xfrm>
            <a:off x="914400" y="5806440"/>
            <a:ext cx="10332720" cy="329184"/>
          </a:xfrm>
          <a:prstGeom prst="roundRect">
            <a:avLst/>
          </a:prstGeom>
          <a:solidFill>
            <a:srgbClr val="0B1F33"/>
          </a:solidFill>
          <a:ln w="12700">
            <a:solidFill>
              <a:srgbClr val="0B1F33"/>
            </a:solidFill>
          </a:ln>
        </p:spPr>
        <p:txBody>
          <a:bodyPr wrap="square" anchor="t" lIns="73152" tIns="51206" rIns="73152" bIns="51206"/>
          <a:lstStyle/>
          <a:p>
            <a:pPr algn="ctr"/>
            <a:r>
              <a:rPr lang="en-US" sz="1300" dirty="0" b="1">
                <a:solidFill>
                  <a:srgbClr val="FFFFFF"/>
                </a:solidFill>
              </a:rPr>
              <a:t>Decision rule: choose the robotic hand only if the product requires human-like freeform manipulation. For known HMI layouts, choose the static jig.</a:t>
            </a:r>
          </a:p>
        </p:txBody>
      </p:sp>
      <p:sp>
        <p:nvSpPr>
          <p:cNvPr id="47" name="text 47"/>
          <p:cNvSpPr txBox="1"/>
          <p:nvPr/>
        </p:nvSpPr>
        <p:spPr>
          <a:xfrm>
            <a:off x="502920" y="6473952"/>
            <a:ext cx="56692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720" dirty="0">
                <a:solidFill>
                  <a:srgbClr val="708090"/>
                </a:solidFill>
              </a:rPr>
              <a:t>Static Robo HMI Test Jig vs. Robotic Hand  |  Research Deck</a:t>
            </a:r>
          </a:p>
        </p:txBody>
      </p:sp>
      <p:sp>
        <p:nvSpPr>
          <p:cNvPr id="48" name="text 48"/>
          <p:cNvSpPr txBox="1"/>
          <p:nvPr/>
        </p:nvSpPr>
        <p:spPr>
          <a:xfrm>
            <a:off x="11384280" y="6473952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/>
            <a:r>
              <a:rPr lang="en-US" sz="720" dirty="0">
                <a:solidFill>
                  <a:srgbClr val="708090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1F33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02920" y="310896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51206" rIns="73152" bIns="51206"/>
          <a:lstStyle/>
          <a:p>
            <a:pPr algn="l"/>
            <a:r>
              <a:rPr lang="en-US" sz="850" dirty="0" b="1">
                <a:solidFill>
                  <a:srgbClr val="1E5AA8"/>
                </a:solidFill>
              </a:rPr>
              <a:t>VALIDATION SCOPE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502920" y="530352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2400" dirty="0" b="1">
                <a:solidFill>
                  <a:srgbClr val="102033"/>
                </a:solidFill>
              </a:rPr>
              <a:t>Detailed test coverage enabled by the static HMI jig</a:t>
            </a:r>
          </a:p>
        </p:txBody>
      </p:sp>
      <p:sp>
        <p:nvSpPr>
          <p:cNvPr id="5" name="line 5"/>
          <p:cNvSpPr/>
          <p:nvPr/>
        </p:nvSpPr>
        <p:spPr>
          <a:xfrm flipH="0" flipV="0">
            <a:off x="502920" y="1078992"/>
            <a:ext cx="11155680" cy="1"/>
          </a:xfrm>
          <a:prstGeom prst="line">
            <a:avLst/>
          </a:prstGeom>
          <a:ln w="12700">
            <a:solidFill>
              <a:srgbClr val="D5DDE5"/>
            </a:solidFill>
          </a:ln>
        </p:spPr>
      </p:sp>
      <p:sp>
        <p:nvSpPr>
          <p:cNvPr id="6" name="text 6"/>
          <p:cNvSpPr txBox="1"/>
          <p:nvPr/>
        </p:nvSpPr>
        <p:spPr>
          <a:xfrm>
            <a:off x="594360" y="1234440"/>
            <a:ext cx="2377440" cy="374904"/>
          </a:xfrm>
          <a:prstGeom prst="rect">
            <a:avLst/>
          </a:prstGeom>
          <a:solidFill>
            <a:srgbClr val="0B1F33"/>
          </a:solidFill>
          <a:ln w="12700">
            <a:solidFill>
              <a:srgbClr val="FFFFFF"/>
            </a:solidFill>
          </a:ln>
        </p:spPr>
        <p:txBody>
          <a:bodyPr wrap="square" anchor="ctr" lIns="36576" tIns="25603" rIns="36576" bIns="25603"/>
          <a:lstStyle/>
          <a:p>
            <a:pPr algn="ctr"/>
            <a:r>
              <a:rPr lang="en-US" sz="860" dirty="0" b="1">
                <a:solidFill>
                  <a:srgbClr val="FFFFFF"/>
                </a:solidFill>
              </a:rPr>
              <a:t>Test domain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2971800" y="1234440"/>
            <a:ext cx="2834640" cy="374904"/>
          </a:xfrm>
          <a:prstGeom prst="rect">
            <a:avLst/>
          </a:prstGeom>
          <a:solidFill>
            <a:srgbClr val="0B1F33"/>
          </a:solidFill>
          <a:ln w="12700">
            <a:solidFill>
              <a:srgbClr val="FFFFFF"/>
            </a:solidFill>
          </a:ln>
        </p:spPr>
        <p:txBody>
          <a:bodyPr wrap="square" anchor="ctr" lIns="36576" tIns="25603" rIns="36576" bIns="25603"/>
          <a:lstStyle/>
          <a:p>
            <a:pPr algn="ctr"/>
            <a:r>
              <a:rPr lang="en-US" sz="860" dirty="0" b="1">
                <a:solidFill>
                  <a:srgbClr val="FFFFFF"/>
                </a:solidFill>
              </a:rPr>
              <a:t>What the jig does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5806440" y="1234440"/>
            <a:ext cx="2834640" cy="374904"/>
          </a:xfrm>
          <a:prstGeom prst="rect">
            <a:avLst/>
          </a:prstGeom>
          <a:solidFill>
            <a:srgbClr val="0B1F33"/>
          </a:solidFill>
          <a:ln w="12700">
            <a:solidFill>
              <a:srgbClr val="FFFFFF"/>
            </a:solidFill>
          </a:ln>
        </p:spPr>
        <p:txBody>
          <a:bodyPr wrap="square" anchor="ctr" lIns="36576" tIns="25603" rIns="36576" bIns="25603"/>
          <a:lstStyle/>
          <a:p>
            <a:pPr algn="ctr"/>
            <a:r>
              <a:rPr lang="en-US" sz="860" dirty="0" b="1">
                <a:solidFill>
                  <a:srgbClr val="FFFFFF"/>
                </a:solidFill>
              </a:rPr>
              <a:t>Evidence captured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8641080" y="1234440"/>
            <a:ext cx="2651760" cy="374904"/>
          </a:xfrm>
          <a:prstGeom prst="rect">
            <a:avLst/>
          </a:prstGeom>
          <a:solidFill>
            <a:srgbClr val="0B1F33"/>
          </a:solidFill>
          <a:ln w="12700">
            <a:solidFill>
              <a:srgbClr val="FFFFFF"/>
            </a:solidFill>
          </a:ln>
        </p:spPr>
        <p:txBody>
          <a:bodyPr wrap="square" anchor="ctr" lIns="36576" tIns="25603" rIns="36576" bIns="25603"/>
          <a:lstStyle/>
          <a:p>
            <a:pPr algn="ctr"/>
            <a:r>
              <a:rPr lang="en-US" sz="860" dirty="0" b="1">
                <a:solidFill>
                  <a:srgbClr val="FFFFFF"/>
                </a:solidFill>
              </a:rPr>
              <a:t>Pass/fail example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594360" y="1609344"/>
            <a:ext cx="237744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Touchscreen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2971800" y="1609344"/>
            <a:ext cx="283464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presses defined pixel/zone points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5806440" y="1609344"/>
            <a:ext cx="283464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camera frames + timing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8641080" y="1609344"/>
            <a:ext cx="265176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UI state appears within limit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594360" y="1984248"/>
            <a:ext cx="2377440" cy="374904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Physical buttons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2971800" y="1984248"/>
            <a:ext cx="2834640" cy="374904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linear pin press/release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5806440" y="1984248"/>
            <a:ext cx="2834640" cy="374904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I/O state + screen response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8641080" y="1984248"/>
            <a:ext cx="2651760" cy="374904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input toggles, indicator appears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594360" y="2359152"/>
            <a:ext cx="237744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Rotary knobs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2971800" y="2359152"/>
            <a:ext cx="283464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turns angle/detents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5806440" y="2359152"/>
            <a:ext cx="283464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angle command + UI response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8641080" y="2359152"/>
            <a:ext cx="265176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value increments correctly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594360" y="2734056"/>
            <a:ext cx="2377440" cy="374904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Push-turn controls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2971800" y="2734056"/>
            <a:ext cx="2834640" cy="374904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press + rotate sequence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5806440" y="2734056"/>
            <a:ext cx="2834640" cy="374904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combined action trace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8641080" y="2734056"/>
            <a:ext cx="2651760" cy="374904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menu navigation correct</a:t>
            </a:r>
          </a:p>
        </p:txBody>
      </p:sp>
      <p:sp>
        <p:nvSpPr>
          <p:cNvPr id="26" name="text 26"/>
          <p:cNvSpPr txBox="1"/>
          <p:nvPr/>
        </p:nvSpPr>
        <p:spPr>
          <a:xfrm>
            <a:off x="594360" y="3108960"/>
            <a:ext cx="237744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Display quality</a:t>
            </a:r>
          </a:p>
        </p:txBody>
      </p:sp>
      <p:sp>
        <p:nvSpPr>
          <p:cNvPr id="27" name="text 27"/>
          <p:cNvSpPr txBox="1"/>
          <p:nvPr/>
        </p:nvSpPr>
        <p:spPr>
          <a:xfrm>
            <a:off x="2971800" y="3108960"/>
            <a:ext cx="283464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continuous image capture</a:t>
            </a:r>
          </a:p>
        </p:txBody>
      </p:sp>
      <p:sp>
        <p:nvSpPr>
          <p:cNvPr id="28" name="text 28"/>
          <p:cNvSpPr txBox="1"/>
          <p:nvPr/>
        </p:nvSpPr>
        <p:spPr>
          <a:xfrm>
            <a:off x="5806440" y="3108960"/>
            <a:ext cx="283464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pixel/color/OCR/flicker</a:t>
            </a:r>
          </a:p>
        </p:txBody>
      </p:sp>
      <p:sp>
        <p:nvSpPr>
          <p:cNvPr id="29" name="text 29"/>
          <p:cNvSpPr txBox="1"/>
          <p:nvPr/>
        </p:nvSpPr>
        <p:spPr>
          <a:xfrm>
            <a:off x="8641080" y="3108960"/>
            <a:ext cx="265176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no dead pixels/wrong icons</a:t>
            </a:r>
          </a:p>
        </p:txBody>
      </p:sp>
      <p:sp>
        <p:nvSpPr>
          <p:cNvPr id="30" name="text 30"/>
          <p:cNvSpPr txBox="1"/>
          <p:nvPr/>
        </p:nvSpPr>
        <p:spPr>
          <a:xfrm>
            <a:off x="594360" y="3483864"/>
            <a:ext cx="2377440" cy="374904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Electrical interface</a:t>
            </a:r>
          </a:p>
        </p:txBody>
      </p:sp>
      <p:sp>
        <p:nvSpPr>
          <p:cNvPr id="31" name="text 31"/>
          <p:cNvSpPr txBox="1"/>
          <p:nvPr/>
        </p:nvSpPr>
        <p:spPr>
          <a:xfrm>
            <a:off x="2971800" y="3483864"/>
            <a:ext cx="2834640" cy="374904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continuity, current, voltage, bus</a:t>
            </a:r>
          </a:p>
        </p:txBody>
      </p:sp>
      <p:sp>
        <p:nvSpPr>
          <p:cNvPr id="32" name="text 32"/>
          <p:cNvSpPr txBox="1"/>
          <p:nvPr/>
        </p:nvSpPr>
        <p:spPr>
          <a:xfrm>
            <a:off x="5806440" y="3483864"/>
            <a:ext cx="2834640" cy="374904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DAQ + logs</a:t>
            </a:r>
          </a:p>
        </p:txBody>
      </p:sp>
      <p:sp>
        <p:nvSpPr>
          <p:cNvPr id="33" name="text 33"/>
          <p:cNvSpPr txBox="1"/>
          <p:nvPr/>
        </p:nvSpPr>
        <p:spPr>
          <a:xfrm>
            <a:off x="8641080" y="3483864"/>
            <a:ext cx="2651760" cy="374904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within electrical limits</a:t>
            </a:r>
          </a:p>
        </p:txBody>
      </p:sp>
      <p:sp>
        <p:nvSpPr>
          <p:cNvPr id="34" name="text 34"/>
          <p:cNvSpPr txBox="1"/>
          <p:nvPr/>
        </p:nvSpPr>
        <p:spPr>
          <a:xfrm>
            <a:off x="594360" y="3858768"/>
            <a:ext cx="237744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Cloud reporting</a:t>
            </a:r>
          </a:p>
        </p:txBody>
      </p:sp>
      <p:sp>
        <p:nvSpPr>
          <p:cNvPr id="35" name="text 35"/>
          <p:cNvSpPr txBox="1"/>
          <p:nvPr/>
        </p:nvSpPr>
        <p:spPr>
          <a:xfrm>
            <a:off x="2971800" y="3858768"/>
            <a:ext cx="283464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uploads complete result package</a:t>
            </a:r>
          </a:p>
        </p:txBody>
      </p:sp>
      <p:sp>
        <p:nvSpPr>
          <p:cNvPr id="36" name="text 36"/>
          <p:cNvSpPr txBox="1"/>
          <p:nvPr/>
        </p:nvSpPr>
        <p:spPr>
          <a:xfrm>
            <a:off x="5806440" y="3858768"/>
            <a:ext cx="283464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traceable record</a:t>
            </a:r>
          </a:p>
        </p:txBody>
      </p:sp>
      <p:sp>
        <p:nvSpPr>
          <p:cNvPr id="37" name="text 37"/>
          <p:cNvSpPr txBox="1"/>
          <p:nvPr/>
        </p:nvSpPr>
        <p:spPr>
          <a:xfrm>
            <a:off x="8641080" y="3858768"/>
            <a:ext cx="265176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serial-linked pass/fail</a:t>
            </a:r>
          </a:p>
        </p:txBody>
      </p:sp>
      <p:sp>
        <p:nvSpPr>
          <p:cNvPr id="38" name="text 38"/>
          <p:cNvSpPr txBox="1"/>
          <p:nvPr/>
        </p:nvSpPr>
        <p:spPr>
          <a:xfrm>
            <a:off x="822960" y="5669280"/>
            <a:ext cx="10515600" cy="320040"/>
          </a:xfrm>
          <a:prstGeom prst="roundRect">
            <a:avLst/>
          </a:prstGeom>
          <a:solidFill>
            <a:srgbClr val="EAF2FB"/>
          </a:solidFill>
          <a:ln w="12700">
            <a:solidFill>
              <a:srgbClr val="B8CCE3"/>
            </a:solidFill>
          </a:ln>
        </p:spPr>
        <p:txBody>
          <a:bodyPr wrap="square" anchor="t" lIns="73152" tIns="51206" rIns="73152" bIns="51206"/>
          <a:lstStyle/>
          <a:p>
            <a:pPr algn="ctr"/>
            <a:r>
              <a:rPr lang="en-US" sz="1200" dirty="0" b="1">
                <a:solidFill>
                  <a:srgbClr val="102033"/>
                </a:solidFill>
              </a:rPr>
              <a:t>The system validates both the physical interaction and the HMI output, which is the key difference from a simple actuator or robotic hand.</a:t>
            </a:r>
          </a:p>
        </p:txBody>
      </p:sp>
      <p:sp>
        <p:nvSpPr>
          <p:cNvPr id="39" name="text 39"/>
          <p:cNvSpPr txBox="1"/>
          <p:nvPr/>
        </p:nvSpPr>
        <p:spPr>
          <a:xfrm>
            <a:off x="502920" y="6473952"/>
            <a:ext cx="56692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720" dirty="0">
                <a:solidFill>
                  <a:srgbClr val="708090"/>
                </a:solidFill>
              </a:rPr>
              <a:t>Static Robo HMI Test Jig vs. Robotic Hand  |  Research Deck</a:t>
            </a:r>
          </a:p>
        </p:txBody>
      </p:sp>
      <p:sp>
        <p:nvSpPr>
          <p:cNvPr id="40" name="text 40"/>
          <p:cNvSpPr txBox="1"/>
          <p:nvPr/>
        </p:nvSpPr>
        <p:spPr>
          <a:xfrm>
            <a:off x="11384280" y="6473952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/>
            <a:r>
              <a:rPr lang="en-US" sz="720" dirty="0">
                <a:solidFill>
                  <a:srgbClr val="708090"/>
                </a:solidFill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1F33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02920" y="310896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51206" rIns="73152" bIns="51206"/>
          <a:lstStyle/>
          <a:p>
            <a:pPr algn="l"/>
            <a:r>
              <a:rPr lang="en-US" sz="850" dirty="0" b="1">
                <a:solidFill>
                  <a:srgbClr val="1E5AA8"/>
                </a:solidFill>
              </a:rPr>
              <a:t>BUILD QUALITY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502920" y="530352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2400" dirty="0" b="1">
                <a:solidFill>
                  <a:srgbClr val="102033"/>
                </a:solidFill>
              </a:rPr>
              <a:t>Design principles for a professional-grade static HMI test jig</a:t>
            </a:r>
          </a:p>
        </p:txBody>
      </p:sp>
      <p:sp>
        <p:nvSpPr>
          <p:cNvPr id="5" name="line 5"/>
          <p:cNvSpPr/>
          <p:nvPr/>
        </p:nvSpPr>
        <p:spPr>
          <a:xfrm flipH="0" flipV="0">
            <a:off x="502920" y="1078992"/>
            <a:ext cx="11155680" cy="1"/>
          </a:xfrm>
          <a:prstGeom prst="line">
            <a:avLst/>
          </a:prstGeom>
          <a:ln w="12700">
            <a:solidFill>
              <a:srgbClr val="D5DDE5"/>
            </a:solidFill>
          </a:ln>
        </p:spPr>
      </p:sp>
      <p:sp>
        <p:nvSpPr>
          <p:cNvPr id="6" name="shape 6"/>
          <p:cNvSpPr/>
          <p:nvPr/>
        </p:nvSpPr>
        <p:spPr>
          <a:xfrm>
            <a:off x="685800" y="1325880"/>
            <a:ext cx="49834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5"/>
            </a:solidFill>
          </a:ln>
        </p:spPr>
      </p:sp>
      <p:sp>
        <p:nvSpPr>
          <p:cNvPr id="7" name="shape 7"/>
          <p:cNvSpPr/>
          <p:nvPr/>
        </p:nvSpPr>
        <p:spPr>
          <a:xfrm>
            <a:off x="685800" y="1325880"/>
            <a:ext cx="73152" cy="960120"/>
          </a:xfrm>
          <a:prstGeom prst="rect">
            <a:avLst/>
          </a:prstGeom>
          <a:solidFill>
            <a:srgbClr val="1E5AA8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850392" y="1453895"/>
            <a:ext cx="46634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100" dirty="0" b="1">
                <a:solidFill>
                  <a:srgbClr val="1E5AA8"/>
                </a:solidFill>
              </a:rPr>
              <a:t>Mechanical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850392" y="1783080"/>
            <a:ext cx="466344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880" dirty="0">
                <a:solidFill>
                  <a:srgbClr val="52667A"/>
                </a:solidFill>
              </a:rPr>
              <a:t>rigid T-slot frame, dowel-located panels, lockable pin height, accessible fasteners</a:t>
            </a:r>
          </a:p>
        </p:txBody>
      </p:sp>
      <p:sp>
        <p:nvSpPr>
          <p:cNvPr id="10" name="shape 10"/>
          <p:cNvSpPr/>
          <p:nvPr/>
        </p:nvSpPr>
        <p:spPr>
          <a:xfrm>
            <a:off x="6263640" y="1325880"/>
            <a:ext cx="49834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5"/>
            </a:solidFill>
          </a:ln>
        </p:spPr>
      </p:sp>
      <p:sp>
        <p:nvSpPr>
          <p:cNvPr id="11" name="shape 11"/>
          <p:cNvSpPr/>
          <p:nvPr/>
        </p:nvSpPr>
        <p:spPr>
          <a:xfrm>
            <a:off x="6263640" y="1325880"/>
            <a:ext cx="73152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6428231" y="1453895"/>
            <a:ext cx="46634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100" dirty="0" b="1">
                <a:solidFill>
                  <a:srgbClr val="2E7D32"/>
                </a:solidFill>
              </a:rPr>
              <a:t>Optical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6428231" y="1783080"/>
            <a:ext cx="466344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880" dirty="0">
                <a:solidFill>
                  <a:srgbClr val="52667A"/>
                </a:solidFill>
              </a:rPr>
              <a:t>fixed camera mounts, controlled lighting, calibration target, reference image library</a:t>
            </a:r>
          </a:p>
        </p:txBody>
      </p:sp>
      <p:sp>
        <p:nvSpPr>
          <p:cNvPr id="14" name="shape 14"/>
          <p:cNvSpPr/>
          <p:nvPr/>
        </p:nvSpPr>
        <p:spPr>
          <a:xfrm>
            <a:off x="685800" y="2651760"/>
            <a:ext cx="49834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5"/>
            </a:solidFill>
          </a:ln>
        </p:spPr>
      </p:sp>
      <p:sp>
        <p:nvSpPr>
          <p:cNvPr id="15" name="shape 15"/>
          <p:cNvSpPr/>
          <p:nvPr/>
        </p:nvSpPr>
        <p:spPr>
          <a:xfrm>
            <a:off x="685800" y="2651760"/>
            <a:ext cx="73152" cy="960120"/>
          </a:xfrm>
          <a:prstGeom prst="rect">
            <a:avLst/>
          </a:prstGeom>
          <a:solidFill>
            <a:srgbClr val="0097A7"/>
          </a:solidFill>
          <a:ln>
            <a:noFill/>
          </a:ln>
        </p:spPr>
      </p:sp>
      <p:sp>
        <p:nvSpPr>
          <p:cNvPr id="16" name="text 16"/>
          <p:cNvSpPr txBox="1"/>
          <p:nvPr/>
        </p:nvSpPr>
        <p:spPr>
          <a:xfrm>
            <a:off x="850392" y="2779776"/>
            <a:ext cx="46634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100" dirty="0" b="1">
                <a:solidFill>
                  <a:srgbClr val="0097A7"/>
                </a:solidFill>
              </a:rPr>
              <a:t>Electrical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850392" y="3108960"/>
            <a:ext cx="466344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880" dirty="0">
                <a:solidFill>
                  <a:srgbClr val="52667A"/>
                </a:solidFill>
              </a:rPr>
              <a:t>fused power, E-stop, isolated I/O, labeled harnesses, terminal blocks, grounding</a:t>
            </a:r>
          </a:p>
        </p:txBody>
      </p:sp>
      <p:sp>
        <p:nvSpPr>
          <p:cNvPr id="18" name="shape 18"/>
          <p:cNvSpPr/>
          <p:nvPr/>
        </p:nvSpPr>
        <p:spPr>
          <a:xfrm>
            <a:off x="6263640" y="2651760"/>
            <a:ext cx="49834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5"/>
            </a:solidFill>
          </a:ln>
        </p:spPr>
      </p:sp>
      <p:sp>
        <p:nvSpPr>
          <p:cNvPr id="19" name="shape 19"/>
          <p:cNvSpPr/>
          <p:nvPr/>
        </p:nvSpPr>
        <p:spPr>
          <a:xfrm>
            <a:off x="6263640" y="2651760"/>
            <a:ext cx="73152" cy="960120"/>
          </a:xfrm>
          <a:prstGeom prst="rect">
            <a:avLst/>
          </a:prstGeom>
          <a:solidFill>
            <a:srgbClr val="B26A00"/>
          </a:solidFill>
          <a:ln>
            <a:noFill/>
          </a:ln>
        </p:spPr>
      </p:sp>
      <p:sp>
        <p:nvSpPr>
          <p:cNvPr id="20" name="text 20"/>
          <p:cNvSpPr txBox="1"/>
          <p:nvPr/>
        </p:nvSpPr>
        <p:spPr>
          <a:xfrm>
            <a:off x="6428231" y="2779776"/>
            <a:ext cx="46634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100" dirty="0" b="1">
                <a:solidFill>
                  <a:srgbClr val="B26A00"/>
                </a:solidFill>
              </a:rPr>
              <a:t>Software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6428231" y="3108960"/>
            <a:ext cx="466344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880" dirty="0">
                <a:solidFill>
                  <a:srgbClr val="52667A"/>
                </a:solidFill>
              </a:rPr>
              <a:t>deterministic sequence, timestamped events, image comparison, retry rules, audit logs</a:t>
            </a:r>
          </a:p>
        </p:txBody>
      </p:sp>
      <p:sp>
        <p:nvSpPr>
          <p:cNvPr id="22" name="shape 22"/>
          <p:cNvSpPr/>
          <p:nvPr/>
        </p:nvSpPr>
        <p:spPr>
          <a:xfrm>
            <a:off x="685800" y="3977639"/>
            <a:ext cx="49834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5"/>
            </a:solidFill>
          </a:ln>
        </p:spPr>
      </p:sp>
      <p:sp>
        <p:nvSpPr>
          <p:cNvPr id="23" name="shape 23"/>
          <p:cNvSpPr/>
          <p:nvPr/>
        </p:nvSpPr>
        <p:spPr>
          <a:xfrm>
            <a:off x="685800" y="3977639"/>
            <a:ext cx="73152" cy="960120"/>
          </a:xfrm>
          <a:prstGeom prst="rect">
            <a:avLst/>
          </a:prstGeom>
          <a:solidFill>
            <a:srgbClr val="0B1F33"/>
          </a:solidFill>
          <a:ln>
            <a:noFill/>
          </a:ln>
        </p:spPr>
      </p:sp>
      <p:sp>
        <p:nvSpPr>
          <p:cNvPr id="24" name="text 24"/>
          <p:cNvSpPr txBox="1"/>
          <p:nvPr/>
        </p:nvSpPr>
        <p:spPr>
          <a:xfrm>
            <a:off x="850392" y="4105655"/>
            <a:ext cx="46634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100" dirty="0" b="1">
                <a:solidFill>
                  <a:srgbClr val="0B1F33"/>
                </a:solidFill>
              </a:rPr>
              <a:t>Service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850392" y="4434840"/>
            <a:ext cx="466344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880" dirty="0">
                <a:solidFill>
                  <a:srgbClr val="52667A"/>
                </a:solidFill>
              </a:rPr>
              <a:t>replaceable tips, modular actuator cartridges, panel drawings, spare part kit</a:t>
            </a:r>
          </a:p>
        </p:txBody>
      </p:sp>
      <p:sp>
        <p:nvSpPr>
          <p:cNvPr id="26" name="shape 26"/>
          <p:cNvSpPr/>
          <p:nvPr/>
        </p:nvSpPr>
        <p:spPr>
          <a:xfrm>
            <a:off x="6263640" y="3977639"/>
            <a:ext cx="49834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5"/>
            </a:solidFill>
          </a:ln>
        </p:spPr>
      </p:sp>
      <p:sp>
        <p:nvSpPr>
          <p:cNvPr id="27" name="shape 27"/>
          <p:cNvSpPr/>
          <p:nvPr/>
        </p:nvSpPr>
        <p:spPr>
          <a:xfrm>
            <a:off x="6263640" y="3977639"/>
            <a:ext cx="73152" cy="960120"/>
          </a:xfrm>
          <a:prstGeom prst="rect">
            <a:avLst/>
          </a:prstGeom>
          <a:solidFill>
            <a:srgbClr val="9E2A2B"/>
          </a:solidFill>
          <a:ln>
            <a:noFill/>
          </a:ln>
        </p:spPr>
      </p:sp>
      <p:sp>
        <p:nvSpPr>
          <p:cNvPr id="28" name="text 28"/>
          <p:cNvSpPr txBox="1"/>
          <p:nvPr/>
        </p:nvSpPr>
        <p:spPr>
          <a:xfrm>
            <a:off x="6428231" y="4105655"/>
            <a:ext cx="46634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100" dirty="0" b="1">
                <a:solidFill>
                  <a:srgbClr val="9E2A2B"/>
                </a:solidFill>
              </a:rPr>
              <a:t>Data</a:t>
            </a:r>
          </a:p>
        </p:txBody>
      </p:sp>
      <p:sp>
        <p:nvSpPr>
          <p:cNvPr id="29" name="text 29"/>
          <p:cNvSpPr txBox="1"/>
          <p:nvPr/>
        </p:nvSpPr>
        <p:spPr>
          <a:xfrm>
            <a:off x="6428231" y="4434840"/>
            <a:ext cx="466344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880" dirty="0">
                <a:solidFill>
                  <a:srgbClr val="52667A"/>
                </a:solidFill>
              </a:rPr>
              <a:t>local cache, cloud upload, serial traceability, dashboards, failure screenshots</a:t>
            </a:r>
          </a:p>
        </p:txBody>
      </p:sp>
      <p:sp>
        <p:nvSpPr>
          <p:cNvPr id="30" name="text 30"/>
          <p:cNvSpPr txBox="1"/>
          <p:nvPr/>
        </p:nvSpPr>
        <p:spPr>
          <a:xfrm>
            <a:off x="914400" y="5742432"/>
            <a:ext cx="10287000" cy="347472"/>
          </a:xfrm>
          <a:prstGeom prst="roundRect">
            <a:avLst/>
          </a:prstGeom>
          <a:solidFill>
            <a:srgbClr val="0B1F33"/>
          </a:solidFill>
          <a:ln w="12700">
            <a:solidFill>
              <a:srgbClr val="0B1F33"/>
            </a:solidFill>
          </a:ln>
        </p:spPr>
        <p:txBody>
          <a:bodyPr wrap="square" anchor="t" lIns="73152" tIns="51206" rIns="73152" bIns="51206"/>
          <a:lstStyle/>
          <a:p>
            <a:pPr algn="ctr"/>
            <a:r>
              <a:rPr lang="en-US" sz="1200" dirty="0" b="1">
                <a:solidFill>
                  <a:srgbClr val="FFFFFF"/>
                </a:solidFill>
              </a:rPr>
              <a:t>A professional-looking output comes from treating the jig as an industrial test instrument with controlled mechanics, optics, electronics, software, and data.</a:t>
            </a:r>
          </a:p>
        </p:txBody>
      </p:sp>
      <p:sp>
        <p:nvSpPr>
          <p:cNvPr id="31" name="text 31"/>
          <p:cNvSpPr txBox="1"/>
          <p:nvPr/>
        </p:nvSpPr>
        <p:spPr>
          <a:xfrm>
            <a:off x="502920" y="6473952"/>
            <a:ext cx="56692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720" dirty="0">
                <a:solidFill>
                  <a:srgbClr val="708090"/>
                </a:solidFill>
              </a:rPr>
              <a:t>Static Robo HMI Test Jig vs. Robotic Hand  |  Research Deck</a:t>
            </a:r>
          </a:p>
        </p:txBody>
      </p:sp>
      <p:sp>
        <p:nvSpPr>
          <p:cNvPr id="32" name="text 32"/>
          <p:cNvSpPr txBox="1"/>
          <p:nvPr/>
        </p:nvSpPr>
        <p:spPr>
          <a:xfrm>
            <a:off x="11384280" y="6473952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/>
            <a:r>
              <a:rPr lang="en-US" sz="720" dirty="0">
                <a:solidFill>
                  <a:srgbClr val="708090"/>
                </a:solidFill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1F33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02920" y="310896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51206" rIns="73152" bIns="51206"/>
          <a:lstStyle/>
          <a:p>
            <a:pPr algn="l"/>
            <a:r>
              <a:rPr lang="en-US" sz="850" dirty="0" b="1">
                <a:solidFill>
                  <a:srgbClr val="1E5AA8"/>
                </a:solidFill>
              </a:rPr>
              <a:t>BALANCED ASSESSMENT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502920" y="530352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2400" dirty="0" b="1">
                <a:solidFill>
                  <a:srgbClr val="102033"/>
                </a:solidFill>
              </a:rPr>
              <a:t>Risk register and mitigation plan</a:t>
            </a:r>
          </a:p>
        </p:txBody>
      </p:sp>
      <p:sp>
        <p:nvSpPr>
          <p:cNvPr id="5" name="line 5"/>
          <p:cNvSpPr/>
          <p:nvPr/>
        </p:nvSpPr>
        <p:spPr>
          <a:xfrm flipH="0" flipV="0">
            <a:off x="502920" y="1078992"/>
            <a:ext cx="11155680" cy="1"/>
          </a:xfrm>
          <a:prstGeom prst="line">
            <a:avLst/>
          </a:prstGeom>
          <a:ln w="12700">
            <a:solidFill>
              <a:srgbClr val="D5DDE5"/>
            </a:solidFill>
          </a:ln>
        </p:spPr>
      </p:sp>
      <p:sp>
        <p:nvSpPr>
          <p:cNvPr id="6" name="text 6"/>
          <p:cNvSpPr txBox="1"/>
          <p:nvPr/>
        </p:nvSpPr>
        <p:spPr>
          <a:xfrm>
            <a:off x="594360" y="1234440"/>
            <a:ext cx="2468880" cy="402336"/>
          </a:xfrm>
          <a:prstGeom prst="rect">
            <a:avLst/>
          </a:prstGeom>
          <a:solidFill>
            <a:srgbClr val="0B1F33"/>
          </a:solidFill>
          <a:ln w="12700">
            <a:solidFill>
              <a:srgbClr val="FFFFFF"/>
            </a:solidFill>
          </a:ln>
        </p:spPr>
        <p:txBody>
          <a:bodyPr wrap="square" anchor="ctr" lIns="36576" tIns="25603" rIns="36576" bIns="25603"/>
          <a:lstStyle/>
          <a:p>
            <a:pPr algn="ctr"/>
            <a:r>
              <a:rPr lang="en-US" sz="860" dirty="0" b="1">
                <a:solidFill>
                  <a:srgbClr val="FFFFFF"/>
                </a:solidFill>
              </a:rPr>
              <a:t>Risk / limitation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3063240" y="1234440"/>
            <a:ext cx="1965960" cy="402336"/>
          </a:xfrm>
          <a:prstGeom prst="rect">
            <a:avLst/>
          </a:prstGeom>
          <a:solidFill>
            <a:srgbClr val="0B1F33"/>
          </a:solidFill>
          <a:ln w="12700">
            <a:solidFill>
              <a:srgbClr val="FFFFFF"/>
            </a:solidFill>
          </a:ln>
        </p:spPr>
        <p:txBody>
          <a:bodyPr wrap="square" anchor="ctr" lIns="36576" tIns="25603" rIns="36576" bIns="25603"/>
          <a:lstStyle/>
          <a:p>
            <a:pPr algn="ctr"/>
            <a:r>
              <a:rPr lang="en-US" sz="860" dirty="0" b="1">
                <a:solidFill>
                  <a:srgbClr val="FFFFFF"/>
                </a:solidFill>
              </a:rPr>
              <a:t>Severity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5029200" y="1234440"/>
            <a:ext cx="3063240" cy="402336"/>
          </a:xfrm>
          <a:prstGeom prst="rect">
            <a:avLst/>
          </a:prstGeom>
          <a:solidFill>
            <a:srgbClr val="0B1F33"/>
          </a:solidFill>
          <a:ln w="12700">
            <a:solidFill>
              <a:srgbClr val="FFFFFF"/>
            </a:solidFill>
          </a:ln>
        </p:spPr>
        <p:txBody>
          <a:bodyPr wrap="square" anchor="ctr" lIns="36576" tIns="25603" rIns="36576" bIns="25603"/>
          <a:lstStyle/>
          <a:p>
            <a:pPr algn="ctr"/>
            <a:r>
              <a:rPr lang="en-US" sz="860" dirty="0" b="1">
                <a:solidFill>
                  <a:srgbClr val="FFFFFF"/>
                </a:solidFill>
              </a:rPr>
              <a:t>Mitigation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8092440" y="1234440"/>
            <a:ext cx="2743200" cy="402336"/>
          </a:xfrm>
          <a:prstGeom prst="rect">
            <a:avLst/>
          </a:prstGeom>
          <a:solidFill>
            <a:srgbClr val="0B1F33"/>
          </a:solidFill>
          <a:ln w="12700">
            <a:solidFill>
              <a:srgbClr val="FFFFFF"/>
            </a:solidFill>
          </a:ln>
        </p:spPr>
        <p:txBody>
          <a:bodyPr wrap="square" anchor="ctr" lIns="36576" tIns="25603" rIns="36576" bIns="25603"/>
          <a:lstStyle/>
          <a:p>
            <a:pPr algn="ctr"/>
            <a:r>
              <a:rPr lang="en-US" sz="860" dirty="0" b="1">
                <a:solidFill>
                  <a:srgbClr val="FFFFFF"/>
                </a:solidFill>
              </a:rPr>
              <a:t>Residual impact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594360" y="1636776"/>
            <a:ext cx="24688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Product layout changes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3063240" y="1636776"/>
            <a:ext cx="19659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medium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5029200" y="1636776"/>
            <a:ext cx="30632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use modular plates, movable rails, stored calibration templates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8092440" y="1636776"/>
            <a:ext cx="27432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manageable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594360" y="2039112"/>
            <a:ext cx="2468880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Very complex gestures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3063240" y="2039112"/>
            <a:ext cx="1965960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medium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5029200" y="2039112"/>
            <a:ext cx="3063240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add specialized swipe/drag/rotary modules only where needed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8092440" y="2039112"/>
            <a:ext cx="2743200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localized design work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594360" y="2441448"/>
            <a:ext cx="24688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Camera occlusion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3063240" y="2441448"/>
            <a:ext cx="19659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medium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5029200" y="2441448"/>
            <a:ext cx="30632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use multi-camera angles, lighting control, clear pin placement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8092440" y="2441448"/>
            <a:ext cx="27432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manageable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594360" y="2843784"/>
            <a:ext cx="2468880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Pin wear or surface marks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3063240" y="2843784"/>
            <a:ext cx="1965960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low/medium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5029200" y="2843784"/>
            <a:ext cx="3063240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use replaceable soft tips, force limits, inspection schedule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8092440" y="2843784"/>
            <a:ext cx="2743200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low</a:t>
            </a:r>
          </a:p>
        </p:txBody>
      </p:sp>
      <p:sp>
        <p:nvSpPr>
          <p:cNvPr id="26" name="text 26"/>
          <p:cNvSpPr txBox="1"/>
          <p:nvPr/>
        </p:nvSpPr>
        <p:spPr>
          <a:xfrm>
            <a:off x="594360" y="3246120"/>
            <a:ext cx="24688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Cloud connectivity loss</a:t>
            </a:r>
          </a:p>
        </p:txBody>
      </p:sp>
      <p:sp>
        <p:nvSpPr>
          <p:cNvPr id="27" name="text 27"/>
          <p:cNvSpPr txBox="1"/>
          <p:nvPr/>
        </p:nvSpPr>
        <p:spPr>
          <a:xfrm>
            <a:off x="3063240" y="3246120"/>
            <a:ext cx="19659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low/medium</a:t>
            </a:r>
          </a:p>
        </p:txBody>
      </p:sp>
      <p:sp>
        <p:nvSpPr>
          <p:cNvPr id="28" name="text 28"/>
          <p:cNvSpPr txBox="1"/>
          <p:nvPr/>
        </p:nvSpPr>
        <p:spPr>
          <a:xfrm>
            <a:off x="5029200" y="3246120"/>
            <a:ext cx="30632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local cache and delayed upload</a:t>
            </a:r>
          </a:p>
        </p:txBody>
      </p:sp>
      <p:sp>
        <p:nvSpPr>
          <p:cNvPr id="29" name="text 29"/>
          <p:cNvSpPr txBox="1"/>
          <p:nvPr/>
        </p:nvSpPr>
        <p:spPr>
          <a:xfrm>
            <a:off x="8092440" y="3246120"/>
            <a:ext cx="27432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low</a:t>
            </a:r>
          </a:p>
        </p:txBody>
      </p:sp>
      <p:sp>
        <p:nvSpPr>
          <p:cNvPr id="30" name="text 30"/>
          <p:cNvSpPr txBox="1"/>
          <p:nvPr/>
        </p:nvSpPr>
        <p:spPr>
          <a:xfrm>
            <a:off x="594360" y="3648456"/>
            <a:ext cx="2468880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Initial fixture setup time</a:t>
            </a:r>
          </a:p>
        </p:txBody>
      </p:sp>
      <p:sp>
        <p:nvSpPr>
          <p:cNvPr id="31" name="text 31"/>
          <p:cNvSpPr txBox="1"/>
          <p:nvPr/>
        </p:nvSpPr>
        <p:spPr>
          <a:xfrm>
            <a:off x="3063240" y="3648456"/>
            <a:ext cx="1965960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medium</a:t>
            </a:r>
          </a:p>
        </p:txBody>
      </p:sp>
      <p:sp>
        <p:nvSpPr>
          <p:cNvPr id="32" name="text 32"/>
          <p:cNvSpPr txBox="1"/>
          <p:nvPr/>
        </p:nvSpPr>
        <p:spPr>
          <a:xfrm>
            <a:off x="5029200" y="3648456"/>
            <a:ext cx="3063240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document calibration workflow and reusable templates</a:t>
            </a:r>
          </a:p>
        </p:txBody>
      </p:sp>
      <p:sp>
        <p:nvSpPr>
          <p:cNvPr id="33" name="text 33"/>
          <p:cNvSpPr txBox="1"/>
          <p:nvPr/>
        </p:nvSpPr>
        <p:spPr>
          <a:xfrm>
            <a:off x="8092440" y="3648456"/>
            <a:ext cx="2743200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low after first setup</a:t>
            </a:r>
          </a:p>
        </p:txBody>
      </p:sp>
      <p:sp>
        <p:nvSpPr>
          <p:cNvPr id="34" name="text 34"/>
          <p:cNvSpPr txBox="1"/>
          <p:nvPr/>
        </p:nvSpPr>
        <p:spPr>
          <a:xfrm>
            <a:off x="822960" y="5623560"/>
            <a:ext cx="10561320" cy="411480"/>
          </a:xfrm>
          <a:prstGeom prst="roundRect">
            <a:avLst/>
          </a:prstGeom>
          <a:solidFill>
            <a:srgbClr val="FFF7E6"/>
          </a:solidFill>
          <a:ln w="12700">
            <a:solidFill>
              <a:srgbClr val="E0B15A"/>
            </a:solidFill>
          </a:ln>
        </p:spPr>
        <p:txBody>
          <a:bodyPr wrap="square" anchor="t" lIns="73152" tIns="51206" rIns="73152" bIns="51206"/>
          <a:lstStyle/>
          <a:p>
            <a:pPr algn="ctr"/>
            <a:r>
              <a:rPr lang="en-US" sz="1300" dirty="0" b="1">
                <a:solidFill>
                  <a:srgbClr val="102033"/>
                </a:solidFill>
              </a:rPr>
              <a:t>Balanced conclusion: the jig is not a universal manipulator, but it is the stronger engineering choice for known HMI validation targets.</a:t>
            </a:r>
          </a:p>
        </p:txBody>
      </p:sp>
      <p:sp>
        <p:nvSpPr>
          <p:cNvPr id="35" name="text 35"/>
          <p:cNvSpPr txBox="1"/>
          <p:nvPr/>
        </p:nvSpPr>
        <p:spPr>
          <a:xfrm>
            <a:off x="502920" y="6473952"/>
            <a:ext cx="56692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720" dirty="0">
                <a:solidFill>
                  <a:srgbClr val="708090"/>
                </a:solidFill>
              </a:rPr>
              <a:t>Static Robo HMI Test Jig vs. Robotic Hand  |  Research Deck</a:t>
            </a:r>
          </a:p>
        </p:txBody>
      </p:sp>
      <p:sp>
        <p:nvSpPr>
          <p:cNvPr id="36" name="text 36"/>
          <p:cNvSpPr txBox="1"/>
          <p:nvPr/>
        </p:nvSpPr>
        <p:spPr>
          <a:xfrm>
            <a:off x="11384280" y="6473952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/>
            <a:r>
              <a:rPr lang="en-US" sz="720" dirty="0">
                <a:solidFill>
                  <a:srgbClr val="708090"/>
                </a:solidFill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1F33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02920" y="310896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51206" rIns="73152" bIns="51206"/>
          <a:lstStyle/>
          <a:p>
            <a:pPr algn="l"/>
            <a:r>
              <a:rPr lang="en-US" sz="850" dirty="0" b="1">
                <a:solidFill>
                  <a:srgbClr val="1E5AA8"/>
                </a:solidFill>
              </a:rPr>
              <a:t>VALUE CASE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502920" y="530352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2400" dirty="0" b="1">
                <a:solidFill>
                  <a:srgbClr val="102033"/>
                </a:solidFill>
              </a:rPr>
              <a:t>Business value: where the static jig creates measurable advantage</a:t>
            </a:r>
          </a:p>
        </p:txBody>
      </p:sp>
      <p:sp>
        <p:nvSpPr>
          <p:cNvPr id="5" name="line 5"/>
          <p:cNvSpPr/>
          <p:nvPr/>
        </p:nvSpPr>
        <p:spPr>
          <a:xfrm flipH="0" flipV="0">
            <a:off x="502920" y="1078992"/>
            <a:ext cx="11155680" cy="1"/>
          </a:xfrm>
          <a:prstGeom prst="line">
            <a:avLst/>
          </a:prstGeom>
          <a:ln w="12700">
            <a:solidFill>
              <a:srgbClr val="D5DDE5"/>
            </a:solidFill>
          </a:ln>
        </p:spPr>
      </p:sp>
      <p:sp>
        <p:nvSpPr>
          <p:cNvPr id="6" name="shape 6"/>
          <p:cNvSpPr/>
          <p:nvPr/>
        </p:nvSpPr>
        <p:spPr>
          <a:xfrm>
            <a:off x="685800" y="1417320"/>
            <a:ext cx="24231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5"/>
            </a:solidFill>
          </a:ln>
        </p:spPr>
      </p:sp>
      <p:sp>
        <p:nvSpPr>
          <p:cNvPr id="7" name="text 7"/>
          <p:cNvSpPr txBox="1"/>
          <p:nvPr/>
        </p:nvSpPr>
        <p:spPr>
          <a:xfrm>
            <a:off x="850392" y="1600200"/>
            <a:ext cx="2084831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919" dirty="0" b="1">
                <a:solidFill>
                  <a:srgbClr val="1E5AA8"/>
                </a:solidFill>
              </a:rPr>
              <a:t>Lower capital spend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886968" y="1984248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760" dirty="0">
                <a:solidFill>
                  <a:srgbClr val="52667A"/>
                </a:solidFill>
              </a:rPr>
              <a:t>fewer specialized robotic components</a:t>
            </a:r>
          </a:p>
        </p:txBody>
      </p:sp>
      <p:sp>
        <p:nvSpPr>
          <p:cNvPr id="9" name="shape 9"/>
          <p:cNvSpPr/>
          <p:nvPr/>
        </p:nvSpPr>
        <p:spPr>
          <a:xfrm>
            <a:off x="3474720" y="1417320"/>
            <a:ext cx="24231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5"/>
            </a:solidFill>
          </a:ln>
        </p:spPr>
      </p:sp>
      <p:sp>
        <p:nvSpPr>
          <p:cNvPr id="10" name="text 10"/>
          <p:cNvSpPr txBox="1"/>
          <p:nvPr/>
        </p:nvSpPr>
        <p:spPr>
          <a:xfrm>
            <a:off x="3639312" y="1600200"/>
            <a:ext cx="2084831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919" dirty="0" b="1">
                <a:solidFill>
                  <a:srgbClr val="2E7D32"/>
                </a:solidFill>
              </a:rPr>
              <a:t>Lower operating cost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3675887" y="1984248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760" dirty="0">
                <a:solidFill>
                  <a:srgbClr val="52667A"/>
                </a:solidFill>
              </a:rPr>
              <a:t>less power, simpler spares, less downtime</a:t>
            </a:r>
          </a:p>
        </p:txBody>
      </p:sp>
      <p:sp>
        <p:nvSpPr>
          <p:cNvPr id="12" name="shape 12"/>
          <p:cNvSpPr/>
          <p:nvPr/>
        </p:nvSpPr>
        <p:spPr>
          <a:xfrm>
            <a:off x="6263640" y="1417320"/>
            <a:ext cx="24231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5"/>
            </a:solidFill>
          </a:ln>
        </p:spPr>
      </p:sp>
      <p:sp>
        <p:nvSpPr>
          <p:cNvPr id="13" name="text 13"/>
          <p:cNvSpPr txBox="1"/>
          <p:nvPr/>
        </p:nvSpPr>
        <p:spPr>
          <a:xfrm>
            <a:off x="6428231" y="1600200"/>
            <a:ext cx="2084831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919" dirty="0" b="1">
                <a:solidFill>
                  <a:srgbClr val="1E5AA8"/>
                </a:solidFill>
              </a:rPr>
              <a:t>Higher throughput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6464807" y="1984248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760" dirty="0">
                <a:solidFill>
                  <a:srgbClr val="52667A"/>
                </a:solidFill>
              </a:rPr>
              <a:t>parallel contacts and deterministic sequences</a:t>
            </a:r>
          </a:p>
        </p:txBody>
      </p:sp>
      <p:sp>
        <p:nvSpPr>
          <p:cNvPr id="15" name="shape 15"/>
          <p:cNvSpPr/>
          <p:nvPr/>
        </p:nvSpPr>
        <p:spPr>
          <a:xfrm>
            <a:off x="9052559" y="1417320"/>
            <a:ext cx="24231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5"/>
            </a:solidFill>
          </a:ln>
        </p:spPr>
      </p:sp>
      <p:sp>
        <p:nvSpPr>
          <p:cNvPr id="16" name="text 16"/>
          <p:cNvSpPr txBox="1"/>
          <p:nvPr/>
        </p:nvSpPr>
        <p:spPr>
          <a:xfrm>
            <a:off x="9217151" y="1600200"/>
            <a:ext cx="2084831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919" dirty="0" b="1">
                <a:solidFill>
                  <a:srgbClr val="2E7D32"/>
                </a:solidFill>
              </a:rPr>
              <a:t>Better quality evidence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9253728" y="1984248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760" dirty="0">
                <a:solidFill>
                  <a:srgbClr val="52667A"/>
                </a:solidFill>
              </a:rPr>
              <a:t>camera screenshots and pixel-level checks</a:t>
            </a:r>
          </a:p>
        </p:txBody>
      </p:sp>
      <p:sp>
        <p:nvSpPr>
          <p:cNvPr id="18" name="shape 18"/>
          <p:cNvSpPr/>
          <p:nvPr/>
        </p:nvSpPr>
        <p:spPr>
          <a:xfrm>
            <a:off x="685800" y="3246120"/>
            <a:ext cx="24231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5"/>
            </a:solidFill>
          </a:ln>
        </p:spPr>
      </p:sp>
      <p:sp>
        <p:nvSpPr>
          <p:cNvPr id="19" name="text 19"/>
          <p:cNvSpPr txBox="1"/>
          <p:nvPr/>
        </p:nvSpPr>
        <p:spPr>
          <a:xfrm>
            <a:off x="850392" y="3429000"/>
            <a:ext cx="2084831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919" dirty="0" b="1">
                <a:solidFill>
                  <a:srgbClr val="1E5AA8"/>
                </a:solidFill>
              </a:rPr>
              <a:t>Faster product adaptation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886968" y="3813048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760" dirty="0">
                <a:solidFill>
                  <a:srgbClr val="52667A"/>
                </a:solidFill>
              </a:rPr>
              <a:t>modular panels and adjustable pins</a:t>
            </a:r>
          </a:p>
        </p:txBody>
      </p:sp>
      <p:sp>
        <p:nvSpPr>
          <p:cNvPr id="21" name="shape 21"/>
          <p:cNvSpPr/>
          <p:nvPr/>
        </p:nvSpPr>
        <p:spPr>
          <a:xfrm>
            <a:off x="3474720" y="3246120"/>
            <a:ext cx="24231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5"/>
            </a:solidFill>
          </a:ln>
        </p:spPr>
      </p:sp>
      <p:sp>
        <p:nvSpPr>
          <p:cNvPr id="22" name="text 22"/>
          <p:cNvSpPr txBox="1"/>
          <p:nvPr/>
        </p:nvSpPr>
        <p:spPr>
          <a:xfrm>
            <a:off x="3639312" y="3429000"/>
            <a:ext cx="2084831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919" dirty="0" b="1">
                <a:solidFill>
                  <a:srgbClr val="2E7D32"/>
                </a:solidFill>
              </a:rPr>
              <a:t>Field/vehicle readiness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3675887" y="3813048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760" dirty="0">
                <a:solidFill>
                  <a:srgbClr val="52667A"/>
                </a:solidFill>
              </a:rPr>
              <a:t>compact, light, and low power</a:t>
            </a:r>
          </a:p>
        </p:txBody>
      </p:sp>
      <p:sp>
        <p:nvSpPr>
          <p:cNvPr id="24" name="shape 24"/>
          <p:cNvSpPr/>
          <p:nvPr/>
        </p:nvSpPr>
        <p:spPr>
          <a:xfrm>
            <a:off x="6263640" y="3246120"/>
            <a:ext cx="24231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5"/>
            </a:solidFill>
          </a:ln>
        </p:spPr>
      </p:sp>
      <p:sp>
        <p:nvSpPr>
          <p:cNvPr id="25" name="text 25"/>
          <p:cNvSpPr txBox="1"/>
          <p:nvPr/>
        </p:nvSpPr>
        <p:spPr>
          <a:xfrm>
            <a:off x="6428231" y="3429000"/>
            <a:ext cx="2084831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919" dirty="0" b="1">
                <a:solidFill>
                  <a:srgbClr val="1E5AA8"/>
                </a:solidFill>
              </a:rPr>
              <a:t>Improved traceability</a:t>
            </a:r>
          </a:p>
        </p:txBody>
      </p:sp>
      <p:sp>
        <p:nvSpPr>
          <p:cNvPr id="26" name="text 26"/>
          <p:cNvSpPr txBox="1"/>
          <p:nvPr/>
        </p:nvSpPr>
        <p:spPr>
          <a:xfrm>
            <a:off x="6464807" y="3813048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760" dirty="0">
                <a:solidFill>
                  <a:srgbClr val="52667A"/>
                </a:solidFill>
              </a:rPr>
              <a:t>cloud records linked to unit serial numbers</a:t>
            </a:r>
          </a:p>
        </p:txBody>
      </p:sp>
      <p:sp>
        <p:nvSpPr>
          <p:cNvPr id="27" name="shape 27"/>
          <p:cNvSpPr/>
          <p:nvPr/>
        </p:nvSpPr>
        <p:spPr>
          <a:xfrm>
            <a:off x="9052559" y="3246120"/>
            <a:ext cx="24231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5"/>
            </a:solidFill>
          </a:ln>
        </p:spPr>
      </p:sp>
      <p:sp>
        <p:nvSpPr>
          <p:cNvPr id="28" name="text 28"/>
          <p:cNvSpPr txBox="1"/>
          <p:nvPr/>
        </p:nvSpPr>
        <p:spPr>
          <a:xfrm>
            <a:off x="9217151" y="3429000"/>
            <a:ext cx="2084831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919" dirty="0" b="1">
                <a:solidFill>
                  <a:srgbClr val="2E7D32"/>
                </a:solidFill>
              </a:rPr>
              <a:t>Reduced training burden</a:t>
            </a:r>
          </a:p>
        </p:txBody>
      </p:sp>
      <p:sp>
        <p:nvSpPr>
          <p:cNvPr id="29" name="text 29"/>
          <p:cNvSpPr txBox="1"/>
          <p:nvPr/>
        </p:nvSpPr>
        <p:spPr>
          <a:xfrm>
            <a:off x="9253728" y="3813048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760" dirty="0">
                <a:solidFill>
                  <a:srgbClr val="52667A"/>
                </a:solidFill>
              </a:rPr>
              <a:t>fixture operation instead of robot programming</a:t>
            </a:r>
          </a:p>
        </p:txBody>
      </p:sp>
      <p:sp>
        <p:nvSpPr>
          <p:cNvPr id="30" name="text 30"/>
          <p:cNvSpPr txBox="1"/>
          <p:nvPr/>
        </p:nvSpPr>
        <p:spPr>
          <a:xfrm>
            <a:off x="914400" y="5623560"/>
            <a:ext cx="10287000" cy="384048"/>
          </a:xfrm>
          <a:prstGeom prst="roundRect">
            <a:avLst/>
          </a:prstGeom>
          <a:solidFill>
            <a:srgbClr val="0B1F33"/>
          </a:solidFill>
          <a:ln w="12700">
            <a:solidFill>
              <a:srgbClr val="0B1F33"/>
            </a:solidFill>
          </a:ln>
        </p:spPr>
        <p:txBody>
          <a:bodyPr wrap="square" anchor="t" lIns="73152" tIns="51206" rIns="73152" bIns="51206"/>
          <a:lstStyle/>
          <a:p>
            <a:pPr algn="ctr"/>
            <a:r>
              <a:rPr lang="en-US" sz="1400" dirty="0" b="1">
                <a:solidFill>
                  <a:srgbClr val="FFFFFF"/>
                </a:solidFill>
              </a:rPr>
              <a:t>The static jig is not just cheaper hardware; it is a better test economics model for repeatable HMI validation.</a:t>
            </a:r>
          </a:p>
        </p:txBody>
      </p:sp>
      <p:sp>
        <p:nvSpPr>
          <p:cNvPr id="31" name="text 31"/>
          <p:cNvSpPr txBox="1"/>
          <p:nvPr/>
        </p:nvSpPr>
        <p:spPr>
          <a:xfrm>
            <a:off x="502920" y="6473952"/>
            <a:ext cx="56692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720" dirty="0">
                <a:solidFill>
                  <a:srgbClr val="708090"/>
                </a:solidFill>
              </a:rPr>
              <a:t>Static Robo HMI Test Jig vs. Robotic Hand  |  Research Deck</a:t>
            </a:r>
          </a:p>
        </p:txBody>
      </p:sp>
      <p:sp>
        <p:nvSpPr>
          <p:cNvPr id="32" name="text 32"/>
          <p:cNvSpPr txBox="1"/>
          <p:nvPr/>
        </p:nvSpPr>
        <p:spPr>
          <a:xfrm>
            <a:off x="11384280" y="6473952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/>
            <a:r>
              <a:rPr lang="en-US" sz="720" dirty="0">
                <a:solidFill>
                  <a:srgbClr val="708090"/>
                </a:solidFill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1F33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02920" y="310896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51206" rIns="73152" bIns="51206"/>
          <a:lstStyle/>
          <a:p>
            <a:pPr algn="l"/>
            <a:r>
              <a:rPr lang="en-US" sz="850" dirty="0" b="1">
                <a:solidFill>
                  <a:srgbClr val="1E5AA8"/>
                </a:solidFill>
              </a:rPr>
              <a:t>CONCLUSION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502920" y="530352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2400" dirty="0" b="1">
                <a:solidFill>
                  <a:srgbClr val="102033"/>
                </a:solidFill>
              </a:rPr>
              <a:t>Final recommendation</a:t>
            </a:r>
          </a:p>
        </p:txBody>
      </p:sp>
      <p:sp>
        <p:nvSpPr>
          <p:cNvPr id="5" name="line 5"/>
          <p:cNvSpPr/>
          <p:nvPr/>
        </p:nvSpPr>
        <p:spPr>
          <a:xfrm flipH="0" flipV="0">
            <a:off x="502920" y="1078992"/>
            <a:ext cx="11155680" cy="1"/>
          </a:xfrm>
          <a:prstGeom prst="line">
            <a:avLst/>
          </a:prstGeom>
          <a:ln w="12700">
            <a:solidFill>
              <a:srgbClr val="D5DDE5"/>
            </a:solidFill>
          </a:ln>
        </p:spPr>
      </p:sp>
      <p:sp>
        <p:nvSpPr>
          <p:cNvPr id="6" name="text 6"/>
          <p:cNvSpPr txBox="1"/>
          <p:nvPr/>
        </p:nvSpPr>
        <p:spPr>
          <a:xfrm>
            <a:off x="777240" y="1417320"/>
            <a:ext cx="1065276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2200" dirty="0" b="1">
                <a:solidFill>
                  <a:srgbClr val="102033"/>
                </a:solidFill>
              </a:rPr>
              <a:t>Choose the static Robo HMI test jig as the primary platform for HMI screen, button, knob, and dashboard validation.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914400" y="2514600"/>
            <a:ext cx="3246120" cy="530352"/>
          </a:xfrm>
          <a:prstGeom prst="rect">
            <a:avLst/>
          </a:prstGeom>
          <a:solidFill>
            <a:srgbClr val="0B1F33"/>
          </a:solidFill>
          <a:ln w="12700">
            <a:solidFill>
              <a:srgbClr val="FFFFFF"/>
            </a:solidFill>
          </a:ln>
        </p:spPr>
        <p:txBody>
          <a:bodyPr wrap="square" anchor="ctr" lIns="36576" tIns="25603" rIns="36576" bIns="25603"/>
          <a:lstStyle/>
          <a:p>
            <a:pPr algn="ctr"/>
            <a:r>
              <a:rPr lang="en-US" sz="860" dirty="0" b="1">
                <a:solidFill>
                  <a:srgbClr val="FFFFFF"/>
                </a:solidFill>
              </a:rPr>
              <a:t>Why it is more effective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4160520" y="2514600"/>
            <a:ext cx="3246120" cy="530352"/>
          </a:xfrm>
          <a:prstGeom prst="rect">
            <a:avLst/>
          </a:prstGeom>
          <a:solidFill>
            <a:srgbClr val="0B1F33"/>
          </a:solidFill>
          <a:ln w="12700">
            <a:solidFill>
              <a:srgbClr val="FFFFFF"/>
            </a:solidFill>
          </a:ln>
        </p:spPr>
        <p:txBody>
          <a:bodyPr wrap="square" anchor="ctr" lIns="36576" tIns="25603" rIns="36576" bIns="25603"/>
          <a:lstStyle/>
          <a:p>
            <a:pPr algn="ctr"/>
            <a:r>
              <a:rPr lang="en-US" sz="860" dirty="0" b="1">
                <a:solidFill>
                  <a:srgbClr val="FFFFFF"/>
                </a:solidFill>
              </a:rPr>
              <a:t>Why it is more versatile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7406640" y="2514600"/>
            <a:ext cx="3246120" cy="530352"/>
          </a:xfrm>
          <a:prstGeom prst="rect">
            <a:avLst/>
          </a:prstGeom>
          <a:solidFill>
            <a:srgbClr val="0B1F33"/>
          </a:solidFill>
          <a:ln w="12700">
            <a:solidFill>
              <a:srgbClr val="FFFFFF"/>
            </a:solidFill>
          </a:ln>
        </p:spPr>
        <p:txBody>
          <a:bodyPr wrap="square" anchor="ctr" lIns="36576" tIns="25603" rIns="36576" bIns="25603"/>
          <a:lstStyle/>
          <a:p>
            <a:pPr algn="ctr"/>
            <a:r>
              <a:rPr lang="en-US" sz="860" dirty="0" b="1">
                <a:solidFill>
                  <a:srgbClr val="FFFFFF"/>
                </a:solidFill>
              </a:rPr>
              <a:t>Why it is more cost-effective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914400" y="3044952"/>
            <a:ext cx="32461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fixed geometry gives repeatable contacts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4160520" y="3044952"/>
            <a:ext cx="32461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modular frame supports small/large screens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7406640" y="3044952"/>
            <a:ext cx="32461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commodity parts replace expensive dexterity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914400" y="3575304"/>
            <a:ext cx="3246120" cy="530352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camera feedback verifies the actual HMI output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4160520" y="3575304"/>
            <a:ext cx="3246120" cy="530352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screw-adjustable pins handle curved surfaces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7406640" y="3575304"/>
            <a:ext cx="3246120" cy="530352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lower maintenance and calibration burden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914400" y="4105656"/>
            <a:ext cx="32461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cloud logs create traceable evidence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4160520" y="4105656"/>
            <a:ext cx="32461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knob/button/touch modules can be swapped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7406640" y="4105656"/>
            <a:ext cx="32461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lower power and smaller deployment footprint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914400" y="4636008"/>
            <a:ext cx="3246120" cy="530352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better suited to in-vehicle real-world tests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4160520" y="4636008"/>
            <a:ext cx="3246120" cy="530352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portable enough for lab, field, and vehicle use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7406640" y="4636008"/>
            <a:ext cx="3246120" cy="530352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faster repair with simple spare parts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960120" y="5440680"/>
            <a:ext cx="10287000" cy="594360"/>
          </a:xfrm>
          <a:prstGeom prst="roundRect">
            <a:avLst/>
          </a:prstGeom>
          <a:solidFill>
            <a:srgbClr val="0B1F33"/>
          </a:solidFill>
          <a:ln w="12700">
            <a:solidFill>
              <a:srgbClr val="0B1F33"/>
            </a:solidFill>
          </a:ln>
        </p:spPr>
        <p:txBody>
          <a:bodyPr wrap="square" anchor="t" lIns="73152" tIns="51206" rIns="73152" bIns="51206"/>
          <a:lstStyle/>
          <a:p>
            <a:pPr algn="ctr"/>
            <a:r>
              <a:rPr lang="en-US" sz="1500" dirty="0" b="1">
                <a:solidFill>
                  <a:srgbClr val="FFFFFF"/>
                </a:solidFill>
              </a:rPr>
              <a:t>Use a robotic hand only when the requirement is truly human-like manipulation of unknown objects. For known HMI layouts, the static jig is the more practical, scalable, and defensible engineering solution.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502920" y="6473952"/>
            <a:ext cx="56692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720" dirty="0">
                <a:solidFill>
                  <a:srgbClr val="708090"/>
                </a:solidFill>
              </a:rPr>
              <a:t>Static Robo HMI Test Jig vs. Robotic Hand  |  Research Deck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11384280" y="6473952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/>
            <a:r>
              <a:rPr lang="en-US" sz="720" dirty="0">
                <a:solidFill>
                  <a:srgbClr val="708090"/>
                </a:solidFill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1F33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02920" y="310896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51206" rIns="73152" bIns="51206"/>
          <a:lstStyle/>
          <a:p>
            <a:pPr algn="l"/>
            <a:r>
              <a:rPr lang="en-US" sz="850" dirty="0" b="1">
                <a:solidFill>
                  <a:srgbClr val="1E5AA8"/>
                </a:solidFill>
              </a:rPr>
              <a:t>PRESENTER NOTES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502920" y="530352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2400" dirty="0" b="1">
                <a:solidFill>
                  <a:srgbClr val="102033"/>
                </a:solidFill>
              </a:rPr>
              <a:t>Appendix: slide-by-slide narrative for presenting the deck</a:t>
            </a:r>
          </a:p>
        </p:txBody>
      </p:sp>
      <p:sp>
        <p:nvSpPr>
          <p:cNvPr id="5" name="line 5"/>
          <p:cNvSpPr/>
          <p:nvPr/>
        </p:nvSpPr>
        <p:spPr>
          <a:xfrm flipH="0" flipV="0">
            <a:off x="502920" y="1078992"/>
            <a:ext cx="11155680" cy="1"/>
          </a:xfrm>
          <a:prstGeom prst="line">
            <a:avLst/>
          </a:prstGeom>
          <a:ln w="12700">
            <a:solidFill>
              <a:srgbClr val="D5DDE5"/>
            </a:solidFill>
          </a:ln>
        </p:spPr>
      </p:sp>
      <p:sp>
        <p:nvSpPr>
          <p:cNvPr id="6" name="text 6"/>
          <p:cNvSpPr txBox="1"/>
          <p:nvPr/>
        </p:nvSpPr>
        <p:spPr>
          <a:xfrm>
            <a:off x="594360" y="1234440"/>
            <a:ext cx="1097280" cy="347472"/>
          </a:xfrm>
          <a:prstGeom prst="rect">
            <a:avLst/>
          </a:prstGeom>
          <a:solidFill>
            <a:srgbClr val="0B1F33"/>
          </a:solidFill>
          <a:ln w="12700">
            <a:solidFill>
              <a:srgbClr val="FFFFFF"/>
            </a:solidFill>
          </a:ln>
        </p:spPr>
        <p:txBody>
          <a:bodyPr wrap="square" anchor="ctr" lIns="36576" tIns="25603" rIns="36576" bIns="25603"/>
          <a:lstStyle/>
          <a:p>
            <a:pPr algn="ctr"/>
            <a:r>
              <a:rPr lang="en-US" sz="860" dirty="0" b="1">
                <a:solidFill>
                  <a:srgbClr val="FFFFFF"/>
                </a:solidFill>
              </a:rPr>
              <a:t>Slide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1691640" y="1234440"/>
            <a:ext cx="4206240" cy="347472"/>
          </a:xfrm>
          <a:prstGeom prst="rect">
            <a:avLst/>
          </a:prstGeom>
          <a:solidFill>
            <a:srgbClr val="0B1F33"/>
          </a:solidFill>
          <a:ln w="12700">
            <a:solidFill>
              <a:srgbClr val="FFFFFF"/>
            </a:solidFill>
          </a:ln>
        </p:spPr>
        <p:txBody>
          <a:bodyPr wrap="square" anchor="ctr" lIns="36576" tIns="25603" rIns="36576" bIns="25603"/>
          <a:lstStyle/>
          <a:p>
            <a:pPr algn="ctr"/>
            <a:r>
              <a:rPr lang="en-US" sz="860" dirty="0" b="1">
                <a:solidFill>
                  <a:srgbClr val="FFFFFF"/>
                </a:solidFill>
              </a:rPr>
              <a:t>Purpose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5897880" y="1234440"/>
            <a:ext cx="5486400" cy="347472"/>
          </a:xfrm>
          <a:prstGeom prst="rect">
            <a:avLst/>
          </a:prstGeom>
          <a:solidFill>
            <a:srgbClr val="0B1F33"/>
          </a:solidFill>
          <a:ln w="12700">
            <a:solidFill>
              <a:srgbClr val="FFFFFF"/>
            </a:solidFill>
          </a:ln>
        </p:spPr>
        <p:txBody>
          <a:bodyPr wrap="square" anchor="ctr" lIns="36576" tIns="25603" rIns="36576" bIns="25603"/>
          <a:lstStyle/>
          <a:p>
            <a:pPr algn="ctr"/>
            <a:r>
              <a:rPr lang="en-US" sz="860" dirty="0" b="1">
                <a:solidFill>
                  <a:srgbClr val="FFFFFF"/>
                </a:solidFill>
              </a:rPr>
              <a:t>Presenter message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594360" y="1581912"/>
            <a:ext cx="10972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1–3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1691640" y="1581912"/>
            <a:ext cx="42062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Frame the decision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5897880" y="1581912"/>
            <a:ext cx="54864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The objective is not to imitate a hand; it is to validate HMI behavior with repeatability and evidence.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594360" y="1929384"/>
            <a:ext cx="1097280" cy="347472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4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1691640" y="1929384"/>
            <a:ext cx="4206240" cy="347472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Explain architecture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5897880" y="1929384"/>
            <a:ext cx="5486400" cy="347472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The jig combines mechanical actuation, cameras, electrical I/O, and cloud reporting.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594360" y="2276856"/>
            <a:ext cx="10972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5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1691640" y="2276856"/>
            <a:ext cx="42062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Defend cost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5897880" y="2276856"/>
            <a:ext cx="54864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Robotic hand cost is driven by dexterity that adds little value to fixed HMI tests.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594360" y="2624328"/>
            <a:ext cx="1097280" cy="347472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6–8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1691640" y="2624328"/>
            <a:ext cx="4206240" cy="347472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Show technical advantages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5897880" y="2624328"/>
            <a:ext cx="5486400" cy="347472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Modularity, adjustable pins, and cameras solve real HMI problems directly.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594360" y="2971800"/>
            <a:ext cx="10972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9–13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1691640" y="2971800"/>
            <a:ext cx="42062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Show operations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5897880" y="2971800"/>
            <a:ext cx="54864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Low power, serviceability, portability, and cloud data improve daily usability.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594360" y="3319272"/>
            <a:ext cx="1097280" cy="347472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14–18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1691640" y="3319272"/>
            <a:ext cx="4206240" cy="347472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Make the business case</a:t>
            </a:r>
          </a:p>
        </p:txBody>
      </p:sp>
      <p:sp>
        <p:nvSpPr>
          <p:cNvPr id="26" name="text 26"/>
          <p:cNvSpPr txBox="1"/>
          <p:nvPr/>
        </p:nvSpPr>
        <p:spPr>
          <a:xfrm>
            <a:off x="5897880" y="3319272"/>
            <a:ext cx="5486400" cy="347472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Decision matrix, coverage, risks, and business value support the recommendation.</a:t>
            </a:r>
          </a:p>
        </p:txBody>
      </p:sp>
      <p:sp>
        <p:nvSpPr>
          <p:cNvPr id="27" name="text 27"/>
          <p:cNvSpPr txBox="1"/>
          <p:nvPr/>
        </p:nvSpPr>
        <p:spPr>
          <a:xfrm>
            <a:off x="594360" y="3666744"/>
            <a:ext cx="10972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19</a:t>
            </a:r>
          </a:p>
        </p:txBody>
      </p:sp>
      <p:sp>
        <p:nvSpPr>
          <p:cNvPr id="28" name="text 28"/>
          <p:cNvSpPr txBox="1"/>
          <p:nvPr/>
        </p:nvSpPr>
        <p:spPr>
          <a:xfrm>
            <a:off x="1691640" y="3666744"/>
            <a:ext cx="42062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Close</a:t>
            </a:r>
          </a:p>
        </p:txBody>
      </p:sp>
      <p:sp>
        <p:nvSpPr>
          <p:cNvPr id="29" name="text 29"/>
          <p:cNvSpPr txBox="1"/>
          <p:nvPr/>
        </p:nvSpPr>
        <p:spPr>
          <a:xfrm>
            <a:off x="5897880" y="3666744"/>
            <a:ext cx="54864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45720" tIns="32003" rIns="45720" bIns="32003"/>
          <a:lstStyle/>
          <a:p>
            <a:pPr algn="l"/>
            <a:r>
              <a:rPr lang="en-US" sz="760" dirty="0">
                <a:solidFill>
                  <a:srgbClr val="102033"/>
                </a:solidFill>
              </a:rPr>
              <a:t>Recommend the static jig as the primary platform and reserve robotic hands for true dexterity use cases.</a:t>
            </a:r>
          </a:p>
        </p:txBody>
      </p:sp>
      <p:sp>
        <p:nvSpPr>
          <p:cNvPr id="30" name="text 30"/>
          <p:cNvSpPr txBox="1"/>
          <p:nvPr/>
        </p:nvSpPr>
        <p:spPr>
          <a:xfrm>
            <a:off x="502920" y="6473952"/>
            <a:ext cx="56692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720" dirty="0">
                <a:solidFill>
                  <a:srgbClr val="708090"/>
                </a:solidFill>
              </a:rPr>
              <a:t>Static Robo HMI Test Jig vs. Robotic Hand  |  Research Deck</a:t>
            </a:r>
          </a:p>
        </p:txBody>
      </p:sp>
      <p:sp>
        <p:nvSpPr>
          <p:cNvPr id="31" name="text 31"/>
          <p:cNvSpPr txBox="1"/>
          <p:nvPr/>
        </p:nvSpPr>
        <p:spPr>
          <a:xfrm>
            <a:off x="11384280" y="6473952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/>
            <a:r>
              <a:rPr lang="en-US" sz="720" dirty="0">
                <a:solidFill>
                  <a:srgbClr val="708090"/>
                </a:solidFill>
              </a:rP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fessional HMI Research">
  <a:themeElements>
    <a:clrScheme name="Professional">
      <a:dk1>
        <a:srgbClr val="102033"/>
      </a:dk1>
      <a:lt1>
        <a:srgbClr val="FFFFFF"/>
      </a:lt1>
      <a:dk2>
        <a:srgbClr val="52667A"/>
      </a:dk2>
      <a:lt2>
        <a:srgbClr val="F5F7FA"/>
      </a:lt2>
      <a:accent1>
        <a:srgbClr val="1E5AA8"/>
      </a:accent1>
      <a:accent2>
        <a:srgbClr val="2E7D32"/>
      </a:accent2>
      <a:accent3>
        <a:srgbClr val="0097A7"/>
      </a:accent3>
      <a:accent4>
        <a:srgbClr val="B26A00"/>
      </a:accent4>
      <a:accent5>
        <a:srgbClr val="13293D"/>
      </a:accent5>
      <a:accent6>
        <a:srgbClr val="9E2A2B"/>
      </a:accent6>
      <a:hlink>
        <a:srgbClr val="1E5AA8"/>
      </a:hlink>
      <a:folHlink>
        <a:srgbClr val="13293D"/>
      </a:folHlink>
    </a:clrScheme>
    <a:fontScheme name="Aptos">
      <a:majorFont>
        <a:latin typeface="Aptos Display"/>
      </a:majorFont>
      <a:minorFont>
        <a:latin typeface="Aptos"/>
      </a:minorFont>
    </a:fontScheme>
    <a:fmtScheme name="Clean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