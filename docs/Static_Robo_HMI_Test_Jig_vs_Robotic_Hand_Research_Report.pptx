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943600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FF"/>
                </a:solidFill>
              </a:rPr>
              <a:t>DEEP RESEARCH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6858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Static Robo HMI Test Jig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00E5A0"/>
                </a:solidFill>
              </a:rPr>
              <a:t>vs. Robotic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8C5D6"/>
                </a:solidFill>
              </a:rPr>
              <a:t>For HMI Screen and Control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8404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C708A"/>
                </a:solidFill>
              </a:rPr>
              <a:t>Comprehensive technical comparison  ·  10 evaluation dimensions  ·  Actionable recommendations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463040"/>
            <a:ext cx="3474720" cy="13716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1463040"/>
            <a:ext cx="64008" cy="13716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600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C2FF"/>
                </a:solidFill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240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5D6"/>
                </a:solidFill>
              </a:rPr>
              <a:t>Key Dimensions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017520"/>
            <a:ext cx="3474720" cy="13716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017520"/>
            <a:ext cx="64008" cy="137160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31546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E5A0"/>
                </a:solidFill>
              </a:rPr>
              <a:t>↓80%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7947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5D6"/>
                </a:solidFill>
              </a:rPr>
              <a:t>Lower Cost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4572000"/>
            <a:ext cx="3474720" cy="13716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4572000"/>
            <a:ext cx="64008" cy="13716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7091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6B35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3492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5D6"/>
                </a:solidFill>
              </a:rPr>
              <a:t>Cloud-Ready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6126480"/>
            <a:ext cx="3474720" cy="45720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6126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C2FF"/>
                </a:solidFill>
              </a:rPr>
              <a:t>⚙  Modular Architecture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Key finding: the static HMI test jig outperforms the robotic hand for HMI validation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11457432" cy="6400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114574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327"/>
                </a:solidFill>
              </a:rPr>
              <a:t>VERDICT:  Static HMI Jig IS THE BETTER CHOICE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3657600" cy="4754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STATIC JIG ADVANTAGES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402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Purpose-built for HMI testing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Significantly lower cost &amp; TCO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Modular — scales any screen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Adjustable pins — any surface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Continuous pixel-level camera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Lower power — mobile friendly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Simple, fast part replacement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Dedicated knob-turning modules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Compact, portable, deployable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FFFFFF"/>
                </a:solidFill>
              </a:rPr>
              <a:t>✔  Real-time logging &amp; cloud upload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783080"/>
            <a:ext cx="3657600" cy="4754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ROBOTIC HAND —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402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A robotic hand replicates human dexterity.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Powerful for grasping unknown objects.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Over-engineered for structured HMI: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  •  Multi-finger joints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  •  Tendon / cable drives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  •  Force-feedback sensors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  •  Robot-arm required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  •  Advanced grasp planning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B8C5D6"/>
                </a:solidFill>
              </a:rPr>
              <a:t>  •  High calibration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3657600" cy="475488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8288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708A"/>
                </a:solidFill>
              </a:rPr>
              <a:t>WHERE ROBOTIC HAND EXCELS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402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◉  General manipulation research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◉  Grasping random, unknown objects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◉  Human-like interaction studies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◉  Complex dexterity experiments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◉  Unstructured environment tasks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None of these are HMI testing</a:t>
            </a:r>
          </a:p>
          <a:p>
            <a:pPr algn="l">
              <a:spcAft>
                <a:spcPts val="200"/>
              </a:spcAft>
            </a:pPr>
            <a:r>
              <a:rPr sz="1050">
                <a:solidFill>
                  <a:srgbClr val="5C708A"/>
                </a:solidFill>
              </a:rPr>
              <a:t>requirements.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System Architecture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All subsystems of the static HMI test jig and how they interconnect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00584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HMI UNDER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Screen · Buttons
Knobs · I/O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1005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18688" y="1005840"/>
            <a:ext cx="274320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1115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ALUMINUM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508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T-slot · Brackets
Rails · Modular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6" y="1005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71616" y="1005840"/>
            <a:ext cx="2743200" cy="7315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08776" y="1115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CAMERA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8776" y="1508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Fixed cameras
OCR · Frame timing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4544" y="1005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24544" y="1005840"/>
            <a:ext cx="274320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61704" y="1115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CONTROL ELEC.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1704" y="1508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PLC · DAQ · Relay
Terminal blocks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91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291840"/>
            <a:ext cx="2743200" cy="7315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401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ACTUATORS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794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Solenoids · Servo
Pneumatic · Pogo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8688" y="3291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18688" y="3291840"/>
            <a:ext cx="274320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5848" y="3401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KNOB MODULES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55848" y="3794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Stepper · Torque
Encoder · Adapter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71616" y="3291840"/>
            <a:ext cx="2743200" cy="21945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71616" y="3291840"/>
            <a:ext cx="2743200" cy="7315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8776" y="340156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CLOUD /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08776" y="3794760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Logging · Dashboards
Fleet support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Cost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The static jig eliminates every cost driver that makes robotic hands expensive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777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Robotic Hand  (lower = better)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777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Static HMI Jig  (lower = better)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618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Hardware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207008"/>
            <a:ext cx="2779776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118872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1207008"/>
            <a:ext cx="69494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118872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883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Software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0240" y="1828800"/>
            <a:ext cx="2779776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5736" y="18105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32120" y="1828800"/>
            <a:ext cx="1389888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181051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5054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Maintenance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2450592"/>
            <a:ext cx="3127248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93208" y="243230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450592"/>
            <a:ext cx="69494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4" y="243230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1272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Spare Parts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072384"/>
            <a:ext cx="2779776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45736" y="305409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2120" y="3072384"/>
            <a:ext cx="69494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305409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749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Operator Train.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3694176"/>
            <a:ext cx="2432304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98264" y="367588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2120" y="3694176"/>
            <a:ext cx="69494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2784" y="367588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3708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Setup / Calib.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4315968"/>
            <a:ext cx="2779776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45736" y="429768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4315968"/>
            <a:ext cx="69494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72784" y="429768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1005840"/>
            <a:ext cx="3749039" cy="54864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83880" y="11155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C2FF"/>
                </a:solidFill>
              </a:rPr>
              <a:t>CATEGORY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11155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E5A0"/>
                </a:solidFill>
              </a:rPr>
              <a:t>JIG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111556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6B35"/>
                </a:solidFill>
              </a:rPr>
              <a:t>ROBOT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3880" y="16824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Mech. complexity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168249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168249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High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138160" y="2084832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83880" y="224942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Actuator count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224942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Minimal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224942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Many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138160" y="2651760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183880" y="28163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Maintenance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0" y="28163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81360" y="281635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High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138160" y="3218688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183880" y="3383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Spare parts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33832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Cheap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81360" y="33832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Costly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138160" y="3785616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183880" y="3950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Setup cost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395020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Low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81360" y="395020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High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138160" y="4352544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183880" y="45171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Software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75520" y="451713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Moderate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4517136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High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138160" y="4919472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3880" y="508406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Operator training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508406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Simple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81360" y="5084064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Advanced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8138160" y="5486400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183880" y="565099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Long-term TCO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56509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E5A0"/>
                </a:solidFill>
              </a:rPr>
              <a:t>Low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81360" y="5650992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6B35"/>
                </a:solidFill>
              </a:rPr>
              <a:t>High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138160" y="6053328"/>
            <a:ext cx="3566160" cy="0"/>
          </a:xfrm>
          <a:prstGeom prst="line">
            <a:avLst/>
          </a:prstGeom>
          <a:ln w="6350">
            <a:solidFill>
              <a:srgbClr val="1C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Modular Design for Any Screen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One platform, reconfigurable from small HMI panels to full vehicle dashboards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005840"/>
            <a:ext cx="15544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Panel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Small HMI / industrial panel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93392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93392" y="1005840"/>
            <a:ext cx="1554480" cy="6400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832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Panel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4832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Mid-size automotive display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21024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1005840"/>
            <a:ext cx="155448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4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Panel C (Large)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Full vehicle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8656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48656" y="1005840"/>
            <a:ext cx="15544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096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Curved Display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Swept / concave screen module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6288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76288" y="1005840"/>
            <a:ext cx="1554480" cy="6400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Button Array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Physical push-button grid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3920" y="1005840"/>
            <a:ext cx="155448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Knob Module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Rotary encoder / HVAC module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1552" y="1005840"/>
            <a:ext cx="1554480" cy="18288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31552" y="1005840"/>
            <a:ext cx="15544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22992" y="109728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Camera / Vision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Fixed-mount OCR &amp; visual check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017520"/>
            <a:ext cx="11457432" cy="347472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A0"/>
                </a:solidFill>
              </a:rPr>
              <a:t>Why Modularity Wins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520440"/>
            <a:ext cx="2818638" cy="265176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584448"/>
            <a:ext cx="25443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Scalable Screen 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05072"/>
            <a:ext cx="254431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Works on small HMI, large dashboards, curved automotive displays, industrial panels, and multi-screen cockpit layouts.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21558" y="3520440"/>
            <a:ext cx="2818638" cy="265176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58718" y="3584448"/>
            <a:ext cx="25443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Physical Reconfiguration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58718" y="4005072"/>
            <a:ext cx="254431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Sliding rails, adjustable mounting plates, and removable actuator modules replace software re-programming.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5916" y="3520440"/>
            <a:ext cx="2818638" cy="265176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3076" y="3584448"/>
            <a:ext cx="25443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Multiple Product Families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3076" y="4005072"/>
            <a:ext cx="254431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One base frame supports different vehicle programs or product generations with swappable screen-specific modules.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0274" y="3520440"/>
            <a:ext cx="2818638" cy="265176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7434" y="3584448"/>
            <a:ext cx="25443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Lower Redesign Cost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7434" y="4005072"/>
            <a:ext cx="254431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New HMI geometry → swap one panel module, not the entire fixture. Faster adaptation from prototype to production.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Adjustable Pin System for Any Surface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Mechanical compensation for curved, angled, and uneven HMI surfaces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5029200" cy="54864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Pin Array Cross-Section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1554480"/>
            <a:ext cx="54864" cy="54864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508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E5A0"/>
                </a:solidFill>
              </a:rPr>
              <a:t>Adjustable height per pin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377440"/>
            <a:ext cx="54864" cy="5486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C2FF"/>
                </a:solidFill>
              </a:rPr>
              <a:t>Spring-loaded replaceable tip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320040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3154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6B35"/>
                </a:solidFill>
              </a:rPr>
              <a:t>Locking nut / micrometer adj.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4023360"/>
            <a:ext cx="54864" cy="548640"/>
          </a:xfrm>
          <a:prstGeom prst="rect">
            <a:avLst/>
          </a:prstGeom>
          <a:solidFill>
            <a:srgbClr val="B8C5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0" y="3977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Curved HMI Surface below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005840"/>
            <a:ext cx="6126480" cy="54864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2FF"/>
                </a:solidFill>
              </a:rPr>
              <a:t>Surface Types 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5A0"/>
                </a:solidFill>
              </a:rPr>
              <a:t>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00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Flat Screens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892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Standard touch panels, industrial HMI displays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5A0"/>
                </a:solidFill>
              </a:rPr>
              <a:t>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Curved Screens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157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Automotive dashboards, swept display panels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5A0"/>
                </a:solidFill>
              </a:rPr>
              <a:t>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246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Angled Panels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5387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Inclined instrument clusters, tilted bezels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5A0"/>
                </a:solidFill>
              </a:rPr>
              <a:t>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Raised Buttons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616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Physical push buttons with variable heights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5A0"/>
                </a:solidFill>
              </a:rPr>
              <a:t>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892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Recessed Switches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1846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Toggle switches &amp; recessed activators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E5A0"/>
                </a:solidFill>
              </a:rPr>
              <a:t>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15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Multi-level Surface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60076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Mixed-height control surfaces &amp; knob arrays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Constant Camera Feedback — Pixel-Level Screen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Fixed cameras enable continuous, automated visual verification of the HMI display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4389120" cy="54864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C2FF"/>
                </a:solidFill>
              </a:rPr>
              <a:t>HMI DISPLAY — ACTIVE 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54480"/>
            <a:ext cx="1097280" cy="4114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544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327"/>
                </a:solidFill>
              </a:rPr>
              <a:t>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554480"/>
            <a:ext cx="109728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15544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327"/>
                </a:solidFill>
              </a:rPr>
              <a:t>FAIL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554480"/>
            <a:ext cx="1097280" cy="41148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15544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327"/>
                </a:solidFill>
              </a:rPr>
              <a:t>WARN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1488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C708A"/>
                </a:solidFill>
              </a:rPr>
              <a:t>Pixel grid under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68880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872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0876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4884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6888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8920" y="2468880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0896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2900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0" y="246888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9080" y="2468880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8872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0876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14884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68880" y="2761488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8892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0896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2900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49040" y="2761488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069080" y="276148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868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8872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50876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48840" y="3054096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46888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8892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0896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29000" y="3054096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74904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69080" y="305409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868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50876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828800" y="3346704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4884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46888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78892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8960" y="3346704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42900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749040" y="334670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069080" y="3346704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4864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868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8872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08760" y="3639312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82880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4884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46888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88920" y="3639312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0896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2900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749040" y="3639312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069080" y="363931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4864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868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8720" y="3931920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50876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2880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14884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468880" y="3931920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78892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10896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429000" y="3931920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74904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69080" y="3931920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4864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68680" y="4224528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8872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0876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82880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148840" y="4224528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46888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78892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108960" y="4224528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42900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069080" y="4224528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" y="4517136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6868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8872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0876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828800" y="4517136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14884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46888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788920" y="4517136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10896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42900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74904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069080" y="4517136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4864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868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8872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508760" y="4809744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82880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14884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468880" y="4809744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78892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896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42900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74904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069080" y="4809744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4864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6868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188720" y="5102352"/>
            <a:ext cx="274320" cy="24688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50876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82880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148840" y="5102352"/>
            <a:ext cx="274320" cy="24688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46888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78892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10896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42900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74904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069080" y="5102352"/>
            <a:ext cx="274320" cy="2468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54864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📷 Fixed Camera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029200" y="1005840"/>
            <a:ext cx="6766560" cy="54864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212080" y="1097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2FF"/>
                </a:solidFill>
              </a:rPr>
              <a:t>What Camera Feedback Enables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12080" y="1673352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440680" y="16002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Pixel-level pass/fail comparison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212080" y="2048256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440680" y="1975104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Color accuracy verification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212080" y="2423160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440680" y="235000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Brightness &amp; backlight uniformity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212080" y="2798064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40680" y="272491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Dead pixel detection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12080" y="3172968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40680" y="3099816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UI transition animation check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212080" y="3547872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440680" y="347472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Touch response confirmation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212080" y="3922776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440680" y="3849624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OCR — text content recognition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212080" y="4297680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40680" y="4224528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Icon presence &amp; integrity check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12080" y="4672584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440680" y="459943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Frame-to-frame response timing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212080" y="5047488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40680" y="4974336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Screen flicker detection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212080" y="5422392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440680" y="534924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Lag: input → display update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212080" y="5797296"/>
            <a:ext cx="109728" cy="16459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440680" y="5724144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Frozen / locked screen detection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Lower Power Consumption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Designed for in-vehicle, mobile, and battery-operated testing environments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100584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■  Robotic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00584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■  Static HMI Jig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0058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C708A"/>
                </a:solidFill>
              </a:rPr>
              <a:t>(lower score = lower power)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5819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Total System Power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1527048"/>
            <a:ext cx="2304288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1508760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527048"/>
            <a:ext cx="768096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508760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Motor / Actuator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2276856"/>
            <a:ext cx="2048256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2258568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2276856"/>
            <a:ext cx="51206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15384" y="2258568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08152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Control Electronics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3026664"/>
            <a:ext cx="128016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3008376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026664"/>
            <a:ext cx="1024128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27448" y="3008376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3133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Idle Hold Torque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03120" y="3776472"/>
            <a:ext cx="1792224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41064" y="3758184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3776472"/>
            <a:ext cx="0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3758184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58114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Motion Control CPU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4526280"/>
            <a:ext cx="2048256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97096" y="4507992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0" y="4526280"/>
            <a:ext cx="512064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15384" y="4507992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3309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Cooling Required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5276088"/>
            <a:ext cx="1536192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85032" y="5257800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B35"/>
                </a:solidFill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5276088"/>
            <a:ext cx="256032" cy="2743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59352" y="5257800"/>
            <a:ext cx="320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E5A0"/>
                </a:solidFill>
              </a:rPr>
              <a:t>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1005840"/>
            <a:ext cx="5303520" cy="55778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0" y="1097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A0"/>
                </a:solidFill>
              </a:rPr>
              <a:t>Ideal Deployment Scenarios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E5A0"/>
                </a:solidFill>
              </a:rPr>
              <a:t>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16002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Moving Vehicle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194767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Rigidly mounted — tests during road vibration without large power draw.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E5A0"/>
                </a:solidFill>
              </a:rPr>
              <a:t>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25146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Battery Field Test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286207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Runs from 24 V battery pack for remote or field diagnostics.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3429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E5A0"/>
                </a:solidFill>
              </a:rPr>
              <a:t>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3429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Endurance / Soak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377647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Continuous cycle testing — low idle power prevents thermal issues.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0" y="4343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E5A0"/>
                </a:solidFill>
              </a:rPr>
              <a:t>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4343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Embedded Lab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469087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Small footprint, standard outlet — no power conditioning needed.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E5A0"/>
                </a:solidFill>
              </a:rPr>
              <a:t>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52578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Ruggedised Case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60527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Fits in a portable case; battery-backed for on-site deployments.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Easy Part Replacement &amp;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Simple, modular subsystems — no robotic hand specialist required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5669280" cy="55778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A0"/>
                </a:solidFill>
              </a:rPr>
              <a:t>Exploded Module View — Repair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02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Contact Pin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938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Unscrew  →  slide out  →  replace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04288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2128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Rubber Tip / Stylus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54203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Pull off  →  push on (&lt; 30 sec)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16936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254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Spring Assembly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5468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Captive screw  →  swap spring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29584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38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Servo / Solenoid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6732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Connector  →  bracket  →  replace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42232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50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Camera Module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7997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Mounting screws  →  swap unit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54880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6634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Harness Connector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9262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Disconnect  →  new connector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67528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276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PCB / Controller 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052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DIN-rail or slide mount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980176"/>
            <a:ext cx="73152" cy="34747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88873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Knob Coupler / Adapter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179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3D-printed  →  swap in &lt; 2 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43600"/>
            <a:ext cx="5303520" cy="36576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43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327"/>
                </a:solidFill>
              </a:rPr>
              <a:t>⚡  Typical Repair Time: &lt; 10 minutes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005840"/>
            <a:ext cx="5486400" cy="557784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35"/>
                </a:solidFill>
              </a:rPr>
              <a:t>Robotic Hand Maintenance — Complexity Cost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6002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Finger joint disassembly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Tendon / cable replacement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Gearbox disassembly &amp; repair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Servo recalibration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Encoder re-alignment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Force sensor recalibration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Reprogramming / retuning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Specialist technician required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FF6B35"/>
                </a:solidFill>
              </a:rPr>
              <a:t>✗  Potential days of downtime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5943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C708A"/>
                </a:solidFill>
              </a:rPr>
              <a:t>Downtime is expensive. The static jig is field-repairable without specialists.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Customisable Knob-Turning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Purpose-built rotary actuators outperform robotic finger grasping for repeatability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5029200" cy="54864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Knob Module — Exploded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600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Stepper / Servo Motor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9476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Primary rotation 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77440"/>
            <a:ext cx="384048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37744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377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Flexible Coupler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7249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Absorbs misalignment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546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1546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3D-Printed Knob Adapter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5021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Custom knob interface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931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Torque Sensor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2793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Resistance measurement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09160"/>
            <a:ext cx="384048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709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Encoder Feedback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0566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Angle &amp; detent 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486400"/>
            <a:ext cx="384048" cy="38404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4864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486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HVAC Knob Target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8338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Under-test rotary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1005840"/>
            <a:ext cx="6126480" cy="493776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</a:rPr>
              <a:t>Knob Types Supported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0" y="1691640"/>
            <a:ext cx="9144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16002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Rotary Encoders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19476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Infinite rotation with pulse counting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2377440"/>
            <a:ext cx="9144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2286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Volume / HVAC Knobs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26334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Fixed range with detent feedback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3063240"/>
            <a:ext cx="9144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0760" y="29718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Push-Turn Knobs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3192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Combined axial press + rotation sequence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3749040"/>
            <a:ext cx="9144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3657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Selector Dials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40050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Multi-position with hard stops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4434840"/>
            <a:ext cx="9144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0760" y="43434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Detented Controls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46908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Per-detent torque and click validation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5120640"/>
            <a:ext cx="91440" cy="2743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80760" y="50292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Multi-pos. Switches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537667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8C5D6"/>
                </a:solidFill>
              </a:rPr>
              <a:t>Indexed positions measured via encoder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0" y="6035040"/>
            <a:ext cx="6126480" cy="50292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0" y="6035040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6B35"/>
                </a:solidFill>
              </a:rPr>
              <a:t>Measurements: rotation angle · detent count · torque resistance · direction · speed · end stops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08-09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Compact, Portable, and In-Vehicle Capable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Lightweight structure enables installation inside a moving vehicle for real-world testing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3566160" cy="22860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430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Lab Bench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0020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Sits on a standard 60 cm bench.
No floor space or safety cage required.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3088" y="1005840"/>
            <a:ext cx="3566160" cy="22860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11430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Production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160020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Mounts at end-of-line test stations.
Fast HMI load/unload cycles.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6" y="1005840"/>
            <a:ext cx="3566160" cy="22860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11430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9096" y="11887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Moving Vehicle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160020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Bolted to dashboard. Tests run during
road vibration &amp; real ECU interaction.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29000"/>
            <a:ext cx="3566160" cy="22860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Field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02336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Transport in a carry case.
Deploy on-site in under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33088" y="3429000"/>
            <a:ext cx="3566160" cy="22860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1768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Battery-Powered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1768" y="402336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Runs from vehicle battery or 24 V
portable pack. No outlet needed.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0416" y="3429000"/>
            <a:ext cx="3566160" cy="22860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7576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096" y="3611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Endurance Test Rig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096" y="402336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Rigidly bolted for 24/7 soak testing.
Minimal vibration sensitivity.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035040"/>
            <a:ext cx="11457432" cy="50292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035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C708A"/>
                </a:solidFill>
              </a:rPr>
              <a:t>A robotic hand is typically larger, heavier, more fragile, and needs a safety cage — portability becomes impractical when attached to a robot arm.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Real-Time Data Logging &amp; Cloud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Structured test actions map directly to structured data — easy to log, analyse, and report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5760" y="1005840"/>
            <a:ext cx="3291840" cy="46634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005840"/>
            <a:ext cx="3291840" cy="45720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327"/>
                </a:solidFill>
              </a:rPr>
              <a:t>HMI TEST JIG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691640"/>
            <a:ext cx="91440" cy="1828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600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Button press events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91440" cy="1828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40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Knob rotation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71800"/>
            <a:ext cx="91440" cy="1828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Pin contact timing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91440" cy="1828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20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Camera pass/fail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51960"/>
            <a:ext cx="91440" cy="1828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Voltage / current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91440" cy="1828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0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Comm. bus status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1005840"/>
            <a:ext cx="3291840" cy="46634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1005840"/>
            <a:ext cx="3291840" cy="45720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327"/>
                </a:solidFill>
              </a:rPr>
              <a:t>TEST CONTROLLER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691640"/>
            <a:ext cx="91440" cy="1828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1600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Sequence logic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2331720"/>
            <a:ext cx="91440" cy="1828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2240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Pass/fail evaluation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2971800"/>
            <a:ext cx="91440" cy="1828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43400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Data aggregation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3611880"/>
            <a:ext cx="91440" cy="1828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3520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Error capture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4251960"/>
            <a:ext cx="91440" cy="1828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160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Operator ID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4892040"/>
            <a:ext cx="91440" cy="1828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3400" y="4800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Serial number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79" y="1005840"/>
            <a:ext cx="3291840" cy="46634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79" y="1005840"/>
            <a:ext cx="329184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10058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327"/>
                </a:solidFill>
              </a:rPr>
              <a:t>CLOUD PLATFORM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59" y="1691640"/>
            <a:ext cx="91440" cy="182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09559" y="1600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Centralised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80959" y="2331720"/>
            <a:ext cx="91440" cy="182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09559" y="2240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Trend analysis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59" y="2971800"/>
            <a:ext cx="91440" cy="182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59" y="2880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Quality dashboards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80959" y="3611880"/>
            <a:ext cx="91440" cy="182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59" y="3520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Failure traceability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80959" y="4251960"/>
            <a:ext cx="91440" cy="182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09559" y="4160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Automated reports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80959" y="4892040"/>
            <a:ext cx="91440" cy="1828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09559" y="4800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8C5D6"/>
                </a:solidFill>
              </a:rPr>
              <a:t>Fleet / yield data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03320" y="32004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2FF"/>
                </a:solidFill>
              </a:rPr>
              <a:t>▶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32004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2FF"/>
                </a:solidFill>
              </a:rPr>
              <a:t>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881360" y="1005840"/>
            <a:ext cx="1188720" cy="4663440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972800" y="1005840"/>
            <a:ext cx="1005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8C5D6"/>
                </a:solidFill>
              </a:rPr>
              <a:t>Every test record includes:
• Serial number
• Operator ID
• Date / Time
• Test result
• Failed step
• All measurements
• Screenshot on fail
• Environmental data
• Vehicle state
• Comm. bus log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SCORECARD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Overall Effectiveness Scorecard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10-dimension comparison: Static HMI Jig vs. Robotic Hand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1097280"/>
            <a:ext cx="10058400" cy="475488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70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C708A"/>
                </a:solidFill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170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Static HMI Jig  (out of 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704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Robotic Hand  (out of 10)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572768"/>
            <a:ext cx="10058400" cy="475488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6420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Cost Effectiveness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4576" y="166420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682496"/>
            <a:ext cx="658368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66420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048256"/>
            <a:ext cx="10058400" cy="4754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139696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Modularity / Scalability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157984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13969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2157984"/>
            <a:ext cx="109728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213969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523744"/>
            <a:ext cx="10058400" cy="475488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61518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Surface Geometry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2633472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261518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0" y="2633472"/>
            <a:ext cx="1316736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9408" y="261518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999232"/>
            <a:ext cx="10058400" cy="4754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09067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Camera / Visual Verification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30906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3108960"/>
            <a:ext cx="109728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59952" y="30906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3474720"/>
            <a:ext cx="10058400" cy="475488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5661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Power Efficiency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3584448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35661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3584448"/>
            <a:ext cx="658368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5661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950208"/>
            <a:ext cx="10058400" cy="4754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04164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Ease of Maintenance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4059936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40416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89520" y="4059936"/>
            <a:ext cx="438912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01584" y="40416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425696"/>
            <a:ext cx="10058400" cy="475488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4517136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Knob / Rotary Testing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535424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451713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89520" y="4535424"/>
            <a:ext cx="109728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59952" y="451713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901184"/>
            <a:ext cx="10058400" cy="4754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499262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Portability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46320" y="5010912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94576" y="49926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5010912"/>
            <a:ext cx="658368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49926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5376672"/>
            <a:ext cx="10058400" cy="475488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546811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In-Vehicle Testing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486400"/>
            <a:ext cx="1975104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94576" y="54681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589520" y="5486400"/>
            <a:ext cx="438912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01584" y="54681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5852160"/>
            <a:ext cx="10058400" cy="475488"/>
          </a:xfrm>
          <a:prstGeom prst="rect">
            <a:avLst/>
          </a:prstGeom>
          <a:solidFill>
            <a:srgbClr val="1C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1520" y="594360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Data / Cloud Integration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5961888"/>
            <a:ext cx="1755648" cy="256032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59436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89520" y="5961888"/>
            <a:ext cx="1097280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59952" y="59436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6327648"/>
            <a:ext cx="10058400" cy="54864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6419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327"/>
                </a:solidFill>
              </a:rPr>
              <a:t>TOTAL (out of 100)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419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327"/>
                </a:solidFill>
              </a:rPr>
              <a:t>89 / 100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89520" y="64190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327"/>
                </a:solidFill>
              </a:rPr>
              <a:t>39 / 100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"/>
            <a:ext cx="1280160" cy="2926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D1327"/>
                </a:solidFill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37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Key Selling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0352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8C5D6"/>
                </a:solidFill>
              </a:rPr>
              <a:t>Ten compelling advantages of the Static Robo HMI Test Jig over a robotic hand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" y="868680"/>
            <a:ext cx="1145743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20040" y="100584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005840"/>
            <a:ext cx="21945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143000"/>
            <a:ext cx="411480" cy="4114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1430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1704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Much Lower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69164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Eliminates multi-finger mechanisms, tendon drives, gearboxes, and robot arm.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100584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1760" y="1005840"/>
            <a:ext cx="2194560" cy="6400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143000"/>
            <a:ext cx="411480" cy="4114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11430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11704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Scales to Any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169164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Modular rails and swappable panels cover small HMI to full dashboards.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3480" y="100584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3480" y="1005840"/>
            <a:ext cx="21945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1143000"/>
            <a:ext cx="41148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11430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11704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Works on Curved Surfaces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169164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Per-pin height adjustment handles any contour — set-and-lock, no software comp.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100584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1005840"/>
            <a:ext cx="21945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0" y="1143000"/>
            <a:ext cx="411480" cy="4114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11430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11704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Pixel-Level Visual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169164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Fixed cameras run OCR, color check, icon verify, and timing measurement.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46920" y="100584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46920" y="1005840"/>
            <a:ext cx="2194560" cy="6400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38360" y="1143000"/>
            <a:ext cx="411480" cy="4114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1430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117043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Mobile &amp; In-Vehicle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8360" y="169164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Low power, lightweight — mounts inside a vehicle for real-world road testing.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56616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3566160"/>
            <a:ext cx="21945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703320"/>
            <a:ext cx="41148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703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373075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Fast, Cheap Repairs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25196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Any module swaps in &lt; 10 min by a standard technician, not a specialist.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51760" y="356616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51760" y="3566160"/>
            <a:ext cx="21945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0" y="3703320"/>
            <a:ext cx="411480" cy="4114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0" y="3703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46120" y="373075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Knob Modules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425196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Stepper/servo with torque sensor and encoder — more repeatable than finger grip.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83480" y="356616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983480" y="3566160"/>
            <a:ext cx="2194560" cy="64008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74920" y="3703320"/>
            <a:ext cx="411480" cy="41148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74920" y="3703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373075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E5A0"/>
                </a:solidFill>
              </a:rPr>
              <a:t>Bench to Field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74920" y="425196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Compact form fits on any bench, in a carry case, or inside a test bay.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0" y="356616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315200" y="3566160"/>
            <a:ext cx="2194560" cy="6400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06640" y="3703320"/>
            <a:ext cx="411480" cy="4114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06640" y="3703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9560" y="373075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</a:rPr>
              <a:t>In-Vehicle Real-World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425196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Rigid mount withstands road vibration while tests execute on real ECU data.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3566160"/>
            <a:ext cx="2194560" cy="246888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646920" y="3566160"/>
            <a:ext cx="219456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738360" y="3703320"/>
            <a:ext cx="411480" cy="41148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360" y="37033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327"/>
                </a:solidFill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41280" y="3730752"/>
            <a:ext cx="1508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C2FF"/>
                </a:solidFill>
              </a:rPr>
              <a:t>Cloud-Connected Data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425196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8C5D6"/>
                </a:solidFill>
              </a:rPr>
              <a:t>Structured actuator-to-test-point mapping makes cloud logging simple and clean.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3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2011680" cy="347472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327"/>
                </a:solidFill>
              </a:rPr>
              <a:t>FINAL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Static Robo HMI Test Jig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E5A0"/>
                </a:solidFill>
              </a:rPr>
              <a:t>is the superior solution for HMI validation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011680"/>
            <a:ext cx="11274552" cy="0"/>
          </a:xfrm>
          <a:prstGeom prst="line">
            <a:avLst/>
          </a:prstGeom>
          <a:ln w="19050">
            <a:solidFill>
              <a:srgbClr val="00C2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21031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8C5D6"/>
                </a:solidFill>
              </a:rPr>
              <a:t>A robotic hand attempts to copy human motion. The static jig focuses directly on the testing requirement: pressing, turning, observing, measuring, recording, and reporting — with higher repeatability, lower cost, easier maintenance, continuous camera feedback, and structured cloud-connected test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3566160" cy="36576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834640"/>
            <a:ext cx="3566160" cy="50292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346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327"/>
                </a:solidFill>
              </a:rPr>
              <a:t>Designed for the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Purpose-built actuators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No dexterity overhead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Each pin = one test point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Structured data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2834640"/>
            <a:ext cx="3566160" cy="36576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2834640"/>
            <a:ext cx="3566160" cy="502920"/>
          </a:xfrm>
          <a:prstGeom prst="rect">
            <a:avLst/>
          </a:prstGeom>
          <a:solidFill>
            <a:srgbClr val="00E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8346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327"/>
                </a:solidFill>
              </a:rPr>
              <a:t>Economically Sound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47472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Lower CapEx &amp; OpEx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Fast repair &lt; 10 min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No specialist staff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Simple spare parts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2834640"/>
            <a:ext cx="3566160" cy="365760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2834640"/>
            <a:ext cx="3566160" cy="502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28346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327"/>
                </a:solidFill>
              </a:rPr>
              <a:t>Deployment Anywhere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47472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Bench · lab · production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Inside moving vehicles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Battery-operated field use</a:t>
            </a:r>
          </a:p>
          <a:p>
            <a:pPr algn="l">
              <a:spcAft>
                <a:spcPts val="200"/>
              </a:spcAft>
            </a:pPr>
            <a:r>
              <a:rPr sz="1150">
                <a:solidFill>
                  <a:srgbClr val="FFFFFF"/>
                </a:solidFill>
              </a:rPr>
              <a:t>✔  Cloud-connected &amp; scalable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562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C708A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