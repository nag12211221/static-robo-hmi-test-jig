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365760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371094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376428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381762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0" y="387096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0" y="392430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0" y="397764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0" y="403098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0" y="408432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0" y="413766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0" y="419100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0" y="424434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0" y="429768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0" y="435102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0" y="440436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0" y="445770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0" y="451104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0" y="456438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0" y="461772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0" y="467106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0" y="472440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0" y="477774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0" y="483108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0" y="488442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0" y="493776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0" y="499110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0" y="504444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0" y="509778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0" y="515112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0" y="520446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0" y="525780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0" y="531114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0" y="536448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0" y="541782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0" y="547116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0" y="5524499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0" y="557784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0" y="563118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0" y="568452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0" y="573786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0" y="579120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0" y="584454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0" y="589788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0" y="595122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0" y="600456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0" y="605790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0" y="611124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0" y="616458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0" y="621792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0" y="627126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0" y="632460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0" y="637794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0" y="643128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0" y="648462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0" y="653796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0" y="659130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0" y="664464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0" y="669798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0" y="675132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0" y="6804660"/>
            <a:ext cx="12188952" cy="53340"/>
          </a:xfrm>
          <a:prstGeom prst="rect">
            <a:avLst/>
          </a:prstGeom>
          <a:solidFill>
            <a:srgbClr val="0080B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28016" y="0"/>
            <a:ext cx="27432" cy="685800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365760" y="1463040"/>
            <a:ext cx="8686800" cy="36576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365760" y="91440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1">
                <a:solidFill>
                  <a:srgbClr val="00A8E8"/>
                </a:solidFill>
              </a:rPr>
              <a:t>DEEP RESEARCH REPORT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65760" y="1508760"/>
            <a:ext cx="10972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5200" b="1" i="0">
                <a:solidFill>
                  <a:srgbClr val="FFFFFF"/>
                </a:solidFill>
              </a:rPr>
              <a:t>Static Robo HMI Test Jig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65760" y="25146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400" b="1" i="0">
                <a:solidFill>
                  <a:srgbClr val="00A8E8"/>
                </a:solidFill>
              </a:rPr>
              <a:t>vs. Robotic Hand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365760" y="3291840"/>
            <a:ext cx="9144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1">
                <a:solidFill>
                  <a:srgbClr val="E2E8F0"/>
                </a:solidFill>
              </a:rPr>
              <a:t>For HMI Screen and Control Testing</a:t>
            </a:r>
          </a:p>
        </p:txBody>
      </p:sp>
      <p:sp>
        <p:nvSpPr>
          <p:cNvPr id="69" name="Rectangle 68"/>
          <p:cNvSpPr/>
          <p:nvPr/>
        </p:nvSpPr>
        <p:spPr>
          <a:xfrm>
            <a:off x="365760" y="3886200"/>
            <a:ext cx="868680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365760" y="3977639"/>
            <a:ext cx="10972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94A3B8"/>
                </a:solidFill>
              </a:rPr>
              <a:t>Comprehensive technical comparison  ·  10 evaluation dimensions  ·  Actionable recommendations</a:t>
            </a:r>
          </a:p>
        </p:txBody>
      </p:sp>
      <p:sp>
        <p:nvSpPr>
          <p:cNvPr id="71" name="Rectangle 70"/>
          <p:cNvSpPr/>
          <p:nvPr/>
        </p:nvSpPr>
        <p:spPr>
          <a:xfrm>
            <a:off x="8503920" y="5120640"/>
            <a:ext cx="822960" cy="1371600"/>
          </a:xfrm>
          <a:prstGeom prst="roundRect">
            <a:avLst>
              <a:gd name="adj" fmla="val 12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503920" y="5120640"/>
            <a:ext cx="82296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8503920" y="521208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D48A"/>
                </a:solidFill>
              </a:rPr>
              <a:t>10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8503920" y="576072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2E8F0"/>
                </a:solidFill>
              </a:rPr>
              <a:t>Key Dimensions</a:t>
            </a:r>
          </a:p>
        </p:txBody>
      </p:sp>
      <p:sp>
        <p:nvSpPr>
          <p:cNvPr id="75" name="Rectangle 74"/>
          <p:cNvSpPr/>
          <p:nvPr/>
        </p:nvSpPr>
        <p:spPr>
          <a:xfrm>
            <a:off x="9418320" y="5120640"/>
            <a:ext cx="822960" cy="1371600"/>
          </a:xfrm>
          <a:prstGeom prst="roundRect">
            <a:avLst>
              <a:gd name="adj" fmla="val 12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418320" y="5120640"/>
            <a:ext cx="82296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418320" y="521208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D48A"/>
                </a:solidFill>
              </a:rPr>
              <a:t>↓80%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9418320" y="576072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2E8F0"/>
                </a:solidFill>
              </a:rPr>
              <a:t>Lower Cost</a:t>
            </a:r>
          </a:p>
        </p:txBody>
      </p:sp>
      <p:sp>
        <p:nvSpPr>
          <p:cNvPr id="79" name="Rectangle 78"/>
          <p:cNvSpPr/>
          <p:nvPr/>
        </p:nvSpPr>
        <p:spPr>
          <a:xfrm>
            <a:off x="10332720" y="5120640"/>
            <a:ext cx="822960" cy="1371600"/>
          </a:xfrm>
          <a:prstGeom prst="roundRect">
            <a:avLst>
              <a:gd name="adj" fmla="val 12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10332720" y="5120640"/>
            <a:ext cx="82296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0332720" y="521208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D48A"/>
                </a:solidFill>
              </a:rPr>
              <a:t>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10332720" y="576072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2E8F0"/>
                </a:solidFill>
              </a:rPr>
              <a:t>Cloud-Ready</a:t>
            </a:r>
          </a:p>
        </p:txBody>
      </p:sp>
      <p:sp>
        <p:nvSpPr>
          <p:cNvPr id="83" name="Rectangle 82"/>
          <p:cNvSpPr/>
          <p:nvPr/>
        </p:nvSpPr>
        <p:spPr>
          <a:xfrm>
            <a:off x="11247120" y="5120640"/>
            <a:ext cx="822960" cy="1371600"/>
          </a:xfrm>
          <a:prstGeom prst="roundRect">
            <a:avLst>
              <a:gd name="adj" fmla="val 12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11247120" y="5120640"/>
            <a:ext cx="82296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11247120" y="521208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1" i="0">
                <a:solidFill>
                  <a:srgbClr val="00D48A"/>
                </a:solidFill>
              </a:rPr>
              <a:t>⚙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11247120" y="5760720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2E8F0"/>
                </a:solidFill>
              </a:rPr>
              <a:t>Modular</a:t>
            </a:r>
          </a:p>
        </p:txBody>
      </p:sp>
      <p:sp>
        <p:nvSpPr>
          <p:cNvPr id="87" name="Rectangle 86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TextBox 87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Executive Summary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Key finding: the static HMI test jig outperforms the robotic hand for HMI validation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274320" y="1188720"/>
            <a:ext cx="5303520" cy="5303520"/>
          </a:xfrm>
          <a:prstGeom prst="roundRect">
            <a:avLst>
              <a:gd name="adj" fmla="val 10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74320" y="1188720"/>
            <a:ext cx="5303520" cy="54864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280160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00A8E8"/>
                </a:solidFill>
              </a:rPr>
              <a:t>VERDICT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645920"/>
            <a:ext cx="4937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Static HMI Jig
IS THE BETTER CHOICE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" y="2743200"/>
            <a:ext cx="5029200" cy="3474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50" b="0">
                <a:solidFill>
                  <a:srgbClr val="E2E8F0"/>
                </a:solidFill>
              </a:rPr>
              <a:t>✔  Purpose-built for HMI testing — not over-engineered</a:t>
            </a:r>
          </a:p>
          <a:p>
            <a:pPr algn="l"/>
            <a:r>
              <a:rPr sz="1250" b="0">
                <a:solidFill>
                  <a:srgbClr val="E2E8F0"/>
                </a:solidFill>
              </a:rPr>
              <a:t>✔  Significantly lower cost &amp; total ownership</a:t>
            </a:r>
          </a:p>
          <a:p>
            <a:pPr algn="l"/>
            <a:r>
              <a:rPr sz="1250" b="0">
                <a:solidFill>
                  <a:srgbClr val="E2E8F0"/>
                </a:solidFill>
              </a:rPr>
              <a:t>✔  Modular architecture scales from small to large screens</a:t>
            </a:r>
          </a:p>
          <a:p>
            <a:pPr algn="l"/>
            <a:r>
              <a:rPr sz="1250" b="0">
                <a:solidFill>
                  <a:srgbClr val="E2E8F0"/>
                </a:solidFill>
              </a:rPr>
              <a:t>✔  Adjustable pins handle curved &amp; uneven surfaces</a:t>
            </a:r>
          </a:p>
          <a:p>
            <a:pPr algn="l"/>
            <a:r>
              <a:rPr sz="1250" b="0">
                <a:solidFill>
                  <a:srgbClr val="E2E8F0"/>
                </a:solidFill>
              </a:rPr>
              <a:t>✔  Continuous pixel-level camera feedback</a:t>
            </a:r>
          </a:p>
          <a:p>
            <a:pPr algn="l"/>
            <a:r>
              <a:rPr sz="1250" b="0">
                <a:solidFill>
                  <a:srgbClr val="E2E8F0"/>
                </a:solidFill>
              </a:rPr>
              <a:t>✔  Lower power — mobile &amp; in-vehicle friendly</a:t>
            </a:r>
          </a:p>
          <a:p>
            <a:pPr algn="l"/>
            <a:r>
              <a:rPr sz="1250" b="0">
                <a:solidFill>
                  <a:srgbClr val="E2E8F0"/>
                </a:solidFill>
              </a:rPr>
              <a:t>✔  Simple, fast part replacement</a:t>
            </a:r>
          </a:p>
          <a:p>
            <a:pPr algn="l"/>
            <a:r>
              <a:rPr sz="1250" b="0">
                <a:solidFill>
                  <a:srgbClr val="E2E8F0"/>
                </a:solidFill>
              </a:rPr>
              <a:t>✔  Dedicated knob-turning modules</a:t>
            </a:r>
          </a:p>
          <a:p>
            <a:pPr algn="l"/>
            <a:r>
              <a:rPr sz="1250" b="0">
                <a:solidFill>
                  <a:srgbClr val="E2E8F0"/>
                </a:solidFill>
              </a:rPr>
              <a:t>✔  Compact, portable, bench or field deployable</a:t>
            </a:r>
          </a:p>
          <a:p>
            <a:pPr algn="l"/>
            <a:r>
              <a:rPr sz="1250" b="0">
                <a:solidFill>
                  <a:srgbClr val="E2E8F0"/>
                </a:solidFill>
              </a:rPr>
              <a:t>✔  Real-time data logging &amp; cloud upload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943600" y="1188720"/>
            <a:ext cx="5943600" cy="2377440"/>
          </a:xfrm>
          <a:prstGeom prst="roundRect">
            <a:avLst>
              <a:gd name="adj" fmla="val 10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943600" y="1188720"/>
            <a:ext cx="594360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126480" y="128016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F9A825"/>
                </a:solidFill>
              </a:rPr>
              <a:t>ROBOTIC HAND — CONTEXT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1691640"/>
            <a:ext cx="557784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</a:rPr>
              <a:t>A robotic hand replicates human dexterity.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Powerful for grasping unknown objects &amp; research.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Over-engineered for structured HMI testing: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  •  Multi-finger joints  •  Tendon/cable drives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  •  Force-feedback sensors  •  Robot-arm required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  •  Advanced grasp planning software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  •  High calibration overhead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943600" y="3749039"/>
            <a:ext cx="5943600" cy="2560320"/>
          </a:xfrm>
          <a:prstGeom prst="roundRect">
            <a:avLst>
              <a:gd name="adj" fmla="val 10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943600" y="3749039"/>
            <a:ext cx="594360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26480" y="3840480"/>
            <a:ext cx="5577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1">
                <a:solidFill>
                  <a:srgbClr val="EF4444"/>
                </a:solidFill>
              </a:rPr>
              <a:t>WHERE ROBOTIC HAND EXCELS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206240"/>
            <a:ext cx="557784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</a:rPr>
              <a:t>◉  General manipulation research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◉  Grasping random, unknown objects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◉  Human-like interaction studies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◉  Complex dexterity experiments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◉  Unstructured environment tasks</a:t>
            </a:r>
          </a:p>
          <a:p>
            <a:pPr algn="l">
              <a:spcBef>
                <a:spcPts val="600"/>
              </a:spcBef>
            </a:pPr>
          </a:p>
          <a:p>
            <a:pPr algn="l"/>
            <a:r>
              <a:rPr sz="1200" b="0">
                <a:solidFill>
                  <a:srgbClr val="E2E8F0"/>
                </a:solidFill>
              </a:rPr>
              <a:t>None of these are HMI testing requirements.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System Architecture Overview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All subsystems of the static HMI test jig and how they interconnect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4754880" y="2651760"/>
            <a:ext cx="2651760" cy="1554480"/>
          </a:xfrm>
          <a:prstGeom prst="roundRect">
            <a:avLst>
              <a:gd name="adj" fmla="val 8000"/>
            </a:avLst>
          </a:prstGeom>
          <a:solidFill>
            <a:srgbClr val="334E68"/>
          </a:solidFill>
          <a:ln w="317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754880" y="2880360"/>
            <a:ext cx="26517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</a:rPr>
              <a:t>HMI
Under Test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663440" y="3794760"/>
            <a:ext cx="2834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A8E8"/>
                </a:solidFill>
              </a:rPr>
              <a:t>Screen · Buttons · Knobs · I/O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74320" y="1188720"/>
            <a:ext cx="2926080" cy="173736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74320" y="1188720"/>
            <a:ext cx="2926080" cy="4572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11480" y="126187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8E8"/>
                </a:solidFill>
              </a:rPr>
              <a:t>ALUMINUM FRAME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1572768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T-slot extrusion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Corner brackets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Adjustable rails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Modular sections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657600" y="1097280"/>
            <a:ext cx="2926080" cy="173736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657600" y="1097280"/>
            <a:ext cx="292608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794760" y="117043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8A"/>
                </a:solidFill>
              </a:rPr>
              <a:t>CAMERA SYSTEM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94760" y="1481328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Fixed-mount cameras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Pixel-level check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OCR / icon recog.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Frame timing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961120" y="1097280"/>
            <a:ext cx="2926080" cy="173736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61120" y="1097280"/>
            <a:ext cx="2926080" cy="457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98280" y="117043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9A825"/>
                </a:solidFill>
              </a:rPr>
              <a:t>CONTROL ELECTRONICS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098280" y="1481328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PLC / microcontroller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DAQ module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Relay I/O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Terminal blocks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74320" y="4389120"/>
            <a:ext cx="2926080" cy="173736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74320" y="4389120"/>
            <a:ext cx="2926080" cy="4572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446227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A78BFA"/>
                </a:solidFill>
              </a:rPr>
              <a:t>ACTUATORS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11480" y="4773168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Linear solenoids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Servo pushers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Pneumatic pins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Pogo-pin arrays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657600" y="4846320"/>
            <a:ext cx="2926080" cy="173736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3657600" y="4846320"/>
            <a:ext cx="2926080" cy="4572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3794760" y="491947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A8E8"/>
                </a:solidFill>
              </a:rPr>
              <a:t>KNOB MODULES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94760" y="5230368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Stepper/servo drive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Torque sensor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Encoder feedback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3D-printed adapter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961120" y="4389120"/>
            <a:ext cx="2926080" cy="173736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961120" y="4389120"/>
            <a:ext cx="2926080" cy="457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098280" y="4462272"/>
            <a:ext cx="265176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D48A"/>
                </a:solidFill>
              </a:rPr>
              <a:t>CLOUD / DATA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098280" y="4773168"/>
            <a:ext cx="2651760" cy="1280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>
                <a:solidFill>
                  <a:srgbClr val="E2E8F0"/>
                </a:solidFill>
              </a:rPr>
              <a:t>• Real-time logging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Timestamped results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Quality dashboard</a:t>
            </a:r>
          </a:p>
          <a:p>
            <a:pPr algn="l"/>
            <a:r>
              <a:rPr sz="1100" b="0">
                <a:solidFill>
                  <a:srgbClr val="E2E8F0"/>
                </a:solidFill>
              </a:rPr>
              <a:t>• Fleet support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1. Cost Effectiveness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The static jig eliminates every cost driver that makes robotic hands expensive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143000"/>
            <a:ext cx="5029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Relative Total Cost of Ownership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55448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Hardware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011680" y="1554480"/>
            <a:ext cx="3886200" cy="256032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943600" y="155448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8/10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828800"/>
            <a:ext cx="1143000" cy="256032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00400" y="182880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2/10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5760" y="2029968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Software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011680" y="2029968"/>
            <a:ext cx="3429000" cy="256032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0" y="202996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8/10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011680" y="2304288"/>
            <a:ext cx="1600200" cy="256032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304288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4/10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" y="2505456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Maintenance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2505456"/>
            <a:ext cx="4114800" cy="256032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72200" y="250545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9/10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011680" y="2779776"/>
            <a:ext cx="914400" cy="256032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2971800" y="2779776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2/10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5760" y="2980944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Spare Parts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11680" y="2980944"/>
            <a:ext cx="3657600" cy="256032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715000" y="298094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8/10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11680" y="3255264"/>
            <a:ext cx="914400" cy="256032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971800" y="3255264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2/10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65760" y="3456432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Operator Train.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011680" y="3456432"/>
            <a:ext cx="3200400" cy="256032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57800" y="345643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7/10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011680" y="3730752"/>
            <a:ext cx="1143000" cy="256032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3200400" y="3730752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2/10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" y="3931920"/>
            <a:ext cx="15544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Setup / Calib.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011680" y="3931920"/>
            <a:ext cx="3429000" cy="256032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486400" y="393192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EF4444"/>
                </a:solidFill>
              </a:rPr>
              <a:t>8/10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011680" y="4206240"/>
            <a:ext cx="1143000" cy="256032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3200400" y="4206240"/>
            <a:ext cx="5486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2C55E"/>
                </a:solidFill>
              </a:rPr>
              <a:t>2/10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65760" y="4937760"/>
            <a:ext cx="201168" cy="14630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594360" y="4892040"/>
            <a:ext cx="13716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F4444"/>
                </a:solidFill>
              </a:rPr>
              <a:t>Robotic Hand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011680" y="4937760"/>
            <a:ext cx="201168" cy="14630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2240280" y="4892040"/>
            <a:ext cx="164592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2C55E"/>
                </a:solidFill>
              </a:rPr>
              <a:t>Static HMI Jig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114800" y="4892040"/>
            <a:ext cx="182880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</a:rPr>
              <a:t>(lower = better)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52160" y="1097280"/>
            <a:ext cx="2011680" cy="384048"/>
          </a:xfrm>
          <a:prstGeom prst="rect">
            <a:avLst/>
          </a:prstGeom>
          <a:solidFill>
            <a:srgbClr val="00A8E8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43600" y="115214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Category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7863840" y="1097280"/>
            <a:ext cx="2011680" cy="384048"/>
          </a:xfrm>
          <a:prstGeom prst="rect">
            <a:avLst/>
          </a:prstGeom>
          <a:solidFill>
            <a:srgbClr val="00A8E8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7955280" y="115214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Static Jig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875520" y="1097280"/>
            <a:ext cx="2011680" cy="384048"/>
          </a:xfrm>
          <a:prstGeom prst="rect">
            <a:avLst/>
          </a:prstGeom>
          <a:solidFill>
            <a:srgbClr val="00A8E8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966960" y="115214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Robotic Hand</a:t>
            </a:r>
          </a:p>
        </p:txBody>
      </p:sp>
      <p:sp>
        <p:nvSpPr>
          <p:cNvPr id="50" name="Rectangle 49"/>
          <p:cNvSpPr/>
          <p:nvPr/>
        </p:nvSpPr>
        <p:spPr>
          <a:xfrm>
            <a:off x="5852160" y="1481328"/>
            <a:ext cx="201168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5943600" y="15361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Mech. complexity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863840" y="1481328"/>
            <a:ext cx="201168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7955280" y="15361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Low–Medium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875520" y="1481328"/>
            <a:ext cx="201168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966960" y="153619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High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52160" y="1865376"/>
            <a:ext cx="2011680" cy="384048"/>
          </a:xfrm>
          <a:prstGeom prst="rect">
            <a:avLst/>
          </a:prstGeom>
          <a:solidFill>
            <a:srgbClr val="162A3E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943600" y="192024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Actuator count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7863840" y="1865376"/>
            <a:ext cx="2011680" cy="384048"/>
          </a:xfrm>
          <a:prstGeom prst="rect">
            <a:avLst/>
          </a:prstGeom>
          <a:solidFill>
            <a:srgbClr val="162A3E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955280" y="192024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Only where needed</a:t>
            </a:r>
          </a:p>
        </p:txBody>
      </p:sp>
      <p:sp>
        <p:nvSpPr>
          <p:cNvPr id="60" name="Rectangle 59"/>
          <p:cNvSpPr/>
          <p:nvPr/>
        </p:nvSpPr>
        <p:spPr>
          <a:xfrm>
            <a:off x="9875520" y="1865376"/>
            <a:ext cx="2011680" cy="384048"/>
          </a:xfrm>
          <a:prstGeom prst="rect">
            <a:avLst/>
          </a:prstGeom>
          <a:solidFill>
            <a:srgbClr val="162A3E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966960" y="192024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Many per finger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852160" y="2249424"/>
            <a:ext cx="201168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0" y="23042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Maintenance cost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7863840" y="2249424"/>
            <a:ext cx="201168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7955280" y="23042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Low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75520" y="2249424"/>
            <a:ext cx="201168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9966960" y="230428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High</a:t>
            </a:r>
          </a:p>
        </p:txBody>
      </p:sp>
      <p:sp>
        <p:nvSpPr>
          <p:cNvPr id="68" name="Rectangle 67"/>
          <p:cNvSpPr/>
          <p:nvPr/>
        </p:nvSpPr>
        <p:spPr>
          <a:xfrm>
            <a:off x="5852160" y="2633472"/>
            <a:ext cx="2011680" cy="384048"/>
          </a:xfrm>
          <a:prstGeom prst="rect">
            <a:avLst/>
          </a:prstGeom>
          <a:solidFill>
            <a:srgbClr val="162A3E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943600" y="268833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Spare parts</a:t>
            </a:r>
          </a:p>
        </p:txBody>
      </p:sp>
      <p:sp>
        <p:nvSpPr>
          <p:cNvPr id="70" name="Rectangle 69"/>
          <p:cNvSpPr/>
          <p:nvPr/>
        </p:nvSpPr>
        <p:spPr>
          <a:xfrm>
            <a:off x="7863840" y="2633472"/>
            <a:ext cx="2011680" cy="384048"/>
          </a:xfrm>
          <a:prstGeom prst="rect">
            <a:avLst/>
          </a:prstGeom>
          <a:solidFill>
            <a:srgbClr val="162A3E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7955280" y="268833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Simple &amp; cheap</a:t>
            </a:r>
          </a:p>
        </p:txBody>
      </p:sp>
      <p:sp>
        <p:nvSpPr>
          <p:cNvPr id="72" name="Rectangle 71"/>
          <p:cNvSpPr/>
          <p:nvPr/>
        </p:nvSpPr>
        <p:spPr>
          <a:xfrm>
            <a:off x="9875520" y="2633472"/>
            <a:ext cx="2011680" cy="384048"/>
          </a:xfrm>
          <a:prstGeom prst="rect">
            <a:avLst/>
          </a:prstGeom>
          <a:solidFill>
            <a:srgbClr val="162A3E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9966960" y="2688336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Specialised &amp; costly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5852160" y="3017520"/>
            <a:ext cx="201168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5943600" y="307238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Setup cost</a:t>
            </a:r>
          </a:p>
        </p:txBody>
      </p:sp>
      <p:sp>
        <p:nvSpPr>
          <p:cNvPr id="76" name="Rectangle 75"/>
          <p:cNvSpPr/>
          <p:nvPr/>
        </p:nvSpPr>
        <p:spPr>
          <a:xfrm>
            <a:off x="7863840" y="3017520"/>
            <a:ext cx="201168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7955280" y="307238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Low–Moderate</a:t>
            </a:r>
          </a:p>
        </p:txBody>
      </p:sp>
      <p:sp>
        <p:nvSpPr>
          <p:cNvPr id="78" name="Rectangle 77"/>
          <p:cNvSpPr/>
          <p:nvPr/>
        </p:nvSpPr>
        <p:spPr>
          <a:xfrm>
            <a:off x="9875520" y="3017520"/>
            <a:ext cx="201168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9966960" y="3072384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High</a:t>
            </a:r>
          </a:p>
        </p:txBody>
      </p:sp>
      <p:sp>
        <p:nvSpPr>
          <p:cNvPr id="80" name="Rectangle 79"/>
          <p:cNvSpPr/>
          <p:nvPr/>
        </p:nvSpPr>
        <p:spPr>
          <a:xfrm>
            <a:off x="5852160" y="3401568"/>
            <a:ext cx="2011680" cy="384048"/>
          </a:xfrm>
          <a:prstGeom prst="rect">
            <a:avLst/>
          </a:prstGeom>
          <a:solidFill>
            <a:srgbClr val="162A3E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943600" y="345643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Software</a:t>
            </a:r>
          </a:p>
        </p:txBody>
      </p:sp>
      <p:sp>
        <p:nvSpPr>
          <p:cNvPr id="82" name="Rectangle 81"/>
          <p:cNvSpPr/>
          <p:nvPr/>
        </p:nvSpPr>
        <p:spPr>
          <a:xfrm>
            <a:off x="7863840" y="3401568"/>
            <a:ext cx="2011680" cy="384048"/>
          </a:xfrm>
          <a:prstGeom prst="rect">
            <a:avLst/>
          </a:prstGeom>
          <a:solidFill>
            <a:srgbClr val="162A3E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955280" y="345643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Moderate</a:t>
            </a:r>
          </a:p>
        </p:txBody>
      </p:sp>
      <p:sp>
        <p:nvSpPr>
          <p:cNvPr id="84" name="Rectangle 83"/>
          <p:cNvSpPr/>
          <p:nvPr/>
        </p:nvSpPr>
        <p:spPr>
          <a:xfrm>
            <a:off x="9875520" y="3401568"/>
            <a:ext cx="2011680" cy="384048"/>
          </a:xfrm>
          <a:prstGeom prst="rect">
            <a:avLst/>
          </a:prstGeom>
          <a:solidFill>
            <a:srgbClr val="162A3E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9966960" y="3456432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High</a:t>
            </a:r>
          </a:p>
        </p:txBody>
      </p:sp>
      <p:sp>
        <p:nvSpPr>
          <p:cNvPr id="86" name="Rectangle 85"/>
          <p:cNvSpPr/>
          <p:nvPr/>
        </p:nvSpPr>
        <p:spPr>
          <a:xfrm>
            <a:off x="5852160" y="3785616"/>
            <a:ext cx="201168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5943600" y="384048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Operator training</a:t>
            </a:r>
          </a:p>
        </p:txBody>
      </p:sp>
      <p:sp>
        <p:nvSpPr>
          <p:cNvPr id="88" name="Rectangle 87"/>
          <p:cNvSpPr/>
          <p:nvPr/>
        </p:nvSpPr>
        <p:spPr>
          <a:xfrm>
            <a:off x="7863840" y="3785616"/>
            <a:ext cx="201168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7955280" y="384048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Simple</a:t>
            </a:r>
          </a:p>
        </p:txBody>
      </p:sp>
      <p:sp>
        <p:nvSpPr>
          <p:cNvPr id="90" name="Rectangle 89"/>
          <p:cNvSpPr/>
          <p:nvPr/>
        </p:nvSpPr>
        <p:spPr>
          <a:xfrm>
            <a:off x="9875520" y="3785616"/>
            <a:ext cx="2011680" cy="384048"/>
          </a:xfrm>
          <a:prstGeom prst="rect">
            <a:avLst/>
          </a:prstGeom>
          <a:solidFill>
            <a:srgbClr val="1E293B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9966960" y="3840480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Advanced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852160" y="4169664"/>
            <a:ext cx="2011680" cy="384048"/>
          </a:xfrm>
          <a:prstGeom prst="rect">
            <a:avLst/>
          </a:prstGeom>
          <a:solidFill>
            <a:srgbClr val="162A3E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5943600" y="422452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Long-term TCO</a:t>
            </a:r>
          </a:p>
        </p:txBody>
      </p:sp>
      <p:sp>
        <p:nvSpPr>
          <p:cNvPr id="94" name="Rectangle 93"/>
          <p:cNvSpPr/>
          <p:nvPr/>
        </p:nvSpPr>
        <p:spPr>
          <a:xfrm>
            <a:off x="7863840" y="4169664"/>
            <a:ext cx="2011680" cy="384048"/>
          </a:xfrm>
          <a:prstGeom prst="rect">
            <a:avLst/>
          </a:prstGeom>
          <a:solidFill>
            <a:srgbClr val="162A3E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7955280" y="422452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Low</a:t>
            </a:r>
          </a:p>
        </p:txBody>
      </p:sp>
      <p:sp>
        <p:nvSpPr>
          <p:cNvPr id="96" name="Rectangle 95"/>
          <p:cNvSpPr/>
          <p:nvPr/>
        </p:nvSpPr>
        <p:spPr>
          <a:xfrm>
            <a:off x="9875520" y="4169664"/>
            <a:ext cx="2011680" cy="384048"/>
          </a:xfrm>
          <a:prstGeom prst="rect">
            <a:avLst/>
          </a:prstGeom>
          <a:solidFill>
            <a:srgbClr val="162A3E"/>
          </a:solidFill>
          <a:ln w="635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9966960" y="4224528"/>
            <a:ext cx="18288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High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2. Modular Design for Any Screen Size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One platform, reconfigurable for small HMI panels to full vehicle dashboards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120640" cy="201168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6153912"/>
            <a:ext cx="5120640" cy="201168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320040" y="1234440"/>
            <a:ext cx="201168" cy="51206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239512" y="1234440"/>
            <a:ext cx="201168" cy="512064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21208" y="2057400"/>
            <a:ext cx="4718304" cy="109728"/>
          </a:xfrm>
          <a:prstGeom prst="rect">
            <a:avLst/>
          </a:prstGeom>
          <a:solidFill>
            <a:srgbClr val="44607A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21208" y="3063240"/>
            <a:ext cx="4718304" cy="109728"/>
          </a:xfrm>
          <a:prstGeom prst="rect">
            <a:avLst/>
          </a:prstGeom>
          <a:solidFill>
            <a:srgbClr val="44607A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21208" y="4069080"/>
            <a:ext cx="4718304" cy="109728"/>
          </a:xfrm>
          <a:prstGeom prst="rect">
            <a:avLst/>
          </a:prstGeom>
          <a:solidFill>
            <a:srgbClr val="44607A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21208" y="5074920"/>
            <a:ext cx="4718304" cy="109728"/>
          </a:xfrm>
          <a:prstGeom prst="rect">
            <a:avLst/>
          </a:prstGeom>
          <a:solidFill>
            <a:srgbClr val="44607A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1463040"/>
            <a:ext cx="914400" cy="118872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 w="2286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1463040"/>
            <a:ext cx="914400" cy="36576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21792" y="1536192"/>
            <a:ext cx="7680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Panel A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48640" y="14630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316736" y="14630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246888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316736" y="246888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00200" y="1463040"/>
            <a:ext cx="914400" cy="118872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 w="228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1600200" y="1463040"/>
            <a:ext cx="91440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673352" y="1536192"/>
            <a:ext cx="76809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Panel B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600200" y="14630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368296" y="14630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1600200" y="246888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368296" y="246888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51760" y="1463040"/>
            <a:ext cx="1463040" cy="118872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 w="2286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651760" y="1463040"/>
            <a:ext cx="1463040" cy="36576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724912" y="1536192"/>
            <a:ext cx="1316736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Panel C
(large)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651760" y="14630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968496" y="14630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2651760" y="246888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968496" y="246888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2834640"/>
            <a:ext cx="2194560" cy="109728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 w="2286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2834640"/>
            <a:ext cx="2194560" cy="36576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21792" y="2907792"/>
            <a:ext cx="204825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Curved Display
Module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48640" y="28346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2596896" y="28346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48640" y="37490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2596896" y="37490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2926080" y="2834640"/>
            <a:ext cx="2103120" cy="109728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 w="228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2926080" y="2834640"/>
            <a:ext cx="210312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2999232" y="2907792"/>
            <a:ext cx="1956816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Button Array
Module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26080" y="28346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882896" y="28346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926080" y="37490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882896" y="374904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548640" y="4069080"/>
            <a:ext cx="1097280" cy="82296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 w="2286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48640" y="4069080"/>
            <a:ext cx="109728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1792" y="4142232"/>
            <a:ext cx="95097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Knob
Module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48640" y="406908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1499616" y="406908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548640" y="470916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1499616" y="470916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828800" y="4069080"/>
            <a:ext cx="3200400" cy="82296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 w="2286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1828800" y="4069080"/>
            <a:ext cx="3200400" cy="36576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901952" y="4142232"/>
            <a:ext cx="3054096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Camera / Vision Module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828800" y="406908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4882896" y="406908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1828800" y="470916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882896" y="4709160"/>
            <a:ext cx="73152" cy="73152"/>
          </a:xfrm>
          <a:prstGeom prst="roundRect">
            <a:avLst>
              <a:gd name="adj" fmla="val 50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760720" y="1188720"/>
            <a:ext cx="61264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FFFFFF"/>
                </a:solidFill>
              </a:rPr>
              <a:t>Why Modularity Wins</a:t>
            </a:r>
          </a:p>
        </p:txBody>
      </p:sp>
      <p:sp>
        <p:nvSpPr>
          <p:cNvPr id="66" name="Rectangle 65"/>
          <p:cNvSpPr/>
          <p:nvPr/>
        </p:nvSpPr>
        <p:spPr>
          <a:xfrm>
            <a:off x="3778575" y="1600200"/>
            <a:ext cx="4631801" cy="2540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760720" y="1828800"/>
            <a:ext cx="6126480" cy="96012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760720" y="1828800"/>
            <a:ext cx="54864" cy="96012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5897880" y="1892808"/>
            <a:ext cx="5852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Scalable Screen Range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5897880" y="219456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Works on small HMI, large dashboards, curved automotive displays,
industrial panels, and multi-screen cockpit layouts.</a:t>
            </a:r>
          </a:p>
        </p:txBody>
      </p:sp>
      <p:sp>
        <p:nvSpPr>
          <p:cNvPr id="71" name="Rectangle 70"/>
          <p:cNvSpPr/>
          <p:nvPr/>
        </p:nvSpPr>
        <p:spPr>
          <a:xfrm>
            <a:off x="5760720" y="2926080"/>
            <a:ext cx="6126480" cy="96012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5760720" y="2926080"/>
            <a:ext cx="54864" cy="96012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897880" y="2990088"/>
            <a:ext cx="5852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Physical Reconfiguration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897880" y="329184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Sliding rails, adjustable mounting plates, and removable actuator
modules replace software re-programming.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760720" y="4023360"/>
            <a:ext cx="6126480" cy="96012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5760720" y="4023360"/>
            <a:ext cx="54864" cy="96012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5897880" y="4087368"/>
            <a:ext cx="5852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Multiple Product Families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897880" y="438912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One base frame supports different vehicle programs or product
generations with swappable screen-specific modules.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760720" y="5120640"/>
            <a:ext cx="6126480" cy="96012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760720" y="5120640"/>
            <a:ext cx="54864" cy="96012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5897880" y="5184648"/>
            <a:ext cx="585216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Lower Redesign Cost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5897880" y="5486400"/>
            <a:ext cx="5852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New HMI geometry → swap one panel module, not the entire fixture.
Faster adaptation from prototype to production.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3. Adjustable Pin System for Any Surface Geometry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Mechanical compensation for curved, angled, and uneven HMI surfaces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4206240"/>
            <a:ext cx="5486400" cy="365760"/>
          </a:xfrm>
          <a:prstGeom prst="roundRect">
            <a:avLst>
              <a:gd name="adj" fmla="val 4000"/>
            </a:avLst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20040" y="4663440"/>
            <a:ext cx="54864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E2E8F0"/>
                </a:solidFill>
              </a:rPr>
              <a:t>Curved HMI Surface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2834640"/>
            <a:ext cx="164592" cy="1371600"/>
          </a:xfrm>
          <a:prstGeom prst="roundRect">
            <a:avLst>
              <a:gd name="adj" fmla="val 2000"/>
            </a:avLst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58368" y="4096512"/>
            <a:ext cx="219456" cy="137160"/>
          </a:xfrm>
          <a:prstGeom prst="roundRect">
            <a:avLst>
              <a:gd name="adj" fmla="val 3000"/>
            </a:avLst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67512" y="2999232"/>
            <a:ext cx="201168" cy="109728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371600" y="3200400"/>
            <a:ext cx="164592" cy="1005840"/>
          </a:xfrm>
          <a:prstGeom prst="roundRect">
            <a:avLst>
              <a:gd name="adj" fmla="val 2000"/>
            </a:avLst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344168" y="4096512"/>
            <a:ext cx="219456" cy="137160"/>
          </a:xfrm>
          <a:prstGeom prst="roundRect">
            <a:avLst>
              <a:gd name="adj" fmla="val 3000"/>
            </a:avLst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353312" y="3364992"/>
            <a:ext cx="201168" cy="109728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057400" y="3474720"/>
            <a:ext cx="164592" cy="731520"/>
          </a:xfrm>
          <a:prstGeom prst="roundRect">
            <a:avLst>
              <a:gd name="adj" fmla="val 2000"/>
            </a:avLst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29968" y="4096512"/>
            <a:ext cx="219456" cy="137160"/>
          </a:xfrm>
          <a:prstGeom prst="roundRect">
            <a:avLst>
              <a:gd name="adj" fmla="val 3000"/>
            </a:avLst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039112" y="3639312"/>
            <a:ext cx="201168" cy="109728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2743200" y="3474720"/>
            <a:ext cx="164592" cy="731520"/>
          </a:xfrm>
          <a:prstGeom prst="roundRect">
            <a:avLst>
              <a:gd name="adj" fmla="val 2000"/>
            </a:avLst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715768" y="4096512"/>
            <a:ext cx="219456" cy="137160"/>
          </a:xfrm>
          <a:prstGeom prst="roundRect">
            <a:avLst>
              <a:gd name="adj" fmla="val 3000"/>
            </a:avLst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724912" y="3639312"/>
            <a:ext cx="201168" cy="109728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3429000" y="3291840"/>
            <a:ext cx="164592" cy="914400"/>
          </a:xfrm>
          <a:prstGeom prst="roundRect">
            <a:avLst>
              <a:gd name="adj" fmla="val 2000"/>
            </a:avLst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401568" y="4096512"/>
            <a:ext cx="219456" cy="137160"/>
          </a:xfrm>
          <a:prstGeom prst="roundRect">
            <a:avLst>
              <a:gd name="adj" fmla="val 3000"/>
            </a:avLst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3410712" y="3456432"/>
            <a:ext cx="201168" cy="109728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114800" y="3017520"/>
            <a:ext cx="164592" cy="1188720"/>
          </a:xfrm>
          <a:prstGeom prst="roundRect">
            <a:avLst>
              <a:gd name="adj" fmla="val 2000"/>
            </a:avLst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087368" y="4096512"/>
            <a:ext cx="219456" cy="137160"/>
          </a:xfrm>
          <a:prstGeom prst="roundRect">
            <a:avLst>
              <a:gd name="adj" fmla="val 3000"/>
            </a:avLst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096512" y="3182112"/>
            <a:ext cx="201168" cy="109728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00600" y="2743200"/>
            <a:ext cx="164592" cy="1463040"/>
          </a:xfrm>
          <a:prstGeom prst="roundRect">
            <a:avLst>
              <a:gd name="adj" fmla="val 2000"/>
            </a:avLst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4773168" y="4096512"/>
            <a:ext cx="219456" cy="137160"/>
          </a:xfrm>
          <a:prstGeom prst="roundRect">
            <a:avLst>
              <a:gd name="adj" fmla="val 3000"/>
            </a:avLst>
          </a:prstGeom>
          <a:solidFill>
            <a:srgbClr val="FFD70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4782312" y="2907792"/>
            <a:ext cx="201168" cy="109728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20040" y="1371600"/>
            <a:ext cx="5486400" cy="201168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20040" y="1645920"/>
            <a:ext cx="2011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00A8E8"/>
                </a:solidFill>
              </a:rPr>
              <a:t>Adjustable height
per pin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143000" y="1600200"/>
            <a:ext cx="9144" cy="640080"/>
          </a:xfrm>
          <a:prstGeom prst="rect">
            <a:avLst/>
          </a:prstGeom>
          <a:solidFill>
            <a:srgbClr val="60606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2148840" y="470916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FFD700"/>
                </a:solidFill>
              </a:rPr>
              <a:t>Spring-loaded tip
(replaceable)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794760" y="3200400"/>
            <a:ext cx="18288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2E8F0"/>
                </a:solidFill>
              </a:rPr>
              <a:t>Locking nut
(micrometer adjuster)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20040" y="1143000"/>
            <a:ext cx="5486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1" i="0">
                <a:solidFill>
                  <a:srgbClr val="E2E8F0"/>
                </a:solidFill>
              </a:rPr>
              <a:t>Pin Array Cross-Section View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035040" y="1188720"/>
            <a:ext cx="58521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Surface Types Supported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35040" y="1600200"/>
            <a:ext cx="5852160" cy="6858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35040" y="1600200"/>
            <a:ext cx="45720" cy="68580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126480" y="169164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D48A"/>
                </a:solidFill>
              </a:rPr>
              <a:t>🖥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583680" y="165506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Flat Screens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583680" y="192938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Standard touch panels, industrial HMI displays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035040" y="2404872"/>
            <a:ext cx="5852160" cy="6858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035040" y="2404872"/>
            <a:ext cx="45720" cy="68580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0" y="2496312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D48A"/>
                </a:solidFill>
              </a:rPr>
              <a:t>⌒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583680" y="2459736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Curved Screens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583680" y="2734056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Automotive dashboards, swept display panels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35040" y="3209544"/>
            <a:ext cx="5852160" cy="6858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6035040" y="3209544"/>
            <a:ext cx="45720" cy="68580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126480" y="3300984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D48A"/>
                </a:solidFill>
              </a:rPr>
              <a:t>∠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583680" y="3264408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Angled Panels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583680" y="3538728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Inclined instrument clusters, tilted bezels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35040" y="4014216"/>
            <a:ext cx="5852160" cy="6858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035040" y="4014216"/>
            <a:ext cx="45720" cy="68580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126480" y="4105656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D48A"/>
                </a:solidFill>
              </a:rPr>
              <a:t>⬛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583680" y="4069080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Raised Buttons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583680" y="4343400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Physical push buttons with variable heights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35040" y="4818888"/>
            <a:ext cx="5852160" cy="6858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035040" y="4818888"/>
            <a:ext cx="45720" cy="68580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126480" y="4910328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D48A"/>
                </a:solidFill>
              </a:rPr>
              <a:t>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6583680" y="4873752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Recessed Switches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583680" y="5148072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Toggle switches &amp; recessed activators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35040" y="5623560"/>
            <a:ext cx="5852160" cy="6858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035040" y="5623560"/>
            <a:ext cx="45720" cy="68580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126480" y="5715000"/>
            <a:ext cx="3657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00D48A"/>
                </a:solidFill>
              </a:rPr>
              <a:t>≋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583680" y="5678424"/>
            <a:ext cx="2926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Multi-level Surface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583680" y="5952744"/>
            <a:ext cx="5120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Mixed-height control surfaces &amp; knob arrays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4. Constant Camera Feedback — Pixel-Level Screen Validation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Fixed cameras enable continuous, automated visual verification of the HMI display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1600200" y="2286000"/>
            <a:ext cx="3291840" cy="2560320"/>
          </a:xfrm>
          <a:prstGeom prst="rect">
            <a:avLst/>
          </a:prstGeom>
          <a:solidFill>
            <a:srgbClr val="051020"/>
          </a:solidFill>
          <a:ln w="25400">
            <a:solidFill>
              <a:srgbClr val="334E6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691640" y="2377440"/>
            <a:ext cx="3108960" cy="548640"/>
          </a:xfrm>
          <a:prstGeom prst="rect">
            <a:avLst/>
          </a:prstGeom>
          <a:solidFill>
            <a:srgbClr val="0060A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691640" y="2423160"/>
            <a:ext cx="3108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HMI DISPLAY — ACTIVE STATE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737360" y="3017520"/>
            <a:ext cx="640080" cy="457200"/>
          </a:xfrm>
          <a:prstGeom prst="roundRect">
            <a:avLst>
              <a:gd name="adj" fmla="val 4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468880" y="3017520"/>
            <a:ext cx="640080" cy="457200"/>
          </a:xfrm>
          <a:prstGeom prst="roundRect">
            <a:avLst>
              <a:gd name="adj" fmla="val 4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200400" y="3017520"/>
            <a:ext cx="640080" cy="457200"/>
          </a:xfrm>
          <a:prstGeom prst="roundRect">
            <a:avLst>
              <a:gd name="adj" fmla="val 4000"/>
            </a:avLst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737360" y="309067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PASS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468880" y="309067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3090672"/>
            <a:ext cx="6400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</a:rPr>
              <a:t>WARN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691640" y="3566160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691640" y="3803904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691640" y="4041648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691640" y="4279392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85416" y="3566160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185416" y="3803904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185416" y="4041648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185416" y="4279392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679192" y="3566160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679192" y="3803904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79192" y="4041648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79192" y="4279392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172968" y="3566160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3172968" y="3803904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3172968" y="4041648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172968" y="4279392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666744" y="3566160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666744" y="3803904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666744" y="4041648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666744" y="4279392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160520" y="3566160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4160520" y="3803904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160520" y="4041648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60520" y="4279392"/>
            <a:ext cx="438912" cy="201168"/>
          </a:xfrm>
          <a:prstGeom prst="rect">
            <a:avLst/>
          </a:prstGeom>
          <a:solidFill>
            <a:srgbClr val="051830"/>
          </a:solidFill>
          <a:ln w="63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600200" y="4572000"/>
            <a:ext cx="3291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1">
                <a:solidFill>
                  <a:srgbClr val="00A8E8"/>
                </a:solidFill>
              </a:rPr>
              <a:t>Pixel grid under analysis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06040" y="1234440"/>
            <a:ext cx="1463040" cy="54864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2606040" y="1298448"/>
            <a:ext cx="1463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00A8E8"/>
                </a:solidFill>
              </a:rPr>
              <a:t>📷 Fixed Camera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697480" y="1783080"/>
            <a:ext cx="9144" cy="50292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23360" y="1783080"/>
            <a:ext cx="9144" cy="50292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5943600" y="11887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What Camera Feedback Enables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94360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217920" y="15819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Pixel-level pass/fail comparison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943600" y="200253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0" y="19842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Color accuracy verification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943600" y="240487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217920" y="238658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Brightness and backlight uniformity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943600" y="280720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217920" y="27889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Dead pixel detection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943600" y="320954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217920" y="319125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UI transition animation check</a:t>
            </a:r>
          </a:p>
        </p:txBody>
      </p:sp>
      <p:sp>
        <p:nvSpPr>
          <p:cNvPr id="57" name="Rectangle 56"/>
          <p:cNvSpPr/>
          <p:nvPr/>
        </p:nvSpPr>
        <p:spPr>
          <a:xfrm>
            <a:off x="5943600" y="36118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17920" y="359359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Touch response confirmation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5943600" y="401421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217920" y="399592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OCR — text content recognition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943600" y="441655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217920" y="439826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Icon presence &amp; integrity check</a:t>
            </a:r>
          </a:p>
        </p:txBody>
      </p:sp>
      <p:sp>
        <p:nvSpPr>
          <p:cNvPr id="63" name="Rectangle 62"/>
          <p:cNvSpPr/>
          <p:nvPr/>
        </p:nvSpPr>
        <p:spPr>
          <a:xfrm>
            <a:off x="5943600" y="481888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480060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Frame-to-frame response timing</a:t>
            </a:r>
          </a:p>
        </p:txBody>
      </p:sp>
      <p:sp>
        <p:nvSpPr>
          <p:cNvPr id="65" name="Rectangle 64"/>
          <p:cNvSpPr/>
          <p:nvPr/>
        </p:nvSpPr>
        <p:spPr>
          <a:xfrm>
            <a:off x="5943600" y="522122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217920" y="520293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Screen flicker detection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943600" y="562356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217920" y="560527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Lag: input → display update</a:t>
            </a:r>
          </a:p>
        </p:txBody>
      </p:sp>
      <p:sp>
        <p:nvSpPr>
          <p:cNvPr id="69" name="Rectangle 68"/>
          <p:cNvSpPr/>
          <p:nvPr/>
        </p:nvSpPr>
        <p:spPr>
          <a:xfrm>
            <a:off x="5943600" y="602589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6217920" y="600760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Frozen or locked screen detection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5. Lower Power Consumption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Designed for in-vehicle, mobile, and battery-operated testing environments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Power Draw — Relative Comparison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20040" y="160020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Total System Power</a:t>
            </a:r>
          </a:p>
        </p:txBody>
      </p:sp>
      <p:sp>
        <p:nvSpPr>
          <p:cNvPr id="10" name="Rectangle 9"/>
          <p:cNvSpPr/>
          <p:nvPr/>
        </p:nvSpPr>
        <p:spPr>
          <a:xfrm>
            <a:off x="2240280" y="1618488"/>
            <a:ext cx="2880360" cy="219456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166360" y="16002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</a:rPr>
              <a:t>RH: 9/10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40280" y="1856232"/>
            <a:ext cx="960120" cy="219456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246120" y="185623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Jig: 3/10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221992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Motor/Actuator Draw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240280" y="2240280"/>
            <a:ext cx="2560320" cy="219456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846320" y="222199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</a:rPr>
              <a:t>RH: 8/10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240280" y="2478024"/>
            <a:ext cx="640080" cy="219456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26080" y="247802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Jig: 2/10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0040" y="2843784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Control Electronics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40280" y="2862072"/>
            <a:ext cx="1600200" cy="219456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886200" y="2843784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</a:rPr>
              <a:t>RH: 5/10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240280" y="3099816"/>
            <a:ext cx="1280160" cy="219456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566160" y="309981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Jig: 4/10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3465576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Idle Hold Torque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240280" y="3483864"/>
            <a:ext cx="2240280" cy="219456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26280" y="3465576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</a:rPr>
              <a:t>RH: 7/10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40280" y="3721608"/>
            <a:ext cx="36576" cy="219456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2286000" y="372160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Jig: 0/10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4087368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Motion Control CPU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240280" y="4105656"/>
            <a:ext cx="2560320" cy="219456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846320" y="4087368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</a:rPr>
              <a:t>RH: 8/10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240280" y="4343400"/>
            <a:ext cx="640080" cy="219456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26080" y="434340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Jig: 2/10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20040" y="4709160"/>
            <a:ext cx="18288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Cooling Required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240280" y="4727448"/>
            <a:ext cx="1920240" cy="219456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4206240" y="4709160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EF4444"/>
                </a:solidFill>
              </a:rPr>
              <a:t>RH: 6/10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240280" y="4965192"/>
            <a:ext cx="320040" cy="219456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2606040" y="4965192"/>
            <a:ext cx="7315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2C55E"/>
                </a:solidFill>
              </a:rPr>
              <a:t>Jig: 1/10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20040" y="5074920"/>
            <a:ext cx="5029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94A3B8"/>
                </a:solidFill>
              </a:rPr>
              <a:t>(lower score = lower power drawn)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852160" y="11887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FFFFF"/>
                </a:solidFill>
              </a:rPr>
              <a:t>Ideal Deployment Scenarios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852160" y="1600200"/>
            <a:ext cx="6035040" cy="77724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852160" y="1600200"/>
            <a:ext cx="45720" cy="77724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943600" y="1691640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🚗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537960" y="1645920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Inside a Moving Vehicle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537960" y="1920240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Rigidly mounted to dashboard — runs tests during road vibration without large power draw.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2496312"/>
            <a:ext cx="6035040" cy="77724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852160" y="2496312"/>
            <a:ext cx="45720" cy="77724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943600" y="2587752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🔋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6537960" y="2542032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Battery-Operated Field Testing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537960" y="2816352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Compact enough to run from a 24 V battery pack for remote or field diagnostics.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852160" y="3392424"/>
            <a:ext cx="6035040" cy="77724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5852160" y="3392424"/>
            <a:ext cx="45720" cy="77724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943600" y="3483864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🏭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537960" y="3438144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Endurance / Soak Testing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537960" y="3712464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Continuous cycle testing across hours — low idle power prevents thermal issues.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52160" y="4288536"/>
            <a:ext cx="6035040" cy="77724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852160" y="4288536"/>
            <a:ext cx="45720" cy="77724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5943600" y="4379976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537960" y="4334256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Embedded Validation Labs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537960" y="4608576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Small lab footprint, standard outlets — no dedicated power conditioning required.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52160" y="5184648"/>
            <a:ext cx="6035040" cy="77724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852160" y="5184648"/>
            <a:ext cx="45720" cy="77724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943600" y="5276088"/>
            <a:ext cx="5029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400" b="0" i="0">
                <a:solidFill>
                  <a:srgbClr val="FFFFFF"/>
                </a:solidFill>
              </a:rPr>
              <a:t>✈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537960" y="5230368"/>
            <a:ext cx="521208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Ruggedised Transport Cases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537960" y="5504688"/>
            <a:ext cx="5212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Fits in a portable case; battery-backed for on-site or airfield deployments.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6. Easy Part Replacement &amp; Maintenance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Simple, modular subsystems — no robotic hand specialist required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Exploded Module 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1645920"/>
            <a:ext cx="2286000" cy="594360"/>
          </a:xfrm>
          <a:prstGeom prst="roundRect">
            <a:avLst>
              <a:gd name="adj" fmla="val 5000"/>
            </a:avLst>
          </a:prstGeom>
          <a:solidFill>
            <a:srgbClr val="162A3E"/>
          </a:solidFill>
          <a:ln w="1524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57200" y="1645920"/>
            <a:ext cx="2286000" cy="36576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66928" y="1700784"/>
            <a:ext cx="20665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Contact Pin Module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1965960"/>
            <a:ext cx="20665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2E8F0"/>
                </a:solidFill>
              </a:rPr>
              <a:t>Unscrew  →  slide out  →  replace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2331720"/>
            <a:ext cx="2286000" cy="594360"/>
          </a:xfrm>
          <a:prstGeom prst="roundRect">
            <a:avLst>
              <a:gd name="adj" fmla="val 5000"/>
            </a:avLst>
          </a:prstGeom>
          <a:solidFill>
            <a:srgbClr val="162A3E"/>
          </a:solidFill>
          <a:ln w="1524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7200" y="2331720"/>
            <a:ext cx="228600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66928" y="2386584"/>
            <a:ext cx="20665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Rubber Tip / Stylus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66928" y="2651760"/>
            <a:ext cx="20665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2E8F0"/>
                </a:solidFill>
              </a:rPr>
              <a:t>Pull off  →  push on (&lt; 30 sec)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3017520"/>
            <a:ext cx="2286000" cy="594360"/>
          </a:xfrm>
          <a:prstGeom prst="roundRect">
            <a:avLst>
              <a:gd name="adj" fmla="val 5000"/>
            </a:avLst>
          </a:prstGeom>
          <a:solidFill>
            <a:srgbClr val="162A3E"/>
          </a:solidFill>
          <a:ln w="1524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3017520"/>
            <a:ext cx="2286000" cy="36576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66928" y="3072384"/>
            <a:ext cx="20665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Spring Assembly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3337560"/>
            <a:ext cx="20665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2E8F0"/>
                </a:solidFill>
              </a:rPr>
              <a:t>Captive screw  →  swap spring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57200" y="3703320"/>
            <a:ext cx="2286000" cy="594360"/>
          </a:xfrm>
          <a:prstGeom prst="roundRect">
            <a:avLst>
              <a:gd name="adj" fmla="val 5000"/>
            </a:avLst>
          </a:prstGeom>
          <a:solidFill>
            <a:srgbClr val="162A3E"/>
          </a:solidFill>
          <a:ln w="1524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57200" y="3703320"/>
            <a:ext cx="228600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66928" y="3758184"/>
            <a:ext cx="20665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Servo / Solenoid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4023360"/>
            <a:ext cx="20665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2E8F0"/>
                </a:solidFill>
              </a:rPr>
              <a:t>Connector  →  bracket  →  replace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926080" y="1645920"/>
            <a:ext cx="2286000" cy="594360"/>
          </a:xfrm>
          <a:prstGeom prst="roundRect">
            <a:avLst>
              <a:gd name="adj" fmla="val 5000"/>
            </a:avLst>
          </a:prstGeom>
          <a:solidFill>
            <a:srgbClr val="162A3E"/>
          </a:solidFill>
          <a:ln w="1524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926080" y="1645920"/>
            <a:ext cx="2286000" cy="36576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035808" y="1700784"/>
            <a:ext cx="20665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Camera Module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35808" y="1965960"/>
            <a:ext cx="20665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2E8F0"/>
                </a:solidFill>
              </a:rPr>
              <a:t>Mounting screws  →  swap unit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926080" y="2331720"/>
            <a:ext cx="2286000" cy="594360"/>
          </a:xfrm>
          <a:prstGeom prst="roundRect">
            <a:avLst>
              <a:gd name="adj" fmla="val 5000"/>
            </a:avLst>
          </a:prstGeom>
          <a:solidFill>
            <a:srgbClr val="162A3E"/>
          </a:solidFill>
          <a:ln w="1524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926080" y="2331720"/>
            <a:ext cx="228600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035808" y="2386584"/>
            <a:ext cx="20665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Harness Connector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035808" y="2651760"/>
            <a:ext cx="20665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2E8F0"/>
                </a:solidFill>
              </a:rPr>
              <a:t>Disconnect  →  new connector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926080" y="3017520"/>
            <a:ext cx="2286000" cy="594360"/>
          </a:xfrm>
          <a:prstGeom prst="roundRect">
            <a:avLst>
              <a:gd name="adj" fmla="val 5000"/>
            </a:avLst>
          </a:prstGeom>
          <a:solidFill>
            <a:srgbClr val="162A3E"/>
          </a:solidFill>
          <a:ln w="1524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2926080" y="3017520"/>
            <a:ext cx="2286000" cy="36576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3035808" y="3072384"/>
            <a:ext cx="20665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PCB / Controller Board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3035808" y="3337560"/>
            <a:ext cx="20665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2E8F0"/>
                </a:solidFill>
              </a:rPr>
              <a:t>DIN-rail or slide mount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926080" y="3703320"/>
            <a:ext cx="2286000" cy="594360"/>
          </a:xfrm>
          <a:prstGeom prst="roundRect">
            <a:avLst>
              <a:gd name="adj" fmla="val 5000"/>
            </a:avLst>
          </a:prstGeom>
          <a:solidFill>
            <a:srgbClr val="162A3E"/>
          </a:solidFill>
          <a:ln w="1524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2926080" y="3703320"/>
            <a:ext cx="2286000" cy="36576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3035808" y="3758184"/>
            <a:ext cx="2066544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Knob Coupler / Adapter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3035808" y="4023360"/>
            <a:ext cx="2066544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E2E8F0"/>
                </a:solidFill>
              </a:rPr>
              <a:t>3D-printed  →  swap in &lt; 2 min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7200" y="4572000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22C55E"/>
                </a:solidFill>
              </a:rPr>
              <a:t>Typical Repair Time: &lt; 10 minutes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852160" y="11887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F4444"/>
                </a:solidFill>
              </a:rPr>
              <a:t>Robotic Hand Maintenance — Complexity Cost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160020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5852160" y="1581912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126480" y="158191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Finger joint disassembly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852160" y="200253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852160" y="1984248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126480" y="198424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Tendon / cable replacement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852160" y="240487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5852160" y="2386584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126480" y="238658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Gearbox disassembly &amp; repair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852160" y="280720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852160" y="2788920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126480" y="278892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Servo recalibration</a:t>
            </a:r>
          </a:p>
        </p:txBody>
      </p:sp>
      <p:sp>
        <p:nvSpPr>
          <p:cNvPr id="55" name="Rectangle 54"/>
          <p:cNvSpPr/>
          <p:nvPr/>
        </p:nvSpPr>
        <p:spPr>
          <a:xfrm>
            <a:off x="5852160" y="3209544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52160" y="3191256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126480" y="3191256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Encoder re-alignment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852160" y="3611880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5852160" y="3593592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126480" y="3593592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Force sensor recalibration</a:t>
            </a:r>
          </a:p>
        </p:txBody>
      </p:sp>
      <p:sp>
        <p:nvSpPr>
          <p:cNvPr id="61" name="Rectangle 60"/>
          <p:cNvSpPr/>
          <p:nvPr/>
        </p:nvSpPr>
        <p:spPr>
          <a:xfrm>
            <a:off x="5852160" y="4014216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5852160" y="3995928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126480" y="3995928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Reprogramming / retuning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852160" y="4416552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852160" y="4398264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126480" y="4398264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Specialist technician required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852160" y="4818888"/>
            <a:ext cx="201168" cy="201168"/>
          </a:xfrm>
          <a:prstGeom prst="roundRect">
            <a:avLst>
              <a:gd name="adj" fmla="val 50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5852160" y="4800600"/>
            <a:ext cx="201168" cy="23774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✗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126480" y="4800600"/>
            <a:ext cx="5486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Potential days of downtime</a:t>
            </a:r>
          </a:p>
        </p:txBody>
      </p:sp>
      <p:sp>
        <p:nvSpPr>
          <p:cNvPr id="70" name="Rectangle 69"/>
          <p:cNvSpPr/>
          <p:nvPr/>
        </p:nvSpPr>
        <p:spPr>
          <a:xfrm>
            <a:off x="5852160" y="5303520"/>
            <a:ext cx="6035040" cy="457200"/>
          </a:xfrm>
          <a:prstGeom prst="roundRect">
            <a:avLst>
              <a:gd name="adj" fmla="val 6000"/>
            </a:avLst>
          </a:prstGeom>
          <a:solidFill>
            <a:srgbClr val="3B101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5989320" y="5349240"/>
            <a:ext cx="57607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Downtime is expensive. The static jig is field-repairable without specialists.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7. Customisable Knob-Turning Modules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Purpose-built rotary actuators outperform robotic finger grasping for repeatability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1188720"/>
            <a:ext cx="53035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E2E8F0"/>
                </a:solidFill>
              </a:rPr>
              <a:t>Knob Module — Exploded View</a:t>
            </a:r>
          </a:p>
        </p:txBody>
      </p:sp>
      <p:sp>
        <p:nvSpPr>
          <p:cNvPr id="9" name="Rectangle 8"/>
          <p:cNvSpPr/>
          <p:nvPr/>
        </p:nvSpPr>
        <p:spPr>
          <a:xfrm>
            <a:off x="365760" y="4663440"/>
            <a:ext cx="5120640" cy="27432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011680" y="3474720"/>
            <a:ext cx="1463040" cy="118872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905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2011680" y="3520440"/>
            <a:ext cx="146304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0A8E8"/>
                </a:solidFill>
              </a:rPr>
              <a:t>Stepper /
Servo Motor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77440" y="3200400"/>
            <a:ext cx="731520" cy="292608"/>
          </a:xfrm>
          <a:prstGeom prst="roundRect">
            <a:avLst>
              <a:gd name="adj" fmla="val 3000"/>
            </a:avLst>
          </a:prstGeom>
          <a:solidFill>
            <a:srgbClr val="D97F0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65760" y="3017520"/>
            <a:ext cx="1920240" cy="228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F9A825"/>
                </a:solidFill>
              </a:rPr>
              <a:t>Flexible Coupler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40280" y="2286000"/>
            <a:ext cx="1005840" cy="91440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 w="1905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240280" y="2468880"/>
            <a:ext cx="100584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00D48A"/>
                </a:solidFill>
              </a:rPr>
              <a:t>3D-Printed
Knob Adapter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83280" y="3566160"/>
            <a:ext cx="1554480" cy="457200"/>
          </a:xfrm>
          <a:prstGeom prst="rect">
            <a:avLst/>
          </a:prstGeom>
          <a:solidFill>
            <a:srgbClr val="162A3E"/>
          </a:solidFill>
          <a:ln w="12700">
            <a:solidFill>
              <a:srgbClr val="F9A82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429000" y="361188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9A825"/>
                </a:solidFill>
              </a:rPr>
              <a:t>Torque Sensor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3840480"/>
            <a:ext cx="1554480" cy="457200"/>
          </a:xfrm>
          <a:prstGeom prst="rect">
            <a:avLst/>
          </a:prstGeom>
          <a:solidFill>
            <a:srgbClr val="162A3E"/>
          </a:solidFill>
          <a:ln w="12700">
            <a:solidFill>
              <a:srgbClr val="A78BF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886200"/>
            <a:ext cx="14630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A78BFA"/>
                </a:solidFill>
              </a:rPr>
              <a:t>Encoder Feedback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1371600"/>
            <a:ext cx="822960" cy="960120"/>
          </a:xfrm>
          <a:prstGeom prst="roundRect">
            <a:avLst>
              <a:gd name="adj" fmla="val 50000"/>
            </a:avLst>
          </a:prstGeom>
          <a:solidFill>
            <a:srgbClr val="303030"/>
          </a:solidFill>
          <a:ln w="1270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2331720" y="1572768"/>
            <a:ext cx="8229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E2E8F0"/>
                </a:solidFill>
              </a:rPr>
              <a:t>HVAC
Knob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852160" y="118872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Knob Types Supported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852160" y="1600200"/>
            <a:ext cx="6035040" cy="658368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852160" y="1600200"/>
            <a:ext cx="45720" cy="65836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989320" y="1655064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Rotary Encoders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89320" y="1929384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Infinite rotation with pulse counting</a:t>
            </a:r>
          </a:p>
        </p:txBody>
      </p:sp>
      <p:sp>
        <p:nvSpPr>
          <p:cNvPr id="27" name="Rectangle 26"/>
          <p:cNvSpPr/>
          <p:nvPr/>
        </p:nvSpPr>
        <p:spPr>
          <a:xfrm>
            <a:off x="5852160" y="2350008"/>
            <a:ext cx="6035040" cy="658368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5852160" y="2350008"/>
            <a:ext cx="45720" cy="65836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989320" y="2404872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Volume / HVAC Knobs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989320" y="2679192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Fixed range with detent feedback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852160" y="3099816"/>
            <a:ext cx="6035040" cy="658368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852160" y="3099816"/>
            <a:ext cx="45720" cy="65836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989320" y="3154680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Push-Turn Knobs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989320" y="3429000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Combined axial press + rotation sequence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852160" y="3849624"/>
            <a:ext cx="6035040" cy="658368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852160" y="3849624"/>
            <a:ext cx="45720" cy="65836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989320" y="3904488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Selector Dials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989320" y="4178808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Multi-position with hard stops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852160" y="4599432"/>
            <a:ext cx="6035040" cy="658368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5852160" y="4599432"/>
            <a:ext cx="45720" cy="65836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989320" y="4654296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Detented Controls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989320" y="4928616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Per-detent torque and click validation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852160" y="5349240"/>
            <a:ext cx="6035040" cy="658368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852160" y="5349240"/>
            <a:ext cx="45720" cy="658368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989320" y="5404104"/>
            <a:ext cx="57607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Multi-pos. Switches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989320" y="5678424"/>
            <a:ext cx="57607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Indexed positions measured via encoder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852160" y="61722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00D48A"/>
                </a:solidFill>
              </a:rPr>
              <a:t>Measurements captured: rotation angle · detent count · torque resistance · direction · speed · end stops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8 &amp; 9. Compact, Portable, and In-Vehicle Capable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Lightweight structure enables installation inside a moving vehicle for real-world testing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155448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34440"/>
            <a:ext cx="5577840" cy="54864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🔬 Lab Bench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173736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Sits on a standard 60 cm bench. No floor space or safety cage required.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26480" y="1234440"/>
            <a:ext cx="5577840" cy="155448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234440"/>
            <a:ext cx="5577840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263640" y="132588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🏭 Production Line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63640" y="173736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Mounts at end-of-line test stations. Fast HMI load/unload cycles.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20040" y="2971800"/>
            <a:ext cx="5577840" cy="155448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20040" y="2971800"/>
            <a:ext cx="557784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3063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🚗 Inside Moving Vehicle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347472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Bolted to the dashboard. Tests run during road vibration &amp; real ECU interaction.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26480" y="2971800"/>
            <a:ext cx="5577840" cy="155448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2971800"/>
            <a:ext cx="5577840" cy="54864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63640" y="306324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🧳 Field Service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347472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Transport in a carry case. Deploy on-site in under 15 minutes.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20040" y="4709160"/>
            <a:ext cx="5577840" cy="155448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20040" y="4709160"/>
            <a:ext cx="5577840" cy="54864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" y="4800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🔋 Battery-Powered Mobile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52120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Runs from vehicle battery or 24 V portable pack. No wall outlet needed.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26480" y="4709160"/>
            <a:ext cx="5577840" cy="155448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26480" y="4709160"/>
            <a:ext cx="5577840" cy="54864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63640" y="4800600"/>
            <a:ext cx="5303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 i="0">
                <a:solidFill>
                  <a:srgbClr val="FFFFFF"/>
                </a:solidFill>
              </a:rPr>
              <a:t>🏗️ Endurance Test Rig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63640" y="5212080"/>
            <a:ext cx="5303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2E8F0"/>
                </a:solidFill>
              </a:rPr>
              <a:t>Rigidly bolted for 24/7 soak testing. Minimal vibration sensitivity.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6400800"/>
            <a:ext cx="11521440" cy="292608"/>
          </a:xfrm>
          <a:prstGeom prst="roundRect">
            <a:avLst>
              <a:gd name="adj" fmla="val 4000"/>
            </a:avLst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57200" y="6419088"/>
            <a:ext cx="1124712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EF4444"/>
                </a:solidFill>
              </a:rPr>
              <a:t>A robotic hand system is typically larger, heavier, more fragile, and needs a safety cage. Portability becomes impractical when attached to a robot arm.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10. Real-Time Data Logging &amp; Cloud Integration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Structured test actions map directly to structured data — easy to log, analyse, and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201168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 w="25400">
            <a:solidFill>
              <a:srgbClr val="00A8E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2011680"/>
            <a:ext cx="2743200" cy="54864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2103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A8E8"/>
                </a:solidFill>
              </a:rPr>
              <a:t>HMI TEST JIG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2514600"/>
            <a:ext cx="246888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</a:rPr>
              <a:t>• Button press events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Knob rotation data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Pin contact timing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Camera pass/fail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Voltage/current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Comm. bus status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297680" y="2011680"/>
            <a:ext cx="2743200" cy="320040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 w="2540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2011680"/>
            <a:ext cx="2743200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434840" y="2103120"/>
            <a:ext cx="24688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D48A"/>
                </a:solidFill>
              </a:rPr>
              <a:t>TEST CONTROLLER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34840" y="2514600"/>
            <a:ext cx="246888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</a:rPr>
              <a:t>• Sequence logic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Pass/fail eval.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Data aggregation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Error capture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Operator ID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Serial number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75320" y="2011680"/>
            <a:ext cx="3566160" cy="3200400"/>
          </a:xfrm>
          <a:prstGeom prst="roundRect">
            <a:avLst>
              <a:gd name="adj" fmla="val 8000"/>
            </a:avLst>
          </a:prstGeom>
          <a:solidFill>
            <a:srgbClr val="162A3E"/>
          </a:solidFill>
          <a:ln w="25400">
            <a:solidFill>
              <a:srgbClr val="4F46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75320" y="2011680"/>
            <a:ext cx="3566160" cy="54864"/>
          </a:xfrm>
          <a:prstGeom prst="rect">
            <a:avLst/>
          </a:prstGeom>
          <a:solidFill>
            <a:srgbClr val="4F46E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12480" y="2103120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4F46E5"/>
                </a:solidFill>
              </a:rPr>
              <a:t>CLOUD PLATFORM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12480" y="2514600"/>
            <a:ext cx="3291840" cy="2606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E2E8F0"/>
                </a:solidFill>
              </a:rPr>
              <a:t>• Centralised records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Trend analysis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Quality dashboards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Failure traceability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Automated reports</a:t>
            </a:r>
          </a:p>
          <a:p>
            <a:pPr algn="l"/>
            <a:r>
              <a:rPr sz="1200" b="0">
                <a:solidFill>
                  <a:srgbClr val="E2E8F0"/>
                </a:solidFill>
              </a:rPr>
              <a:t>• Fleet / yield data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063240" y="3429000"/>
            <a:ext cx="123444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023360" y="3246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A825"/>
                </a:solidFill>
              </a:rPr>
              <a:t>▶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40880" y="3429000"/>
            <a:ext cx="123444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01000" y="3246120"/>
            <a:ext cx="365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 i="0">
                <a:solidFill>
                  <a:srgbClr val="F9A825"/>
                </a:solidFill>
              </a:rPr>
              <a:t>▶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20040" y="5394960"/>
            <a:ext cx="1152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E2E8F0"/>
                </a:solidFill>
              </a:rPr>
              <a:t>Every test record includes:</a:t>
            </a:r>
          </a:p>
        </p:txBody>
      </p:sp>
      <p:sp>
        <p:nvSpPr>
          <p:cNvPr id="25" name="Rectangle 24"/>
          <p:cNvSpPr/>
          <p:nvPr/>
        </p:nvSpPr>
        <p:spPr>
          <a:xfrm>
            <a:off x="320040" y="5760720"/>
            <a:ext cx="1078992" cy="365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393192" y="5779008"/>
            <a:ext cx="932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Serial number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472184" y="5760720"/>
            <a:ext cx="1078992" cy="365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545336" y="5779008"/>
            <a:ext cx="932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Operator ID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624328" y="5760720"/>
            <a:ext cx="1078992" cy="365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2697480" y="5779008"/>
            <a:ext cx="932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Date / Time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3776472" y="5760720"/>
            <a:ext cx="1078992" cy="365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3849624" y="5779008"/>
            <a:ext cx="932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Test result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928616" y="5760720"/>
            <a:ext cx="1078992" cy="365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01768" y="5779008"/>
            <a:ext cx="932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Failed step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080760" y="5760720"/>
            <a:ext cx="1078992" cy="365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153912" y="5779008"/>
            <a:ext cx="932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All measurements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32904" y="5760720"/>
            <a:ext cx="1078992" cy="365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306056" y="5779008"/>
            <a:ext cx="932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Screenshot on fail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85048" y="5760720"/>
            <a:ext cx="1078992" cy="365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458200" y="5779008"/>
            <a:ext cx="932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Environmental data</a:t>
            </a:r>
          </a:p>
        </p:txBody>
      </p:sp>
      <p:sp>
        <p:nvSpPr>
          <p:cNvPr id="41" name="Rectangle 40"/>
          <p:cNvSpPr/>
          <p:nvPr/>
        </p:nvSpPr>
        <p:spPr>
          <a:xfrm>
            <a:off x="9537192" y="5760720"/>
            <a:ext cx="1078992" cy="365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10344" y="5779008"/>
            <a:ext cx="932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Vehicle state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689336" y="5760720"/>
            <a:ext cx="1078992" cy="365760"/>
          </a:xfrm>
          <a:prstGeom prst="roundRect">
            <a:avLst>
              <a:gd name="adj" fmla="val 5000"/>
            </a:avLst>
          </a:prstGeom>
          <a:solidFill>
            <a:srgbClr val="1E293B"/>
          </a:solidFill>
          <a:ln w="10160">
            <a:solidFill>
              <a:srgbClr val="00D48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762488" y="5779008"/>
            <a:ext cx="93268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E2E8F0"/>
                </a:solidFill>
              </a:rPr>
              <a:t>Comm. bus log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Overall Effectiveness Scorecard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10-dimension comparison: Static HMI Jig vs. Robotic Hand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143000"/>
            <a:ext cx="4114800" cy="347472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434840" y="1143000"/>
            <a:ext cx="3566160" cy="347472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8001000" y="1143000"/>
            <a:ext cx="3566160" cy="347472"/>
          </a:xfrm>
          <a:prstGeom prst="rect">
            <a:avLst/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11480" y="1170432"/>
            <a:ext cx="39319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Dimension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26280" y="11704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Static HMI Jig  (out of 10)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92440" y="1170432"/>
            <a:ext cx="338328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Robotic Hand  (out of 10)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20040" y="1508760"/>
            <a:ext cx="411480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1508760"/>
            <a:ext cx="356616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8001000" y="1508760"/>
            <a:ext cx="356616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11480" y="1563624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Cost Effectiveness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26280" y="1581912"/>
            <a:ext cx="2798064" cy="274320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379208" y="15819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9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1581912"/>
            <a:ext cx="932688" cy="274320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079992" y="15819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20040" y="1965960"/>
            <a:ext cx="411480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434840" y="1965960"/>
            <a:ext cx="356616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001000" y="1965960"/>
            <a:ext cx="356616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11480" y="2020824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Modularity / Scalability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526280" y="2039112"/>
            <a:ext cx="2798064" cy="274320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79208" y="20391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9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092440" y="2039112"/>
            <a:ext cx="1554480" cy="274320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9701784" y="20391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5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20040" y="2423160"/>
            <a:ext cx="411480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434840" y="2423160"/>
            <a:ext cx="356616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8001000" y="2423160"/>
            <a:ext cx="356616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11480" y="2478024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Surface Geometry Handling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526280" y="2496312"/>
            <a:ext cx="2798064" cy="274320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7379208" y="24963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9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092440" y="2496312"/>
            <a:ext cx="1865376" cy="274320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12680" y="24963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6</a:t>
            </a:r>
          </a:p>
        </p:txBody>
      </p:sp>
      <p:sp>
        <p:nvSpPr>
          <p:cNvPr id="38" name="Rectangle 37"/>
          <p:cNvSpPr/>
          <p:nvPr/>
        </p:nvSpPr>
        <p:spPr>
          <a:xfrm>
            <a:off x="320040" y="2880360"/>
            <a:ext cx="411480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4434840" y="2880360"/>
            <a:ext cx="356616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8001000" y="2880360"/>
            <a:ext cx="356616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11480" y="2935224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Camera / Visual Verification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526280" y="2953512"/>
            <a:ext cx="2798064" cy="274320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7379208" y="29535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9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92440" y="2953512"/>
            <a:ext cx="1554480" cy="274320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01784" y="29535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5</a:t>
            </a:r>
          </a:p>
        </p:txBody>
      </p:sp>
      <p:sp>
        <p:nvSpPr>
          <p:cNvPr id="46" name="Rectangle 45"/>
          <p:cNvSpPr/>
          <p:nvPr/>
        </p:nvSpPr>
        <p:spPr>
          <a:xfrm>
            <a:off x="320040" y="3337560"/>
            <a:ext cx="411480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434840" y="3337560"/>
            <a:ext cx="356616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001000" y="3337560"/>
            <a:ext cx="356616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11480" y="3392424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Power Efficiency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526280" y="3410712"/>
            <a:ext cx="2798064" cy="274320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379208" y="34107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9</a:t>
            </a:r>
          </a:p>
        </p:txBody>
      </p:sp>
      <p:sp>
        <p:nvSpPr>
          <p:cNvPr id="52" name="Rectangle 51"/>
          <p:cNvSpPr/>
          <p:nvPr/>
        </p:nvSpPr>
        <p:spPr>
          <a:xfrm>
            <a:off x="8092440" y="3410712"/>
            <a:ext cx="932688" cy="274320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079992" y="34107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3</a:t>
            </a:r>
          </a:p>
        </p:txBody>
      </p:sp>
      <p:sp>
        <p:nvSpPr>
          <p:cNvPr id="54" name="Rectangle 53"/>
          <p:cNvSpPr/>
          <p:nvPr/>
        </p:nvSpPr>
        <p:spPr>
          <a:xfrm>
            <a:off x="320040" y="3794760"/>
            <a:ext cx="411480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434840" y="3794760"/>
            <a:ext cx="356616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001000" y="3794760"/>
            <a:ext cx="356616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11480" y="3849624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Ease of Maintenance</a:t>
            </a:r>
          </a:p>
        </p:txBody>
      </p:sp>
      <p:sp>
        <p:nvSpPr>
          <p:cNvPr id="58" name="Rectangle 57"/>
          <p:cNvSpPr/>
          <p:nvPr/>
        </p:nvSpPr>
        <p:spPr>
          <a:xfrm>
            <a:off x="4526280" y="3867912"/>
            <a:ext cx="2798064" cy="274320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7379208" y="38679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9</a:t>
            </a:r>
          </a:p>
        </p:txBody>
      </p:sp>
      <p:sp>
        <p:nvSpPr>
          <p:cNvPr id="60" name="Rectangle 59"/>
          <p:cNvSpPr/>
          <p:nvPr/>
        </p:nvSpPr>
        <p:spPr>
          <a:xfrm>
            <a:off x="8092440" y="3867912"/>
            <a:ext cx="621792" cy="274320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8769096" y="38679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2</a:t>
            </a:r>
          </a:p>
        </p:txBody>
      </p:sp>
      <p:sp>
        <p:nvSpPr>
          <p:cNvPr id="62" name="Rectangle 61"/>
          <p:cNvSpPr/>
          <p:nvPr/>
        </p:nvSpPr>
        <p:spPr>
          <a:xfrm>
            <a:off x="320040" y="4251960"/>
            <a:ext cx="411480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4434840" y="4251960"/>
            <a:ext cx="356616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8001000" y="4251960"/>
            <a:ext cx="356616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411480" y="4306824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Knob / Rotary Testing</a:t>
            </a:r>
          </a:p>
        </p:txBody>
      </p:sp>
      <p:sp>
        <p:nvSpPr>
          <p:cNvPr id="66" name="Rectangle 65"/>
          <p:cNvSpPr/>
          <p:nvPr/>
        </p:nvSpPr>
        <p:spPr>
          <a:xfrm>
            <a:off x="4526280" y="4325112"/>
            <a:ext cx="2798064" cy="274320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7379208" y="43251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9</a:t>
            </a:r>
          </a:p>
        </p:txBody>
      </p:sp>
      <p:sp>
        <p:nvSpPr>
          <p:cNvPr id="68" name="Rectangle 67"/>
          <p:cNvSpPr/>
          <p:nvPr/>
        </p:nvSpPr>
        <p:spPr>
          <a:xfrm>
            <a:off x="8092440" y="4325112"/>
            <a:ext cx="1554480" cy="274320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9701784" y="43251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5</a:t>
            </a:r>
          </a:p>
        </p:txBody>
      </p:sp>
      <p:sp>
        <p:nvSpPr>
          <p:cNvPr id="70" name="Rectangle 69"/>
          <p:cNvSpPr/>
          <p:nvPr/>
        </p:nvSpPr>
        <p:spPr>
          <a:xfrm>
            <a:off x="320040" y="4709160"/>
            <a:ext cx="411480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4434840" y="4709160"/>
            <a:ext cx="356616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8001000" y="4709160"/>
            <a:ext cx="356616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411480" y="4764024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Portability</a:t>
            </a:r>
          </a:p>
        </p:txBody>
      </p:sp>
      <p:sp>
        <p:nvSpPr>
          <p:cNvPr id="74" name="Rectangle 73"/>
          <p:cNvSpPr/>
          <p:nvPr/>
        </p:nvSpPr>
        <p:spPr>
          <a:xfrm>
            <a:off x="4526280" y="4782312"/>
            <a:ext cx="2798064" cy="274320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7379208" y="47823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9</a:t>
            </a:r>
          </a:p>
        </p:txBody>
      </p:sp>
      <p:sp>
        <p:nvSpPr>
          <p:cNvPr id="76" name="Rectangle 75"/>
          <p:cNvSpPr/>
          <p:nvPr/>
        </p:nvSpPr>
        <p:spPr>
          <a:xfrm>
            <a:off x="8092440" y="4782312"/>
            <a:ext cx="932688" cy="274320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9079992" y="47823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3</a:t>
            </a:r>
          </a:p>
        </p:txBody>
      </p:sp>
      <p:sp>
        <p:nvSpPr>
          <p:cNvPr id="78" name="Rectangle 77"/>
          <p:cNvSpPr/>
          <p:nvPr/>
        </p:nvSpPr>
        <p:spPr>
          <a:xfrm>
            <a:off x="320040" y="5166360"/>
            <a:ext cx="411480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4434840" y="5166360"/>
            <a:ext cx="356616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8001000" y="5166360"/>
            <a:ext cx="3566160" cy="420624"/>
          </a:xfrm>
          <a:prstGeom prst="rect">
            <a:avLst/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411480" y="5221224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In-Vehicle Testing</a:t>
            </a:r>
          </a:p>
        </p:txBody>
      </p:sp>
      <p:sp>
        <p:nvSpPr>
          <p:cNvPr id="82" name="Rectangle 81"/>
          <p:cNvSpPr/>
          <p:nvPr/>
        </p:nvSpPr>
        <p:spPr>
          <a:xfrm>
            <a:off x="4526280" y="5239512"/>
            <a:ext cx="2798064" cy="274320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379208" y="52395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9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092440" y="5239512"/>
            <a:ext cx="621792" cy="274320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8769096" y="52395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2</a:t>
            </a:r>
          </a:p>
        </p:txBody>
      </p:sp>
      <p:sp>
        <p:nvSpPr>
          <p:cNvPr id="86" name="Rectangle 85"/>
          <p:cNvSpPr/>
          <p:nvPr/>
        </p:nvSpPr>
        <p:spPr>
          <a:xfrm>
            <a:off x="320040" y="5623560"/>
            <a:ext cx="411480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4434840" y="5623560"/>
            <a:ext cx="356616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8001000" y="5623560"/>
            <a:ext cx="3566160" cy="420624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411480" y="5678424"/>
            <a:ext cx="3931920" cy="3108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E2E8F0"/>
                </a:solidFill>
              </a:rPr>
              <a:t>Data / Cloud Integration</a:t>
            </a:r>
          </a:p>
        </p:txBody>
      </p:sp>
      <p:sp>
        <p:nvSpPr>
          <p:cNvPr id="90" name="Rectangle 89"/>
          <p:cNvSpPr/>
          <p:nvPr/>
        </p:nvSpPr>
        <p:spPr>
          <a:xfrm>
            <a:off x="4526280" y="5696712"/>
            <a:ext cx="2487168" cy="274320"/>
          </a:xfrm>
          <a:prstGeom prst="roundRect">
            <a:avLst>
              <a:gd name="adj" fmla="val 3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7068312" y="56967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2C55E"/>
                </a:solidFill>
              </a:rPr>
              <a:t>8</a:t>
            </a:r>
          </a:p>
        </p:txBody>
      </p:sp>
      <p:sp>
        <p:nvSpPr>
          <p:cNvPr id="92" name="Rectangle 91"/>
          <p:cNvSpPr/>
          <p:nvPr/>
        </p:nvSpPr>
        <p:spPr>
          <a:xfrm>
            <a:off x="8092440" y="5696712"/>
            <a:ext cx="1554480" cy="274320"/>
          </a:xfrm>
          <a:prstGeom prst="roundRect">
            <a:avLst>
              <a:gd name="adj" fmla="val 3000"/>
            </a:avLst>
          </a:prstGeom>
          <a:solidFill>
            <a:srgbClr val="EF44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3" name="TextBox 92"/>
          <p:cNvSpPr txBox="1"/>
          <p:nvPr/>
        </p:nvSpPr>
        <p:spPr>
          <a:xfrm>
            <a:off x="9701784" y="5696712"/>
            <a:ext cx="2743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EF4444"/>
                </a:solidFill>
              </a:rPr>
              <a:t>5</a:t>
            </a:r>
          </a:p>
        </p:txBody>
      </p:sp>
      <p:sp>
        <p:nvSpPr>
          <p:cNvPr id="94" name="Rectangle 93"/>
          <p:cNvSpPr/>
          <p:nvPr/>
        </p:nvSpPr>
        <p:spPr>
          <a:xfrm>
            <a:off x="320040" y="6080760"/>
            <a:ext cx="4114800" cy="41148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4434840" y="6080760"/>
            <a:ext cx="3566160" cy="41148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001000" y="6080760"/>
            <a:ext cx="3566160" cy="411480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411480" y="6126480"/>
            <a:ext cx="39319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TOTAL (out of 100)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4526280" y="61264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22C55E"/>
                </a:solidFill>
              </a:rPr>
              <a:t>   89 / 100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8092440" y="6126480"/>
            <a:ext cx="3383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800" b="1" i="0">
                <a:solidFill>
                  <a:srgbClr val="EF4444"/>
                </a:solidFill>
              </a:rPr>
              <a:t>   39 / 100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88952" cy="1005840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54864" cy="100584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82880" y="91440"/>
            <a:ext cx="11823192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</a:rPr>
              <a:t>Key Selling Points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82880" y="594360"/>
            <a:ext cx="11823192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1">
                <a:solidFill>
                  <a:srgbClr val="00A8E8"/>
                </a:solidFill>
              </a:rPr>
              <a:t>Ten compelling advantages of the Static Robo HMI Test Jig over a robotic hand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20040" y="1234440"/>
            <a:ext cx="54864" cy="91440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9768" y="137160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20" y="128930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Much Lower Cost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161848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Eliminates multi-finger mechanisms, tendon drives, gearboxes, and robot arm.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234440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26480" y="1234440"/>
            <a:ext cx="54864" cy="91440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236208" y="1371600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236208" y="1344168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766560" y="1289304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Scales to Any Screen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766560" y="1618488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Modular rails and swappable panels cover small HMI to full dashboards.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20040" y="2267711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20040" y="2267711"/>
            <a:ext cx="54864" cy="9144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9768" y="2404871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9768" y="2377439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60120" y="2322575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Works on Curved Surfaces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265175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Per-pin height adjustment handles any contour — set-and-lock, no software comp.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26480" y="2267711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26480" y="2267711"/>
            <a:ext cx="54864" cy="914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236208" y="2404871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236208" y="2377439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766560" y="2322575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Pixel-Level Visual Check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766560" y="2651759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Fixed cameras run OCR, color check, icon verify, and timing measurement.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320040" y="3300982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20040" y="3300982"/>
            <a:ext cx="54864" cy="9144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29768" y="343814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29768" y="3410710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0120" y="335584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Mobile &amp; In-Vehicle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60120" y="368503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Low power, lightweight — mounts inside a vehicle for real-world road testing.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126480" y="3300982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126480" y="3300982"/>
            <a:ext cx="54864" cy="91440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236208" y="3438142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236208" y="3410710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766560" y="3355846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Fast, Cheap Repairs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766560" y="3685030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Any module swaps in &lt; 10 min by a standard technician, not a specialist.</a:t>
            </a:r>
          </a:p>
        </p:txBody>
      </p:sp>
      <p:sp>
        <p:nvSpPr>
          <p:cNvPr id="44" name="Rectangle 43"/>
          <p:cNvSpPr/>
          <p:nvPr/>
        </p:nvSpPr>
        <p:spPr>
          <a:xfrm>
            <a:off x="320040" y="4334253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320040" y="4334253"/>
            <a:ext cx="54864" cy="91440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29768" y="4471413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29768" y="4443981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0120" y="4389117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Knob Modules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960120" y="4718301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Stepper/servo with torque sensor and encoder — more repeatable than finger grip.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4334253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4334253"/>
            <a:ext cx="54864" cy="914400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236208" y="4471413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236208" y="4443981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8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766560" y="4389117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Bench to Field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6766560" y="4718301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Compact form fits on any bench, in a carry case, or inside a test bay.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320040" y="5367524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320040" y="5367524"/>
            <a:ext cx="54864" cy="914400"/>
          </a:xfrm>
          <a:prstGeom prst="rect">
            <a:avLst/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29768" y="550468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A78BF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429768" y="5477252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960120" y="542238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In-Vehicle Real-World Test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960120" y="575157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Rigid mount withstands road vibration while tests execute on real ECU data.</a:t>
            </a:r>
          </a:p>
        </p:txBody>
      </p:sp>
      <p:sp>
        <p:nvSpPr>
          <p:cNvPr id="62" name="Rectangle 61"/>
          <p:cNvSpPr/>
          <p:nvPr/>
        </p:nvSpPr>
        <p:spPr>
          <a:xfrm>
            <a:off x="6126480" y="5367524"/>
            <a:ext cx="5577840" cy="914400"/>
          </a:xfrm>
          <a:prstGeom prst="roundRect">
            <a:avLst>
              <a:gd name="adj" fmla="val 6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6126480" y="5367524"/>
            <a:ext cx="54864" cy="914400"/>
          </a:xfrm>
          <a:prstGeom prst="rect">
            <a:avLst/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6236208" y="5504684"/>
            <a:ext cx="420624" cy="420624"/>
          </a:xfrm>
          <a:prstGeom prst="roundRect">
            <a:avLst>
              <a:gd name="adj" fmla="val 50000"/>
            </a:avLst>
          </a:prstGeom>
          <a:solidFill>
            <a:srgbClr val="22C55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6236208" y="5477252"/>
            <a:ext cx="420624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700" b="1" i="0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766560" y="5422388"/>
            <a:ext cx="47548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</a:rPr>
              <a:t>Cloud-Connected Data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6766560" y="5751572"/>
            <a:ext cx="475488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E2E8F0"/>
                </a:solidFill>
              </a:rPr>
              <a:t>Structured actuator-to-test-point mapping makes cloud logging simple and clean.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73152" cy="6858000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28016" y="0"/>
            <a:ext cx="27432" cy="6858000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565392"/>
            <a:ext cx="12188952" cy="292608"/>
          </a:xfrm>
          <a:prstGeom prst="rect">
            <a:avLst/>
          </a:prstGeom>
          <a:solidFill>
            <a:srgbClr val="1E293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274320" y="6583680"/>
            <a:ext cx="11640312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0">
                <a:solidFill>
                  <a:srgbClr val="94A3B8"/>
                </a:solidFill>
              </a:rPr>
              <a:t>Static Robo HMI Test Jig  |  Confidential Research Report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548640"/>
            <a:ext cx="11430000" cy="36576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640080"/>
            <a:ext cx="114300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1">
                <a:solidFill>
                  <a:srgbClr val="00D48A"/>
                </a:solidFill>
              </a:rPr>
              <a:t>FINAL CONCLUSION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109728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The Static Robo HMI Test Jig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65760" y="1691640"/>
            <a:ext cx="114300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000" b="1" i="0">
                <a:solidFill>
                  <a:srgbClr val="00A8E8"/>
                </a:solidFill>
              </a:rPr>
              <a:t>is the superior solution for HMI validation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365760" y="2286000"/>
            <a:ext cx="11430000" cy="36576"/>
          </a:xfrm>
          <a:prstGeom prst="rect">
            <a:avLst/>
          </a:prstGeom>
          <a:solidFill>
            <a:srgbClr val="334E6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65760" y="2377440"/>
            <a:ext cx="114300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0">
                <a:solidFill>
                  <a:srgbClr val="E2E8F0"/>
                </a:solidFill>
              </a:rPr>
              <a:t>A robotic hand attempts to copy human motion. The static jig focuses directly on the testing requirement:
pressing, turning, observing, measuring, recording, and reporting — with higher repeatability, lower cost,
easier maintenance, continuous camera feedback, and structured cloud-connected test data.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65760" y="3337560"/>
            <a:ext cx="3657600" cy="2926080"/>
          </a:xfrm>
          <a:prstGeom prst="roundRect">
            <a:avLst>
              <a:gd name="adj" fmla="val 10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337560"/>
            <a:ext cx="3657600" cy="54864"/>
          </a:xfrm>
          <a:prstGeom prst="rect">
            <a:avLst/>
          </a:prstGeom>
          <a:solidFill>
            <a:srgbClr val="00A8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48640" y="34472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A8E8"/>
                </a:solidFill>
              </a:rPr>
              <a:t>Designed for the task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3886200"/>
            <a:ext cx="32918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✔  Purpose-built actuators</a:t>
            </a:r>
          </a:p>
          <a:p>
            <a:pPr algn="l"/>
            <a:r>
              <a:rPr sz="1300" b="0">
                <a:solidFill>
                  <a:srgbClr val="E2E8F0"/>
                </a:solidFill>
              </a:rPr>
              <a:t>✔  No dexterity overhead</a:t>
            </a:r>
          </a:p>
          <a:p>
            <a:pPr algn="l"/>
            <a:r>
              <a:rPr sz="1300" b="0">
                <a:solidFill>
                  <a:srgbClr val="E2E8F0"/>
                </a:solidFill>
              </a:rPr>
              <a:t>✔  Each pin = one test point</a:t>
            </a:r>
          </a:p>
          <a:p>
            <a:pPr algn="l"/>
            <a:r>
              <a:rPr sz="1300" b="0">
                <a:solidFill>
                  <a:srgbClr val="E2E8F0"/>
                </a:solidFill>
              </a:rPr>
              <a:t>✔  Structured data output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206240" y="3337560"/>
            <a:ext cx="3657600" cy="2926080"/>
          </a:xfrm>
          <a:prstGeom prst="roundRect">
            <a:avLst>
              <a:gd name="adj" fmla="val 10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206240" y="3337560"/>
            <a:ext cx="3657600" cy="54864"/>
          </a:xfrm>
          <a:prstGeom prst="rect">
            <a:avLst/>
          </a:prstGeom>
          <a:solidFill>
            <a:srgbClr val="00D48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389120" y="3447288"/>
            <a:ext cx="3291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00D48A"/>
                </a:solidFill>
              </a:rPr>
              <a:t>Economically sound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389120" y="3886200"/>
            <a:ext cx="329184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✔  Lower CapEx &amp; OpEx</a:t>
            </a:r>
          </a:p>
          <a:p>
            <a:pPr algn="l"/>
            <a:r>
              <a:rPr sz="1300" b="0">
                <a:solidFill>
                  <a:srgbClr val="E2E8F0"/>
                </a:solidFill>
              </a:rPr>
              <a:t>✔  Fast repair &lt; 10 min</a:t>
            </a:r>
          </a:p>
          <a:p>
            <a:pPr algn="l"/>
            <a:r>
              <a:rPr sz="1300" b="0">
                <a:solidFill>
                  <a:srgbClr val="E2E8F0"/>
                </a:solidFill>
              </a:rPr>
              <a:t>✔  No specialist staff</a:t>
            </a:r>
          </a:p>
          <a:p>
            <a:pPr algn="l"/>
            <a:r>
              <a:rPr sz="1300" b="0">
                <a:solidFill>
                  <a:srgbClr val="E2E8F0"/>
                </a:solidFill>
              </a:rPr>
              <a:t>✔  Simple spare parts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46720" y="3337560"/>
            <a:ext cx="3840480" cy="2926080"/>
          </a:xfrm>
          <a:prstGeom prst="roundRect">
            <a:avLst>
              <a:gd name="adj" fmla="val 10000"/>
            </a:avLst>
          </a:prstGeom>
          <a:solidFill>
            <a:srgbClr val="162A3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3337560"/>
            <a:ext cx="3840480" cy="54864"/>
          </a:xfrm>
          <a:prstGeom prst="rect">
            <a:avLst/>
          </a:prstGeom>
          <a:solidFill>
            <a:srgbClr val="F9A82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0" y="3447288"/>
            <a:ext cx="3474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F9A825"/>
                </a:solidFill>
              </a:rPr>
              <a:t>Deployment anywhere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0" y="3886200"/>
            <a:ext cx="3474720" cy="2240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E2E8F0"/>
                </a:solidFill>
              </a:rPr>
              <a:t>✔  Bench · lab · production</a:t>
            </a:r>
          </a:p>
          <a:p>
            <a:pPr algn="l"/>
            <a:r>
              <a:rPr sz="1300" b="0">
                <a:solidFill>
                  <a:srgbClr val="E2E8F0"/>
                </a:solidFill>
              </a:rPr>
              <a:t>✔  Inside moving vehicles</a:t>
            </a:r>
          </a:p>
          <a:p>
            <a:pPr algn="l"/>
            <a:r>
              <a:rPr sz="1300" b="0">
                <a:solidFill>
                  <a:srgbClr val="E2E8F0"/>
                </a:solidFill>
              </a:rPr>
              <a:t>✔  Battery-operated field use</a:t>
            </a:r>
          </a:p>
          <a:p>
            <a:pPr algn="l"/>
            <a:r>
              <a:rPr sz="1300" b="0">
                <a:solidFill>
                  <a:srgbClr val="E2E8F0"/>
                </a:solidFill>
              </a:rPr>
              <a:t>✔  Cloud-connected &amp; scalable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