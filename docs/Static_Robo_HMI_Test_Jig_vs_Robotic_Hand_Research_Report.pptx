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502920"/>
            <a:ext cx="11064240" cy="6400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200" b="1">
                <a:solidFill>
                  <a:srgbClr val="FFFFFF"/>
                </a:solidFill>
              </a:rPr>
              <a:t>Static Robo HMI Test Jig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1143000"/>
            <a:ext cx="1069848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500">
                <a:solidFill>
                  <a:srgbClr val="C7D2FE"/>
                </a:solidFill>
              </a:rPr>
              <a:t>Why it is more effective, versatile, and cost-effective than a robotic hand for HMI validation</a:t>
            </a:r>
          </a:p>
        </p:txBody>
      </p:sp>
      <p:sp>
        <p:nvSpPr>
          <p:cNvPr id="4" name="Box 4"/>
          <p:cNvSpPr/>
          <p:nvPr/>
        </p:nvSpPr>
        <p:spPr>
          <a:xfrm>
            <a:off x="640080" y="1874519"/>
            <a:ext cx="512064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914400" y="2057400"/>
            <a:ext cx="4572000" cy="32004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800" b="1">
                <a:solidFill>
                  <a:srgbClr val="E0F2FE"/>
                </a:solidFill>
              </a:rPr>
              <a:t>Purpose-built static jig</a:t>
            </a:r>
          </a:p>
        </p:txBody>
      </p:sp>
      <p:sp>
        <p:nvSpPr>
          <p:cNvPr id="6" name="Box 6"/>
          <p:cNvSpPr/>
          <p:nvPr/>
        </p:nvSpPr>
        <p:spPr>
          <a:xfrm>
            <a:off x="1051560" y="2880360"/>
            <a:ext cx="3794760" cy="1417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64748B"/>
            </a:solidFill>
          </a:ln>
        </p:spPr>
      </p:sp>
      <p:sp>
        <p:nvSpPr>
          <p:cNvPr id="7" name="Box 7"/>
          <p:cNvSpPr/>
          <p:nvPr/>
        </p:nvSpPr>
        <p:spPr>
          <a:xfrm>
            <a:off x="1508760" y="3154680"/>
            <a:ext cx="2834640" cy="7772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93C5FD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2148840" y="3410712"/>
            <a:ext cx="155448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000" b="1">
                <a:solidFill>
                  <a:srgbClr val="FFFFFF"/>
                </a:solidFill>
              </a:rPr>
              <a:t>HMI SCREEN</a:t>
            </a:r>
          </a:p>
        </p:txBody>
      </p:sp>
      <p:sp>
        <p:nvSpPr>
          <p:cNvPr id="9" name="Line 9"/>
          <p:cNvSpPr/>
          <p:nvPr/>
        </p:nvSpPr>
        <p:spPr>
          <a:xfrm flipH="0" flipV="0">
            <a:off x="1417320" y="2514600"/>
            <a:ext cx="1" cy="612647"/>
          </a:xfrm>
          <a:prstGeom prst="line">
            <a:avLst/>
          </a:prstGeom>
          <a:ln w="38100">
            <a:solidFill>
              <a:srgbClr val="F97316"/>
            </a:solidFill>
            <a:headEnd type="triangle"/>
          </a:ln>
        </p:spPr>
      </p:sp>
      <p:sp>
        <p:nvSpPr>
          <p:cNvPr id="10" name="Ellipse 10"/>
          <p:cNvSpPr/>
          <p:nvPr/>
        </p:nvSpPr>
        <p:spPr>
          <a:xfrm>
            <a:off x="1344168" y="2359152"/>
            <a:ext cx="146304" cy="14630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</a:ln>
        </p:spPr>
      </p:sp>
      <p:sp>
        <p:nvSpPr>
          <p:cNvPr id="11" name="Line 11"/>
          <p:cNvSpPr/>
          <p:nvPr/>
        </p:nvSpPr>
        <p:spPr>
          <a:xfrm flipH="0" flipV="0">
            <a:off x="2057400" y="2514600"/>
            <a:ext cx="1" cy="612647"/>
          </a:xfrm>
          <a:prstGeom prst="line">
            <a:avLst/>
          </a:prstGeom>
          <a:ln w="38100">
            <a:solidFill>
              <a:srgbClr val="F97316"/>
            </a:solidFill>
            <a:headEnd type="triangle"/>
          </a:ln>
        </p:spPr>
      </p:sp>
      <p:sp>
        <p:nvSpPr>
          <p:cNvPr id="12" name="Ellipse 12"/>
          <p:cNvSpPr/>
          <p:nvPr/>
        </p:nvSpPr>
        <p:spPr>
          <a:xfrm>
            <a:off x="1984248" y="2359152"/>
            <a:ext cx="146304" cy="14630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</a:ln>
        </p:spPr>
      </p:sp>
      <p:sp>
        <p:nvSpPr>
          <p:cNvPr id="13" name="Line 13"/>
          <p:cNvSpPr/>
          <p:nvPr/>
        </p:nvSpPr>
        <p:spPr>
          <a:xfrm flipH="0" flipV="0">
            <a:off x="2697480" y="2514600"/>
            <a:ext cx="1" cy="612647"/>
          </a:xfrm>
          <a:prstGeom prst="line">
            <a:avLst/>
          </a:prstGeom>
          <a:ln w="38100">
            <a:solidFill>
              <a:srgbClr val="F97316"/>
            </a:solidFill>
            <a:headEnd type="triangle"/>
          </a:ln>
        </p:spPr>
      </p:sp>
      <p:sp>
        <p:nvSpPr>
          <p:cNvPr id="14" name="Ellipse 14"/>
          <p:cNvSpPr/>
          <p:nvPr/>
        </p:nvSpPr>
        <p:spPr>
          <a:xfrm>
            <a:off x="2624328" y="2359152"/>
            <a:ext cx="146304" cy="14630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</a:ln>
        </p:spPr>
      </p:sp>
      <p:sp>
        <p:nvSpPr>
          <p:cNvPr id="15" name="Line 15"/>
          <p:cNvSpPr/>
          <p:nvPr/>
        </p:nvSpPr>
        <p:spPr>
          <a:xfrm flipH="0" flipV="0">
            <a:off x="3337560" y="2514600"/>
            <a:ext cx="1" cy="612647"/>
          </a:xfrm>
          <a:prstGeom prst="line">
            <a:avLst/>
          </a:prstGeom>
          <a:ln w="38100">
            <a:solidFill>
              <a:srgbClr val="F97316"/>
            </a:solidFill>
            <a:headEnd type="triangle"/>
          </a:ln>
        </p:spPr>
      </p:sp>
      <p:sp>
        <p:nvSpPr>
          <p:cNvPr id="16" name="Ellipse 16"/>
          <p:cNvSpPr/>
          <p:nvPr/>
        </p:nvSpPr>
        <p:spPr>
          <a:xfrm>
            <a:off x="3264408" y="2359152"/>
            <a:ext cx="146304" cy="14630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</a:ln>
        </p:spPr>
      </p:sp>
      <p:sp>
        <p:nvSpPr>
          <p:cNvPr id="17" name="Line 17"/>
          <p:cNvSpPr/>
          <p:nvPr/>
        </p:nvSpPr>
        <p:spPr>
          <a:xfrm flipH="0" flipV="0">
            <a:off x="3977639" y="2514600"/>
            <a:ext cx="1" cy="612647"/>
          </a:xfrm>
          <a:prstGeom prst="line">
            <a:avLst/>
          </a:prstGeom>
          <a:ln w="38100">
            <a:solidFill>
              <a:srgbClr val="F97316"/>
            </a:solidFill>
            <a:headEnd type="triangle"/>
          </a:ln>
        </p:spPr>
      </p:sp>
      <p:sp>
        <p:nvSpPr>
          <p:cNvPr id="18" name="Ellipse 18"/>
          <p:cNvSpPr/>
          <p:nvPr/>
        </p:nvSpPr>
        <p:spPr>
          <a:xfrm>
            <a:off x="3904487" y="2359152"/>
            <a:ext cx="146304" cy="14630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</a:ln>
        </p:spPr>
      </p:sp>
      <p:sp>
        <p:nvSpPr>
          <p:cNvPr id="19" name="Ellipse 19"/>
          <p:cNvSpPr/>
          <p:nvPr/>
        </p:nvSpPr>
        <p:spPr>
          <a:xfrm>
            <a:off x="4617720" y="2331720"/>
            <a:ext cx="548640" cy="3474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BBF7D0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4645152" y="2423160"/>
            <a:ext cx="457200" cy="13716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 b="1">
                <a:solidFill>
                  <a:srgbClr val="052E16"/>
                </a:solidFill>
              </a:rPr>
              <a:t>CAM</a:t>
            </a:r>
          </a:p>
        </p:txBody>
      </p:sp>
      <p:sp>
        <p:nvSpPr>
          <p:cNvPr id="21" name="Box 21"/>
          <p:cNvSpPr/>
          <p:nvPr/>
        </p:nvSpPr>
        <p:spPr>
          <a:xfrm>
            <a:off x="868680" y="4526280"/>
            <a:ext cx="4251960" cy="256032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22" name="Line 22"/>
          <p:cNvSpPr/>
          <p:nvPr/>
        </p:nvSpPr>
        <p:spPr>
          <a:xfrm flipH="0" flipV="0">
            <a:off x="4754880" y="4434840"/>
            <a:ext cx="822959" cy="548640"/>
          </a:xfrm>
          <a:prstGeom prst="line">
            <a:avLst/>
          </a:prstGeom>
          <a:ln w="25400">
            <a:solidFill>
              <a:srgbClr val="38BDF8"/>
            </a:solidFill>
            <a:headEnd type="triangle"/>
          </a:ln>
        </p:spPr>
      </p:sp>
      <p:sp>
        <p:nvSpPr>
          <p:cNvPr id="23" name="Box 23"/>
          <p:cNvSpPr/>
          <p:nvPr/>
        </p:nvSpPr>
        <p:spPr>
          <a:xfrm>
            <a:off x="6492240" y="1874519"/>
            <a:ext cx="4892040" cy="3108960"/>
          </a:xfrm>
          <a:prstGeom prst="roundRect">
            <a:avLst/>
          </a:prstGeom>
          <a:solidFill>
            <a:srgbClr val="450A0A"/>
          </a:solidFill>
          <a:ln w="12700">
            <a:solidFill>
              <a:srgbClr val="F87171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6766560" y="2057400"/>
            <a:ext cx="4297680" cy="32004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800" b="1">
                <a:solidFill>
                  <a:srgbClr val="FEE2E2"/>
                </a:solidFill>
              </a:rPr>
              <a:t>Robotic hand alternative</a:t>
            </a:r>
          </a:p>
        </p:txBody>
      </p:sp>
      <p:sp>
        <p:nvSpPr>
          <p:cNvPr id="25" name="Box 25"/>
          <p:cNvSpPr/>
          <p:nvPr/>
        </p:nvSpPr>
        <p:spPr>
          <a:xfrm>
            <a:off x="7315200" y="2743200"/>
            <a:ext cx="320040" cy="141732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FCA5A5"/>
            </a:solidFill>
          </a:ln>
        </p:spPr>
      </p:sp>
      <p:sp>
        <p:nvSpPr>
          <p:cNvPr id="26" name="Ellipse 26"/>
          <p:cNvSpPr/>
          <p:nvPr/>
        </p:nvSpPr>
        <p:spPr>
          <a:xfrm>
            <a:off x="7287768" y="2542032"/>
            <a:ext cx="374904" cy="2743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CA5A5"/>
            </a:solidFill>
          </a:ln>
        </p:spPr>
      </p:sp>
      <p:sp>
        <p:nvSpPr>
          <p:cNvPr id="27" name="Box 27"/>
          <p:cNvSpPr/>
          <p:nvPr/>
        </p:nvSpPr>
        <p:spPr>
          <a:xfrm>
            <a:off x="7909560" y="2651760"/>
            <a:ext cx="320040" cy="150876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FCA5A5"/>
            </a:solidFill>
          </a:ln>
        </p:spPr>
      </p:sp>
      <p:sp>
        <p:nvSpPr>
          <p:cNvPr id="28" name="Ellipse 28"/>
          <p:cNvSpPr/>
          <p:nvPr/>
        </p:nvSpPr>
        <p:spPr>
          <a:xfrm>
            <a:off x="7882128" y="2450591"/>
            <a:ext cx="374904" cy="2743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CA5A5"/>
            </a:solidFill>
          </a:ln>
        </p:spPr>
      </p:sp>
      <p:sp>
        <p:nvSpPr>
          <p:cNvPr id="29" name="Box 29"/>
          <p:cNvSpPr/>
          <p:nvPr/>
        </p:nvSpPr>
        <p:spPr>
          <a:xfrm>
            <a:off x="8503920" y="2560320"/>
            <a:ext cx="320040" cy="160020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FCA5A5"/>
            </a:solidFill>
          </a:ln>
        </p:spPr>
      </p:sp>
      <p:sp>
        <p:nvSpPr>
          <p:cNvPr id="30" name="Ellipse 30"/>
          <p:cNvSpPr/>
          <p:nvPr/>
        </p:nvSpPr>
        <p:spPr>
          <a:xfrm>
            <a:off x="8476488" y="2359151"/>
            <a:ext cx="374904" cy="2743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CA5A5"/>
            </a:solidFill>
          </a:ln>
        </p:spPr>
      </p:sp>
      <p:sp>
        <p:nvSpPr>
          <p:cNvPr id="31" name="Box 31"/>
          <p:cNvSpPr/>
          <p:nvPr/>
        </p:nvSpPr>
        <p:spPr>
          <a:xfrm>
            <a:off x="9098280" y="2468880"/>
            <a:ext cx="320040" cy="169164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FCA5A5"/>
            </a:solidFill>
          </a:ln>
        </p:spPr>
      </p:sp>
      <p:sp>
        <p:nvSpPr>
          <p:cNvPr id="32" name="Ellipse 32"/>
          <p:cNvSpPr/>
          <p:nvPr/>
        </p:nvSpPr>
        <p:spPr>
          <a:xfrm>
            <a:off x="9070848" y="2267711"/>
            <a:ext cx="374904" cy="2743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CA5A5"/>
            </a:solidFill>
          </a:ln>
        </p:spPr>
      </p:sp>
      <p:sp>
        <p:nvSpPr>
          <p:cNvPr id="33" name="Box 33"/>
          <p:cNvSpPr/>
          <p:nvPr/>
        </p:nvSpPr>
        <p:spPr>
          <a:xfrm>
            <a:off x="9692640" y="2377440"/>
            <a:ext cx="320040" cy="178308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FCA5A5"/>
            </a:solidFill>
          </a:ln>
        </p:spPr>
      </p:sp>
      <p:sp>
        <p:nvSpPr>
          <p:cNvPr id="34" name="Ellipse 34"/>
          <p:cNvSpPr/>
          <p:nvPr/>
        </p:nvSpPr>
        <p:spPr>
          <a:xfrm>
            <a:off x="9665208" y="2176272"/>
            <a:ext cx="374904" cy="2743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CA5A5"/>
            </a:solidFill>
          </a:ln>
        </p:spPr>
      </p:sp>
      <p:sp>
        <p:nvSpPr>
          <p:cNvPr id="35" name="Box 35"/>
          <p:cNvSpPr/>
          <p:nvPr/>
        </p:nvSpPr>
        <p:spPr>
          <a:xfrm>
            <a:off x="7818120" y="4069080"/>
            <a:ext cx="2468880" cy="59436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FCA5A5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8001000" y="4251960"/>
            <a:ext cx="2103120" cy="16459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FEE2E2"/>
                </a:solidFill>
              </a:rPr>
              <a:t>many joints, motors, sensors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Executive finding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534924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Static HMI test jig wins for HMI validation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5349240" cy="4544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Lower total cost because it uses only the actuators needed for fixed test points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More repeatable: fixed pins, fixed cameras, fixed alignment features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Modular frame scales to small screens, large displays, and mixed button/screen panels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Adjustable screw-height pins handle curved, sloped, or uneven HMI surfaces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Compact, low-power, serviceable, and suitable for vehicle-mounted testing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55080" y="1143000"/>
            <a:ext cx="5349240" cy="3200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Robotic hand is over-engineered for this task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355080" y="1490472"/>
            <a:ext cx="5349240" cy="4544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Designed for general human-like manipulation, not repeatable fixture testing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Requires many joints, motors, encoders, drivers, calibration routines, and safety controls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Harder to maintain and repair in production or field test environments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Often still needs separate cameras and data logging to verify the screen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Large, power-hungry, and difficult to mount inside a moving vehicle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System architecture: static jig combines actuation, vision, data, and cloud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Box 4"/>
          <p:cNvSpPr/>
          <p:nvPr/>
        </p:nvSpPr>
        <p:spPr>
          <a:xfrm>
            <a:off x="594360" y="1234440"/>
            <a:ext cx="3017520" cy="33832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822960" y="1417320"/>
            <a:ext cx="2560320" cy="2743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075985"/>
                </a:solidFill>
              </a:rPr>
              <a:t>Mechanical fixture</a:t>
            </a:r>
          </a:p>
        </p:txBody>
      </p:sp>
      <p:sp>
        <p:nvSpPr>
          <p:cNvPr id="6" name="Box 6"/>
          <p:cNvSpPr/>
          <p:nvPr/>
        </p:nvSpPr>
        <p:spPr>
          <a:xfrm>
            <a:off x="960120" y="1965960"/>
            <a:ext cx="2286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417320" y="2331720"/>
            <a:ext cx="13716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100" b="1">
                <a:solidFill>
                  <a:srgbClr val="0F172A"/>
                </a:solidFill>
              </a:rPr>
              <a:t>HMI under test</a:t>
            </a:r>
          </a:p>
        </p:txBody>
      </p:sp>
      <p:sp>
        <p:nvSpPr>
          <p:cNvPr id="8" name="Line 8"/>
          <p:cNvSpPr/>
          <p:nvPr/>
        </p:nvSpPr>
        <p:spPr>
          <a:xfrm flipH="0" flipV="0">
            <a:off x="1051560" y="1691640"/>
            <a:ext cx="1" cy="365759"/>
          </a:xfrm>
          <a:prstGeom prst="line">
            <a:avLst/>
          </a:prstGeom>
          <a:ln w="38100">
            <a:solidFill>
              <a:srgbClr val="EA580C"/>
            </a:solidFill>
            <a:headEnd type="triangle"/>
          </a:ln>
        </p:spPr>
      </p:sp>
      <p:sp>
        <p:nvSpPr>
          <p:cNvPr id="9" name="TextBox 9"/>
          <p:cNvSpPr txBox="1"/>
          <p:nvPr/>
        </p:nvSpPr>
        <p:spPr>
          <a:xfrm>
            <a:off x="1097280" y="150876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9A3412"/>
                </a:solidFill>
              </a:rPr>
              <a:t>adjustable pins</a:t>
            </a:r>
          </a:p>
        </p:txBody>
      </p:sp>
      <p:sp>
        <p:nvSpPr>
          <p:cNvPr id="10" name="Line 10"/>
          <p:cNvSpPr/>
          <p:nvPr/>
        </p:nvSpPr>
        <p:spPr>
          <a:xfrm flipH="0" flipV="0">
            <a:off x="1508760" y="1691640"/>
            <a:ext cx="1" cy="365759"/>
          </a:xfrm>
          <a:prstGeom prst="line">
            <a:avLst/>
          </a:prstGeom>
          <a:ln w="38100">
            <a:solidFill>
              <a:srgbClr val="EA580C"/>
            </a:solidFill>
            <a:headEnd type="triangle"/>
          </a:ln>
        </p:spPr>
      </p:sp>
      <p:sp>
        <p:nvSpPr>
          <p:cNvPr id="11" name="TextBox 11"/>
          <p:cNvSpPr txBox="1"/>
          <p:nvPr/>
        </p:nvSpPr>
        <p:spPr>
          <a:xfrm>
            <a:off x="1097280" y="150876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9A3412"/>
                </a:solidFill>
              </a:rPr>
              <a:t>adjustable pins</a:t>
            </a:r>
          </a:p>
        </p:txBody>
      </p:sp>
      <p:sp>
        <p:nvSpPr>
          <p:cNvPr id="12" name="Line 12"/>
          <p:cNvSpPr/>
          <p:nvPr/>
        </p:nvSpPr>
        <p:spPr>
          <a:xfrm flipH="0" flipV="0">
            <a:off x="1965960" y="1691640"/>
            <a:ext cx="1" cy="365759"/>
          </a:xfrm>
          <a:prstGeom prst="line">
            <a:avLst/>
          </a:prstGeom>
          <a:ln w="38100">
            <a:solidFill>
              <a:srgbClr val="EA580C"/>
            </a:solidFill>
            <a:headEnd type="triangle"/>
          </a:ln>
        </p:spPr>
      </p:sp>
      <p:sp>
        <p:nvSpPr>
          <p:cNvPr id="13" name="TextBox 13"/>
          <p:cNvSpPr txBox="1"/>
          <p:nvPr/>
        </p:nvSpPr>
        <p:spPr>
          <a:xfrm>
            <a:off x="1097280" y="150876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9A3412"/>
                </a:solidFill>
              </a:rPr>
              <a:t>adjustable pins</a:t>
            </a:r>
          </a:p>
        </p:txBody>
      </p:sp>
      <p:sp>
        <p:nvSpPr>
          <p:cNvPr id="14" name="Line 14"/>
          <p:cNvSpPr/>
          <p:nvPr/>
        </p:nvSpPr>
        <p:spPr>
          <a:xfrm flipH="0" flipV="0">
            <a:off x="2423160" y="1691640"/>
            <a:ext cx="1" cy="365759"/>
          </a:xfrm>
          <a:prstGeom prst="line">
            <a:avLst/>
          </a:prstGeom>
          <a:ln w="38100">
            <a:solidFill>
              <a:srgbClr val="EA580C"/>
            </a:solidFill>
            <a:headEnd type="triangle"/>
          </a:ln>
        </p:spPr>
      </p:sp>
      <p:sp>
        <p:nvSpPr>
          <p:cNvPr id="15" name="TextBox 15"/>
          <p:cNvSpPr txBox="1"/>
          <p:nvPr/>
        </p:nvSpPr>
        <p:spPr>
          <a:xfrm>
            <a:off x="1097280" y="150876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9A3412"/>
                </a:solidFill>
              </a:rPr>
              <a:t>adjustable pins</a:t>
            </a:r>
          </a:p>
        </p:txBody>
      </p:sp>
      <p:sp>
        <p:nvSpPr>
          <p:cNvPr id="16" name="Line 16"/>
          <p:cNvSpPr/>
          <p:nvPr/>
        </p:nvSpPr>
        <p:spPr>
          <a:xfrm flipH="0" flipV="0">
            <a:off x="2880360" y="1691640"/>
            <a:ext cx="1" cy="365759"/>
          </a:xfrm>
          <a:prstGeom prst="line">
            <a:avLst/>
          </a:prstGeom>
          <a:ln w="38100">
            <a:solidFill>
              <a:srgbClr val="EA580C"/>
            </a:solidFill>
            <a:headEnd type="triangle"/>
          </a:ln>
        </p:spPr>
      </p:sp>
      <p:sp>
        <p:nvSpPr>
          <p:cNvPr id="17" name="TextBox 17"/>
          <p:cNvSpPr txBox="1"/>
          <p:nvPr/>
        </p:nvSpPr>
        <p:spPr>
          <a:xfrm>
            <a:off x="1097280" y="150876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9A3412"/>
                </a:solidFill>
              </a:rPr>
              <a:t>adjustable pins</a:t>
            </a:r>
          </a:p>
        </p:txBody>
      </p:sp>
      <p:sp>
        <p:nvSpPr>
          <p:cNvPr id="18" name="Ellipse 18"/>
          <p:cNvSpPr/>
          <p:nvPr/>
        </p:nvSpPr>
        <p:spPr>
          <a:xfrm>
            <a:off x="2880360" y="1417320"/>
            <a:ext cx="411480" cy="25603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15803D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2916936" y="1490472"/>
            <a:ext cx="3200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600" b="1">
                <a:solidFill>
                  <a:srgbClr val="052E16"/>
                </a:solidFill>
              </a:rPr>
              <a:t>CAM</a:t>
            </a:r>
          </a:p>
        </p:txBody>
      </p:sp>
      <p:sp>
        <p:nvSpPr>
          <p:cNvPr id="20" name="Box 20"/>
          <p:cNvSpPr/>
          <p:nvPr/>
        </p:nvSpPr>
        <p:spPr>
          <a:xfrm>
            <a:off x="4343400" y="1417320"/>
            <a:ext cx="2057400" cy="9144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4572000" y="1673352"/>
            <a:ext cx="164592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78350F"/>
                </a:solidFill>
              </a:rPr>
              <a:t>Controller / PLC / SBC</a:t>
            </a:r>
          </a:p>
        </p:txBody>
      </p:sp>
      <p:sp>
        <p:nvSpPr>
          <p:cNvPr id="22" name="Box 22"/>
          <p:cNvSpPr/>
          <p:nvPr/>
        </p:nvSpPr>
        <p:spPr>
          <a:xfrm>
            <a:off x="4343400" y="2788920"/>
            <a:ext cx="2057400" cy="91440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4617720" y="3044952"/>
            <a:ext cx="155448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14532D"/>
                </a:solidFill>
              </a:rPr>
              <a:t>DAQ + I/O modules</a:t>
            </a:r>
          </a:p>
        </p:txBody>
      </p:sp>
      <p:sp>
        <p:nvSpPr>
          <p:cNvPr id="24" name="Box 24"/>
          <p:cNvSpPr/>
          <p:nvPr/>
        </p:nvSpPr>
        <p:spPr>
          <a:xfrm>
            <a:off x="7086600" y="1234440"/>
            <a:ext cx="1965960" cy="91440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7360920" y="1508760"/>
            <a:ext cx="141732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4C1D95"/>
                </a:solidFill>
              </a:rPr>
              <a:t>Vision analysis</a:t>
            </a:r>
          </a:p>
        </p:txBody>
      </p:sp>
      <p:sp>
        <p:nvSpPr>
          <p:cNvPr id="26" name="Box 26"/>
          <p:cNvSpPr/>
          <p:nvPr/>
        </p:nvSpPr>
        <p:spPr>
          <a:xfrm>
            <a:off x="7086600" y="2606040"/>
            <a:ext cx="196596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406640" y="2880360"/>
            <a:ext cx="132588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1E3A8A"/>
                </a:solidFill>
              </a:rPr>
              <a:t>Real-time logs</a:t>
            </a:r>
          </a:p>
        </p:txBody>
      </p:sp>
      <p:sp>
        <p:nvSpPr>
          <p:cNvPr id="28" name="Ellipse 28"/>
          <p:cNvSpPr/>
          <p:nvPr/>
        </p:nvSpPr>
        <p:spPr>
          <a:xfrm>
            <a:off x="9829800" y="1828800"/>
            <a:ext cx="1371600" cy="914400"/>
          </a:xfrm>
          <a:prstGeom prst="ellipse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10104120" y="2057400"/>
            <a:ext cx="822960" cy="36576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334155"/>
                </a:solidFill>
              </a:rPr>
              <a:t>Cloud</a:t>
            </a:r>
          </a:p>
          <a:p>
            <a:pPr algn="l"/>
            <a:r>
              <a:rPr lang="en-US" sz="1200" b="1">
                <a:solidFill>
                  <a:srgbClr val="334155"/>
                </a:solidFill>
              </a:rPr>
              <a:t>Dashboard</a:t>
            </a:r>
          </a:p>
        </p:txBody>
      </p:sp>
      <p:sp>
        <p:nvSpPr>
          <p:cNvPr id="30" name="Line 30"/>
          <p:cNvSpPr/>
          <p:nvPr/>
        </p:nvSpPr>
        <p:spPr>
          <a:xfrm flipH="0" flipV="1">
            <a:off x="3611880" y="1828800"/>
            <a:ext cx="731519" cy="228600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31" name="Line 31"/>
          <p:cNvSpPr/>
          <p:nvPr/>
        </p:nvSpPr>
        <p:spPr>
          <a:xfrm flipH="0" flipV="0">
            <a:off x="3611880" y="2926080"/>
            <a:ext cx="731519" cy="320039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32" name="Line 32"/>
          <p:cNvSpPr/>
          <p:nvPr/>
        </p:nvSpPr>
        <p:spPr>
          <a:xfrm flipH="0" flipV="1">
            <a:off x="6400800" y="1691640"/>
            <a:ext cx="685800" cy="182879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33" name="Line 33"/>
          <p:cNvSpPr/>
          <p:nvPr/>
        </p:nvSpPr>
        <p:spPr>
          <a:xfrm flipH="0" flipV="1">
            <a:off x="6400800" y="3063240"/>
            <a:ext cx="685800" cy="182879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34" name="Line 34"/>
          <p:cNvSpPr/>
          <p:nvPr/>
        </p:nvSpPr>
        <p:spPr>
          <a:xfrm flipH="0" flipV="1">
            <a:off x="9052560" y="2514600"/>
            <a:ext cx="868679" cy="548640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35" name="Line 35"/>
          <p:cNvSpPr/>
          <p:nvPr/>
        </p:nvSpPr>
        <p:spPr>
          <a:xfrm flipH="0" flipV="0">
            <a:off x="9052560" y="1691640"/>
            <a:ext cx="868679" cy="365759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36" name="TextBox 36"/>
          <p:cNvSpPr txBox="1"/>
          <p:nvPr/>
        </p:nvSpPr>
        <p:spPr>
          <a:xfrm>
            <a:off x="777240" y="4892040"/>
            <a:ext cx="10698480" cy="32004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What this architecture enables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7240" y="5239512"/>
            <a:ext cx="1069848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Press/touch/turn actions and visual verification in one synchronized test sequence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Every event is timestamped: actuator command, contact, camera result, bus response, pass/fail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Data can be stored locally and pushed to cloud dashboards for traceability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Why a robotic hand is usually the wrong tool for fixed HMI testing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Box 4"/>
          <p:cNvSpPr/>
          <p:nvPr/>
        </p:nvSpPr>
        <p:spPr>
          <a:xfrm>
            <a:off x="640080" y="1143000"/>
            <a:ext cx="4389120" cy="4297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914400" y="1325880"/>
            <a:ext cx="3657600" cy="2743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600" b="1">
                <a:solidFill>
                  <a:srgbClr val="7F1D1D"/>
                </a:solidFill>
              </a:rPr>
              <a:t>Robotic hand stack</a:t>
            </a:r>
          </a:p>
        </p:txBody>
      </p:sp>
      <p:sp>
        <p:nvSpPr>
          <p:cNvPr id="6" name="Box 6"/>
          <p:cNvSpPr/>
          <p:nvPr/>
        </p:nvSpPr>
        <p:spPr>
          <a:xfrm>
            <a:off x="1005840" y="1783080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143000" y="1828800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Finger joints</a:t>
            </a:r>
          </a:p>
        </p:txBody>
      </p:sp>
      <p:sp>
        <p:nvSpPr>
          <p:cNvPr id="8" name="Box 8"/>
          <p:cNvSpPr/>
          <p:nvPr/>
        </p:nvSpPr>
        <p:spPr>
          <a:xfrm>
            <a:off x="1005840" y="2167128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143000" y="2212848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Servo/gearbox per joint</a:t>
            </a:r>
          </a:p>
        </p:txBody>
      </p:sp>
      <p:sp>
        <p:nvSpPr>
          <p:cNvPr id="10" name="Box 10"/>
          <p:cNvSpPr/>
          <p:nvPr/>
        </p:nvSpPr>
        <p:spPr>
          <a:xfrm>
            <a:off x="1005840" y="2551176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143000" y="2596896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Encoders + force sensors</a:t>
            </a:r>
          </a:p>
        </p:txBody>
      </p:sp>
      <p:sp>
        <p:nvSpPr>
          <p:cNvPr id="12" name="Box 12"/>
          <p:cNvSpPr/>
          <p:nvPr/>
        </p:nvSpPr>
        <p:spPr>
          <a:xfrm>
            <a:off x="1005840" y="2935224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143000" y="2980944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Robot wrist/arm</a:t>
            </a:r>
          </a:p>
        </p:txBody>
      </p:sp>
      <p:sp>
        <p:nvSpPr>
          <p:cNvPr id="14" name="Box 14"/>
          <p:cNvSpPr/>
          <p:nvPr/>
        </p:nvSpPr>
        <p:spPr>
          <a:xfrm>
            <a:off x="1005840" y="3319272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143000" y="3364991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Motion planning</a:t>
            </a:r>
          </a:p>
        </p:txBody>
      </p:sp>
      <p:sp>
        <p:nvSpPr>
          <p:cNvPr id="16" name="Box 16"/>
          <p:cNvSpPr/>
          <p:nvPr/>
        </p:nvSpPr>
        <p:spPr>
          <a:xfrm>
            <a:off x="1005840" y="3703320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1143000" y="3749039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Calibration + safety</a:t>
            </a:r>
          </a:p>
        </p:txBody>
      </p:sp>
      <p:sp>
        <p:nvSpPr>
          <p:cNvPr id="18" name="Box 18"/>
          <p:cNvSpPr/>
          <p:nvPr/>
        </p:nvSpPr>
        <p:spPr>
          <a:xfrm>
            <a:off x="1005840" y="4087368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143000" y="4133087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Separate camera system</a:t>
            </a:r>
          </a:p>
        </p:txBody>
      </p:sp>
      <p:sp>
        <p:nvSpPr>
          <p:cNvPr id="20" name="Box 20"/>
          <p:cNvSpPr/>
          <p:nvPr/>
        </p:nvSpPr>
        <p:spPr>
          <a:xfrm>
            <a:off x="1005840" y="4471416"/>
            <a:ext cx="3611880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1143000" y="4517136"/>
            <a:ext cx="329184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7F1D1D"/>
                </a:solidFill>
              </a:rPr>
              <a:t>Data logging layer</a:t>
            </a:r>
          </a:p>
        </p:txBody>
      </p:sp>
      <p:sp>
        <p:nvSpPr>
          <p:cNvPr id="22" name="Box 22"/>
          <p:cNvSpPr/>
          <p:nvPr/>
        </p:nvSpPr>
        <p:spPr>
          <a:xfrm>
            <a:off x="6400800" y="1143000"/>
            <a:ext cx="4389120" cy="42976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675120" y="1325880"/>
            <a:ext cx="3657600" cy="2743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600" b="1">
                <a:solidFill>
                  <a:srgbClr val="14532D"/>
                </a:solidFill>
              </a:rPr>
              <a:t>Static jig stack</a:t>
            </a:r>
          </a:p>
        </p:txBody>
      </p:sp>
      <p:sp>
        <p:nvSpPr>
          <p:cNvPr id="24" name="Box 24"/>
          <p:cNvSpPr/>
          <p:nvPr/>
        </p:nvSpPr>
        <p:spPr>
          <a:xfrm>
            <a:off x="6812280" y="1874519"/>
            <a:ext cx="3566160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6949440" y="1929384"/>
            <a:ext cx="320040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14532D"/>
                </a:solidFill>
              </a:rPr>
              <a:t>Rigid frame</a:t>
            </a:r>
          </a:p>
        </p:txBody>
      </p:sp>
      <p:sp>
        <p:nvSpPr>
          <p:cNvPr id="26" name="Box 26"/>
          <p:cNvSpPr/>
          <p:nvPr/>
        </p:nvSpPr>
        <p:spPr>
          <a:xfrm>
            <a:off x="6812280" y="2313432"/>
            <a:ext cx="3566160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6949440" y="2368296"/>
            <a:ext cx="320040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14532D"/>
                </a:solidFill>
              </a:rPr>
              <a:t>Adjustable pins/actuators</a:t>
            </a:r>
          </a:p>
        </p:txBody>
      </p:sp>
      <p:sp>
        <p:nvSpPr>
          <p:cNvPr id="28" name="Box 28"/>
          <p:cNvSpPr/>
          <p:nvPr/>
        </p:nvSpPr>
        <p:spPr>
          <a:xfrm>
            <a:off x="6812280" y="2752344"/>
            <a:ext cx="3566160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6949440" y="2807208"/>
            <a:ext cx="320040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14532D"/>
                </a:solidFill>
              </a:rPr>
              <a:t>Fixed cameras</a:t>
            </a:r>
          </a:p>
        </p:txBody>
      </p:sp>
      <p:sp>
        <p:nvSpPr>
          <p:cNvPr id="30" name="Box 30"/>
          <p:cNvSpPr/>
          <p:nvPr/>
        </p:nvSpPr>
        <p:spPr>
          <a:xfrm>
            <a:off x="6812280" y="3191256"/>
            <a:ext cx="3566160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949440" y="3246120"/>
            <a:ext cx="320040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14532D"/>
                </a:solidFill>
              </a:rPr>
              <a:t>Controller + I/O</a:t>
            </a:r>
          </a:p>
        </p:txBody>
      </p:sp>
      <p:sp>
        <p:nvSpPr>
          <p:cNvPr id="32" name="Box 32"/>
          <p:cNvSpPr/>
          <p:nvPr/>
        </p:nvSpPr>
        <p:spPr>
          <a:xfrm>
            <a:off x="6812280" y="3630168"/>
            <a:ext cx="3566160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6949440" y="3685031"/>
            <a:ext cx="320040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14532D"/>
                </a:solidFill>
              </a:rPr>
              <a:t>Simple sequence logic</a:t>
            </a:r>
          </a:p>
        </p:txBody>
      </p:sp>
      <p:sp>
        <p:nvSpPr>
          <p:cNvPr id="34" name="Box 34"/>
          <p:cNvSpPr/>
          <p:nvPr/>
        </p:nvSpPr>
        <p:spPr>
          <a:xfrm>
            <a:off x="6812280" y="4069079"/>
            <a:ext cx="3566160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6949440" y="4123943"/>
            <a:ext cx="320040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14532D"/>
                </a:solidFill>
              </a:rPr>
              <a:t>Cloud logger</a:t>
            </a:r>
          </a:p>
        </p:txBody>
      </p:sp>
      <p:sp>
        <p:nvSpPr>
          <p:cNvPr id="36" name="Box 36"/>
          <p:cNvSpPr/>
          <p:nvPr/>
        </p:nvSpPr>
        <p:spPr>
          <a:xfrm>
            <a:off x="6812280" y="4507992"/>
            <a:ext cx="3566160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6949440" y="4562855"/>
            <a:ext cx="320040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14532D"/>
                </a:solidFill>
              </a:rPr>
              <a:t>Replaceable modules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77240" y="5715000"/>
            <a:ext cx="10698480" cy="411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500" b="1">
                <a:solidFill>
                  <a:srgbClr val="0F172A"/>
                </a:solidFill>
              </a:rPr>
              <a:t>Key idea: HMI validation needs repeatable known contacts and measurement, not human-like dexterity.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1. Cost effectiveness: lower purchase cost and lower lifetime ownership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94360" y="1097280"/>
            <a:ext cx="3840480" cy="2743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0F172A"/>
                </a:solidFill>
              </a:rPr>
              <a:t>Cost drivers avoided by the static jig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508760"/>
            <a:ext cx="530352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Static jig cost advantage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02920" y="1856231"/>
            <a:ext cx="5303520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Uses commodity extrusion, brackets, screws, solenoids/servos, cameras, and controller modules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Actuators are placed only where test actions are needed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No robotic wrist, full hand kinematics, tendon mechanism, or multi-axis arm required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Failures are localized: replace one pin, one module, or one camera instead of servicing a whole hand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00800" y="1097280"/>
            <a:ext cx="4114800" cy="2743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0F172A"/>
                </a:solidFill>
              </a:rPr>
              <a:t>Relative lifecycle cost index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00800" y="1600200"/>
            <a:ext cx="18288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334155"/>
                </a:solidFill>
              </a:rPr>
              <a:t>Initial hardware</a:t>
            </a:r>
          </a:p>
        </p:txBody>
      </p:sp>
      <p:sp>
        <p:nvSpPr>
          <p:cNvPr id="9" name="Box 9"/>
          <p:cNvSpPr/>
          <p:nvPr/>
        </p:nvSpPr>
        <p:spPr>
          <a:xfrm>
            <a:off x="8046720" y="1600200"/>
            <a:ext cx="352044" cy="164592"/>
          </a:xfrm>
          <a:prstGeom prst="rect">
            <a:avLst/>
          </a:prstGeom>
          <a:solidFill>
            <a:srgbClr val="16A34A"/>
          </a:solidFill>
        </p:spPr>
      </p:sp>
      <p:sp>
        <p:nvSpPr>
          <p:cNvPr id="10" name="Box 10"/>
          <p:cNvSpPr/>
          <p:nvPr/>
        </p:nvSpPr>
        <p:spPr>
          <a:xfrm>
            <a:off x="8046720" y="1810512"/>
            <a:ext cx="955548" cy="164592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11" name="TextBox 11"/>
          <p:cNvSpPr txBox="1"/>
          <p:nvPr/>
        </p:nvSpPr>
        <p:spPr>
          <a:xfrm>
            <a:off x="9189720" y="1581912"/>
            <a:ext cx="36576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16A34A"/>
                </a:solidFill>
              </a:rPr>
              <a:t>jig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189720" y="1792224"/>
            <a:ext cx="41148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DC2626"/>
                </a:solidFill>
              </a:rPr>
              <a:t>hand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800" y="2194560"/>
            <a:ext cx="18288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334155"/>
                </a:solidFill>
              </a:rPr>
              <a:t>Software setup</a:t>
            </a:r>
          </a:p>
        </p:txBody>
      </p:sp>
      <p:sp>
        <p:nvSpPr>
          <p:cNvPr id="14" name="Box 14"/>
          <p:cNvSpPr/>
          <p:nvPr/>
        </p:nvSpPr>
        <p:spPr>
          <a:xfrm>
            <a:off x="8046720" y="2194560"/>
            <a:ext cx="452628" cy="164592"/>
          </a:xfrm>
          <a:prstGeom prst="rect">
            <a:avLst/>
          </a:prstGeom>
          <a:solidFill>
            <a:srgbClr val="16A34A"/>
          </a:solidFill>
        </p:spPr>
      </p:sp>
      <p:sp>
        <p:nvSpPr>
          <p:cNvPr id="15" name="Box 15"/>
          <p:cNvSpPr/>
          <p:nvPr/>
        </p:nvSpPr>
        <p:spPr>
          <a:xfrm>
            <a:off x="8046720" y="2404872"/>
            <a:ext cx="854964" cy="164592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16" name="TextBox 16"/>
          <p:cNvSpPr txBox="1"/>
          <p:nvPr/>
        </p:nvSpPr>
        <p:spPr>
          <a:xfrm>
            <a:off x="9189720" y="2176272"/>
            <a:ext cx="36576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16A34A"/>
                </a:solidFill>
              </a:rPr>
              <a:t>jig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89720" y="2386584"/>
            <a:ext cx="41148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DC2626"/>
                </a:solidFill>
              </a:rPr>
              <a:t>hand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00800" y="2788920"/>
            <a:ext cx="18288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334155"/>
                </a:solidFill>
              </a:rPr>
              <a:t>Calibration effort</a:t>
            </a:r>
          </a:p>
        </p:txBody>
      </p:sp>
      <p:sp>
        <p:nvSpPr>
          <p:cNvPr id="19" name="Box 19"/>
          <p:cNvSpPr/>
          <p:nvPr/>
        </p:nvSpPr>
        <p:spPr>
          <a:xfrm>
            <a:off x="8046720" y="2788920"/>
            <a:ext cx="301752" cy="164592"/>
          </a:xfrm>
          <a:prstGeom prst="rect">
            <a:avLst/>
          </a:prstGeom>
          <a:solidFill>
            <a:srgbClr val="16A34A"/>
          </a:solidFill>
        </p:spPr>
      </p:sp>
      <p:sp>
        <p:nvSpPr>
          <p:cNvPr id="20" name="Box 20"/>
          <p:cNvSpPr/>
          <p:nvPr/>
        </p:nvSpPr>
        <p:spPr>
          <a:xfrm>
            <a:off x="8046720" y="2999232"/>
            <a:ext cx="804672" cy="164592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21" name="TextBox 21"/>
          <p:cNvSpPr txBox="1"/>
          <p:nvPr/>
        </p:nvSpPr>
        <p:spPr>
          <a:xfrm>
            <a:off x="9189720" y="2770632"/>
            <a:ext cx="36576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16A34A"/>
                </a:solidFill>
              </a:rPr>
              <a:t>jig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189720" y="2980944"/>
            <a:ext cx="41148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DC2626"/>
                </a:solidFill>
              </a:rPr>
              <a:t>hand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00800" y="3383280"/>
            <a:ext cx="18288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334155"/>
                </a:solidFill>
              </a:rPr>
              <a:t>Maintenance</a:t>
            </a:r>
          </a:p>
        </p:txBody>
      </p:sp>
      <p:sp>
        <p:nvSpPr>
          <p:cNvPr id="24" name="Box 24"/>
          <p:cNvSpPr/>
          <p:nvPr/>
        </p:nvSpPr>
        <p:spPr>
          <a:xfrm>
            <a:off x="8046720" y="3383280"/>
            <a:ext cx="251460" cy="164592"/>
          </a:xfrm>
          <a:prstGeom prst="rect">
            <a:avLst/>
          </a:prstGeom>
          <a:solidFill>
            <a:srgbClr val="16A34A"/>
          </a:solidFill>
        </p:spPr>
      </p:sp>
      <p:sp>
        <p:nvSpPr>
          <p:cNvPr id="25" name="Box 25"/>
          <p:cNvSpPr/>
          <p:nvPr/>
        </p:nvSpPr>
        <p:spPr>
          <a:xfrm>
            <a:off x="8046720" y="3593592"/>
            <a:ext cx="905256" cy="164592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26" name="TextBox 26"/>
          <p:cNvSpPr txBox="1"/>
          <p:nvPr/>
        </p:nvSpPr>
        <p:spPr>
          <a:xfrm>
            <a:off x="9189720" y="3364992"/>
            <a:ext cx="36576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16A34A"/>
                </a:solidFill>
              </a:rPr>
              <a:t>jig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189720" y="3575304"/>
            <a:ext cx="41148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DC2626"/>
                </a:solidFill>
              </a:rPr>
              <a:t>hand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400800" y="3977639"/>
            <a:ext cx="18288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334155"/>
                </a:solidFill>
              </a:rPr>
              <a:t>Spare parts</a:t>
            </a:r>
          </a:p>
        </p:txBody>
      </p:sp>
      <p:sp>
        <p:nvSpPr>
          <p:cNvPr id="29" name="Box 29"/>
          <p:cNvSpPr/>
          <p:nvPr/>
        </p:nvSpPr>
        <p:spPr>
          <a:xfrm>
            <a:off x="8046720" y="3977639"/>
            <a:ext cx="201168" cy="164592"/>
          </a:xfrm>
          <a:prstGeom prst="rect">
            <a:avLst/>
          </a:prstGeom>
          <a:solidFill>
            <a:srgbClr val="16A34A"/>
          </a:solidFill>
        </p:spPr>
      </p:sp>
      <p:sp>
        <p:nvSpPr>
          <p:cNvPr id="30" name="Box 30"/>
          <p:cNvSpPr/>
          <p:nvPr/>
        </p:nvSpPr>
        <p:spPr>
          <a:xfrm>
            <a:off x="8046720" y="4187952"/>
            <a:ext cx="754380" cy="164592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31" name="TextBox 31"/>
          <p:cNvSpPr txBox="1"/>
          <p:nvPr/>
        </p:nvSpPr>
        <p:spPr>
          <a:xfrm>
            <a:off x="9189720" y="3959352"/>
            <a:ext cx="36576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16A34A"/>
                </a:solidFill>
              </a:rPr>
              <a:t>jig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189720" y="4169663"/>
            <a:ext cx="41148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DC2626"/>
                </a:solidFill>
              </a:rPr>
              <a:t>hand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400800" y="4572000"/>
            <a:ext cx="18288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50">
                <a:solidFill>
                  <a:srgbClr val="334155"/>
                </a:solidFill>
              </a:rPr>
              <a:t>Operator training</a:t>
            </a:r>
          </a:p>
        </p:txBody>
      </p:sp>
      <p:sp>
        <p:nvSpPr>
          <p:cNvPr id="34" name="Box 34"/>
          <p:cNvSpPr/>
          <p:nvPr/>
        </p:nvSpPr>
        <p:spPr>
          <a:xfrm>
            <a:off x="8046720" y="4572000"/>
            <a:ext cx="251460" cy="164592"/>
          </a:xfrm>
          <a:prstGeom prst="rect">
            <a:avLst/>
          </a:prstGeom>
          <a:solidFill>
            <a:srgbClr val="16A34A"/>
          </a:solidFill>
        </p:spPr>
      </p:sp>
      <p:sp>
        <p:nvSpPr>
          <p:cNvPr id="35" name="Box 35"/>
          <p:cNvSpPr/>
          <p:nvPr/>
        </p:nvSpPr>
        <p:spPr>
          <a:xfrm>
            <a:off x="8046720" y="4782312"/>
            <a:ext cx="704088" cy="164592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36" name="TextBox 36"/>
          <p:cNvSpPr txBox="1"/>
          <p:nvPr/>
        </p:nvSpPr>
        <p:spPr>
          <a:xfrm>
            <a:off x="9189720" y="4553712"/>
            <a:ext cx="36576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16A34A"/>
                </a:solidFill>
              </a:rPr>
              <a:t>jig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189720" y="4764024"/>
            <a:ext cx="411480" cy="11887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DC2626"/>
                </a:solidFill>
              </a:rPr>
              <a:t>hand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200" b="1">
                <a:solidFill>
                  <a:srgbClr val="0F172A"/>
                </a:solidFill>
              </a:rPr>
              <a:t>Result: the static jig normally delivers the required HMI test coverage with far less mechanical and software overhead.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2. Modular design: one platform can support small screens, large screens, and mixed panels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20624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Scalable fixture concept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20624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Base rails, vertical posts, camera brackets, and actuator rows can be resized or repositioned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Connector/test panels can be swapped per product family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Additional sections can be added for larger displays or multi-screen cockpit layouts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The same control architecture can run small prototype tests or larger production validation</a:t>
            </a:r>
          </a:p>
        </p:txBody>
      </p:sp>
      <p:sp>
        <p:nvSpPr>
          <p:cNvPr id="6" name="Box 6"/>
          <p:cNvSpPr/>
          <p:nvPr/>
        </p:nvSpPr>
        <p:spPr>
          <a:xfrm>
            <a:off x="5303520" y="1234440"/>
            <a:ext cx="6035040" cy="22860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7" name="Box 7"/>
          <p:cNvSpPr/>
          <p:nvPr/>
        </p:nvSpPr>
        <p:spPr>
          <a:xfrm>
            <a:off x="5303520" y="5074920"/>
            <a:ext cx="6035040" cy="22860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8" name="Box 8"/>
          <p:cNvSpPr/>
          <p:nvPr/>
        </p:nvSpPr>
        <p:spPr>
          <a:xfrm>
            <a:off x="5486400" y="1234440"/>
            <a:ext cx="164592" cy="4069080"/>
          </a:xfrm>
          <a:prstGeom prst="rect">
            <a:avLst/>
          </a:prstGeom>
          <a:solidFill>
            <a:srgbClr val="94A3B8"/>
          </a:solidFill>
        </p:spPr>
      </p:sp>
      <p:sp>
        <p:nvSpPr>
          <p:cNvPr id="9" name="Box 9"/>
          <p:cNvSpPr/>
          <p:nvPr/>
        </p:nvSpPr>
        <p:spPr>
          <a:xfrm>
            <a:off x="7040880" y="1234440"/>
            <a:ext cx="164592" cy="4069080"/>
          </a:xfrm>
          <a:prstGeom prst="rect">
            <a:avLst/>
          </a:prstGeom>
          <a:solidFill>
            <a:srgbClr val="94A3B8"/>
          </a:solidFill>
        </p:spPr>
      </p:sp>
      <p:sp>
        <p:nvSpPr>
          <p:cNvPr id="10" name="Box 10"/>
          <p:cNvSpPr/>
          <p:nvPr/>
        </p:nvSpPr>
        <p:spPr>
          <a:xfrm>
            <a:off x="8778240" y="1234440"/>
            <a:ext cx="164592" cy="4069080"/>
          </a:xfrm>
          <a:prstGeom prst="rect">
            <a:avLst/>
          </a:prstGeom>
          <a:solidFill>
            <a:srgbClr val="94A3B8"/>
          </a:solidFill>
        </p:spPr>
      </p:sp>
      <p:sp>
        <p:nvSpPr>
          <p:cNvPr id="11" name="Box 11"/>
          <p:cNvSpPr/>
          <p:nvPr/>
        </p:nvSpPr>
        <p:spPr>
          <a:xfrm>
            <a:off x="10607040" y="1234440"/>
            <a:ext cx="164592" cy="4069080"/>
          </a:xfrm>
          <a:prstGeom prst="rect">
            <a:avLst/>
          </a:prstGeom>
          <a:solidFill>
            <a:srgbClr val="94A3B8"/>
          </a:solidFill>
        </p:spPr>
      </p:sp>
      <p:sp>
        <p:nvSpPr>
          <p:cNvPr id="12" name="Box 12"/>
          <p:cNvSpPr/>
          <p:nvPr/>
        </p:nvSpPr>
        <p:spPr>
          <a:xfrm>
            <a:off x="5715000" y="1828800"/>
            <a:ext cx="1143000" cy="7772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5897880" y="2048256"/>
            <a:ext cx="777240" cy="25603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small</a:t>
            </a:r>
          </a:p>
          <a:p>
            <a:pPr algn="l"/>
            <a:r>
              <a:rPr lang="en-US" sz="800" b="1">
                <a:solidFill>
                  <a:srgbClr val="FFFFFF"/>
                </a:solidFill>
              </a:rPr>
              <a:t>HMI</a:t>
            </a:r>
          </a:p>
        </p:txBody>
      </p:sp>
      <p:sp>
        <p:nvSpPr>
          <p:cNvPr id="14" name="Box 14"/>
          <p:cNvSpPr/>
          <p:nvPr/>
        </p:nvSpPr>
        <p:spPr>
          <a:xfrm>
            <a:off x="7360920" y="1691640"/>
            <a:ext cx="2377440" cy="12344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7818120" y="2148840"/>
            <a:ext cx="1463040" cy="16459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medium display</a:t>
            </a:r>
          </a:p>
        </p:txBody>
      </p:sp>
      <p:sp>
        <p:nvSpPr>
          <p:cNvPr id="16" name="Box 16"/>
          <p:cNvSpPr/>
          <p:nvPr/>
        </p:nvSpPr>
        <p:spPr>
          <a:xfrm>
            <a:off x="5806440" y="3337560"/>
            <a:ext cx="4846320" cy="10972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93C5FD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7132320" y="3749039"/>
            <a:ext cx="2194560" cy="16459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 b="1">
                <a:solidFill>
                  <a:srgbClr val="FFFFFF"/>
                </a:solidFill>
              </a:rPr>
              <a:t>large dashboard / wide screen</a:t>
            </a:r>
          </a:p>
        </p:txBody>
      </p:sp>
      <p:sp>
        <p:nvSpPr>
          <p:cNvPr id="18" name="Line 18"/>
          <p:cNvSpPr/>
          <p:nvPr/>
        </p:nvSpPr>
        <p:spPr>
          <a:xfrm flipH="0" flipV="0">
            <a:off x="5897880" y="242316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19" name="Line 19"/>
          <p:cNvSpPr/>
          <p:nvPr/>
        </p:nvSpPr>
        <p:spPr>
          <a:xfrm flipH="0" flipV="0">
            <a:off x="6446520" y="242316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0" name="Line 20"/>
          <p:cNvSpPr/>
          <p:nvPr/>
        </p:nvSpPr>
        <p:spPr>
          <a:xfrm flipH="0" flipV="0">
            <a:off x="7863840" y="265176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1" name="Line 21"/>
          <p:cNvSpPr/>
          <p:nvPr/>
        </p:nvSpPr>
        <p:spPr>
          <a:xfrm flipH="0" flipV="0">
            <a:off x="8458200" y="265176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2" name="Line 22"/>
          <p:cNvSpPr/>
          <p:nvPr/>
        </p:nvSpPr>
        <p:spPr>
          <a:xfrm flipH="0" flipV="0">
            <a:off x="9144000" y="265176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3" name="Line 23"/>
          <p:cNvSpPr/>
          <p:nvPr/>
        </p:nvSpPr>
        <p:spPr>
          <a:xfrm flipH="0" flipV="0">
            <a:off x="6400800" y="406908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4" name="Line 24"/>
          <p:cNvSpPr/>
          <p:nvPr/>
        </p:nvSpPr>
        <p:spPr>
          <a:xfrm flipH="0" flipV="0">
            <a:off x="7589520" y="406908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5" name="Line 25"/>
          <p:cNvSpPr/>
          <p:nvPr/>
        </p:nvSpPr>
        <p:spPr>
          <a:xfrm flipH="0" flipV="0">
            <a:off x="8778240" y="406908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6" name="Line 26"/>
          <p:cNvSpPr/>
          <p:nvPr/>
        </p:nvSpPr>
        <p:spPr>
          <a:xfrm flipH="0" flipV="0">
            <a:off x="9966960" y="4069080"/>
            <a:ext cx="1" cy="502919"/>
          </a:xfrm>
          <a:prstGeom prst="line">
            <a:avLst/>
          </a:prstGeom>
          <a:ln w="25400">
            <a:solidFill>
              <a:srgbClr val="EA580C"/>
            </a:solidFill>
            <a:headEnd type="triangle"/>
          </a:ln>
        </p:spPr>
      </p:sp>
      <p:sp>
        <p:nvSpPr>
          <p:cNvPr id="27" name="TextBox 27"/>
          <p:cNvSpPr txBox="1"/>
          <p:nvPr/>
        </p:nvSpPr>
        <p:spPr>
          <a:xfrm>
            <a:off x="5577840" y="5559552"/>
            <a:ext cx="539496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200" b="1">
                <a:solidFill>
                  <a:srgbClr val="0F172A"/>
                </a:solidFill>
              </a:rPr>
              <a:t>Modularity changes the fixture size, not the core test method.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3. Screw-adjustable pin height works on curved, angled, and uneven HMI surfaces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297680" cy="320040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Why adjustable pins matter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29768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Each contact point can be tuned independently using screws, threaded rods, spring tips, or micrometer-style adjusters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The fixture can match non-flat screens, raised bezels, recessed switches, and curved dashboard geometry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Once locked, each pin repeats the same height, force, contact location, and timing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This avoids complex robotic finger angle calculations for every contact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0" y="1143000"/>
            <a:ext cx="530352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300" b="1">
                <a:solidFill>
                  <a:srgbClr val="0F172A"/>
                </a:solidFill>
              </a:rPr>
              <a:t>Concept image: pin heights follow the curved HMI profile</a:t>
            </a:r>
          </a:p>
        </p:txBody>
      </p:sp>
      <p:sp>
        <p:nvSpPr>
          <p:cNvPr id="7" name="Box 7"/>
          <p:cNvSpPr/>
          <p:nvPr/>
        </p:nvSpPr>
        <p:spPr>
          <a:xfrm>
            <a:off x="5577840" y="434340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8" name="Box 8"/>
          <p:cNvSpPr/>
          <p:nvPr/>
        </p:nvSpPr>
        <p:spPr>
          <a:xfrm>
            <a:off x="5705855" y="2141982"/>
            <a:ext cx="91440" cy="2201418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5632703" y="202311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10" name="Line 10"/>
          <p:cNvSpPr/>
          <p:nvPr/>
        </p:nvSpPr>
        <p:spPr>
          <a:xfrm flipH="0" flipV="0">
            <a:off x="5751576" y="175793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11" name="Box 11"/>
          <p:cNvSpPr/>
          <p:nvPr/>
        </p:nvSpPr>
        <p:spPr>
          <a:xfrm>
            <a:off x="5989320" y="416052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12" name="Box 12"/>
          <p:cNvSpPr/>
          <p:nvPr/>
        </p:nvSpPr>
        <p:spPr>
          <a:xfrm>
            <a:off x="6117336" y="2096262"/>
            <a:ext cx="91440" cy="2064257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13" name="Ellipse 13"/>
          <p:cNvSpPr/>
          <p:nvPr/>
        </p:nvSpPr>
        <p:spPr>
          <a:xfrm>
            <a:off x="6044183" y="197739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14" name="Line 14"/>
          <p:cNvSpPr/>
          <p:nvPr/>
        </p:nvSpPr>
        <p:spPr>
          <a:xfrm flipH="0" flipV="0">
            <a:off x="6163056" y="171221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15" name="Box 15"/>
          <p:cNvSpPr/>
          <p:nvPr/>
        </p:nvSpPr>
        <p:spPr>
          <a:xfrm>
            <a:off x="6400800" y="4005072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16" name="Box 16"/>
          <p:cNvSpPr/>
          <p:nvPr/>
        </p:nvSpPr>
        <p:spPr>
          <a:xfrm>
            <a:off x="6528816" y="2057400"/>
            <a:ext cx="91440" cy="1947672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17" name="Ellipse 17"/>
          <p:cNvSpPr/>
          <p:nvPr/>
        </p:nvSpPr>
        <p:spPr>
          <a:xfrm>
            <a:off x="6455664" y="1938528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18" name="Line 18"/>
          <p:cNvSpPr/>
          <p:nvPr/>
        </p:nvSpPr>
        <p:spPr>
          <a:xfrm flipH="0" flipV="0">
            <a:off x="6574536" y="1673352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19" name="Box 19"/>
          <p:cNvSpPr/>
          <p:nvPr/>
        </p:nvSpPr>
        <p:spPr>
          <a:xfrm>
            <a:off x="6812280" y="388620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20" name="Box 20"/>
          <p:cNvSpPr/>
          <p:nvPr/>
        </p:nvSpPr>
        <p:spPr>
          <a:xfrm>
            <a:off x="6940296" y="2027682"/>
            <a:ext cx="91440" cy="1858517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21" name="Ellipse 21"/>
          <p:cNvSpPr/>
          <p:nvPr/>
        </p:nvSpPr>
        <p:spPr>
          <a:xfrm>
            <a:off x="6867144" y="190881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22" name="Line 22"/>
          <p:cNvSpPr/>
          <p:nvPr/>
        </p:nvSpPr>
        <p:spPr>
          <a:xfrm flipH="0" flipV="0">
            <a:off x="6986016" y="164363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23" name="Box 23"/>
          <p:cNvSpPr/>
          <p:nvPr/>
        </p:nvSpPr>
        <p:spPr>
          <a:xfrm>
            <a:off x="7223760" y="3822191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24" name="Box 24"/>
          <p:cNvSpPr/>
          <p:nvPr/>
        </p:nvSpPr>
        <p:spPr>
          <a:xfrm>
            <a:off x="7351776" y="2011680"/>
            <a:ext cx="91440" cy="1810511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25" name="Ellipse 25"/>
          <p:cNvSpPr/>
          <p:nvPr/>
        </p:nvSpPr>
        <p:spPr>
          <a:xfrm>
            <a:off x="7278624" y="1892808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26" name="Line 26"/>
          <p:cNvSpPr/>
          <p:nvPr/>
        </p:nvSpPr>
        <p:spPr>
          <a:xfrm flipH="0" flipV="0">
            <a:off x="7397496" y="1627632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27" name="Box 27"/>
          <p:cNvSpPr/>
          <p:nvPr/>
        </p:nvSpPr>
        <p:spPr>
          <a:xfrm>
            <a:off x="7635240" y="3822191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28" name="Box 28"/>
          <p:cNvSpPr/>
          <p:nvPr/>
        </p:nvSpPr>
        <p:spPr>
          <a:xfrm>
            <a:off x="7763256" y="2011680"/>
            <a:ext cx="91440" cy="1810511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29" name="Ellipse 29"/>
          <p:cNvSpPr/>
          <p:nvPr/>
        </p:nvSpPr>
        <p:spPr>
          <a:xfrm>
            <a:off x="7690104" y="1892808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30" name="Line 30"/>
          <p:cNvSpPr/>
          <p:nvPr/>
        </p:nvSpPr>
        <p:spPr>
          <a:xfrm flipH="0" flipV="0">
            <a:off x="7808975" y="1627632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31" name="Box 31"/>
          <p:cNvSpPr/>
          <p:nvPr/>
        </p:nvSpPr>
        <p:spPr>
          <a:xfrm>
            <a:off x="8046720" y="388620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32" name="Box 32"/>
          <p:cNvSpPr/>
          <p:nvPr/>
        </p:nvSpPr>
        <p:spPr>
          <a:xfrm>
            <a:off x="8174736" y="2027682"/>
            <a:ext cx="91440" cy="1858517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33" name="Ellipse 33"/>
          <p:cNvSpPr/>
          <p:nvPr/>
        </p:nvSpPr>
        <p:spPr>
          <a:xfrm>
            <a:off x="8101584" y="190881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34" name="Line 34"/>
          <p:cNvSpPr/>
          <p:nvPr/>
        </p:nvSpPr>
        <p:spPr>
          <a:xfrm flipH="0" flipV="0">
            <a:off x="8220456" y="164363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35" name="Box 35"/>
          <p:cNvSpPr/>
          <p:nvPr/>
        </p:nvSpPr>
        <p:spPr>
          <a:xfrm>
            <a:off x="8458200" y="4005072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36" name="Box 36"/>
          <p:cNvSpPr/>
          <p:nvPr/>
        </p:nvSpPr>
        <p:spPr>
          <a:xfrm>
            <a:off x="8586216" y="2057400"/>
            <a:ext cx="91440" cy="1947672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37" name="Ellipse 37"/>
          <p:cNvSpPr/>
          <p:nvPr/>
        </p:nvSpPr>
        <p:spPr>
          <a:xfrm>
            <a:off x="8513064" y="1938528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38" name="Line 38"/>
          <p:cNvSpPr/>
          <p:nvPr/>
        </p:nvSpPr>
        <p:spPr>
          <a:xfrm flipH="0" flipV="0">
            <a:off x="8631936" y="1673352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39" name="Box 39"/>
          <p:cNvSpPr/>
          <p:nvPr/>
        </p:nvSpPr>
        <p:spPr>
          <a:xfrm>
            <a:off x="8869680" y="416052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40" name="Box 40"/>
          <p:cNvSpPr/>
          <p:nvPr/>
        </p:nvSpPr>
        <p:spPr>
          <a:xfrm>
            <a:off x="8997696" y="2096262"/>
            <a:ext cx="91440" cy="2064257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41" name="Ellipse 41"/>
          <p:cNvSpPr/>
          <p:nvPr/>
        </p:nvSpPr>
        <p:spPr>
          <a:xfrm>
            <a:off x="8924544" y="197739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42" name="Line 42"/>
          <p:cNvSpPr/>
          <p:nvPr/>
        </p:nvSpPr>
        <p:spPr>
          <a:xfrm flipH="0" flipV="0">
            <a:off x="9043415" y="171221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43" name="Box 43"/>
          <p:cNvSpPr/>
          <p:nvPr/>
        </p:nvSpPr>
        <p:spPr>
          <a:xfrm>
            <a:off x="9281160" y="434340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44" name="Box 44"/>
          <p:cNvSpPr/>
          <p:nvPr/>
        </p:nvSpPr>
        <p:spPr>
          <a:xfrm>
            <a:off x="9409176" y="2141982"/>
            <a:ext cx="91440" cy="2201418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45" name="Ellipse 45"/>
          <p:cNvSpPr/>
          <p:nvPr/>
        </p:nvSpPr>
        <p:spPr>
          <a:xfrm>
            <a:off x="9336024" y="202311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46" name="Line 46"/>
          <p:cNvSpPr/>
          <p:nvPr/>
        </p:nvSpPr>
        <p:spPr>
          <a:xfrm flipH="0" flipV="0">
            <a:off x="9454896" y="175793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47" name="Box 47"/>
          <p:cNvSpPr/>
          <p:nvPr/>
        </p:nvSpPr>
        <p:spPr>
          <a:xfrm>
            <a:off x="9692640" y="452628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48" name="Box 48"/>
          <p:cNvSpPr/>
          <p:nvPr/>
        </p:nvSpPr>
        <p:spPr>
          <a:xfrm>
            <a:off x="9820656" y="2187702"/>
            <a:ext cx="91440" cy="2338578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49" name="Ellipse 49"/>
          <p:cNvSpPr/>
          <p:nvPr/>
        </p:nvSpPr>
        <p:spPr>
          <a:xfrm>
            <a:off x="9747504" y="206883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50" name="Line 50"/>
          <p:cNvSpPr/>
          <p:nvPr/>
        </p:nvSpPr>
        <p:spPr>
          <a:xfrm flipH="0" flipV="0">
            <a:off x="9866376" y="180365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51" name="Box 51"/>
          <p:cNvSpPr/>
          <p:nvPr/>
        </p:nvSpPr>
        <p:spPr>
          <a:xfrm>
            <a:off x="10104120" y="4617720"/>
            <a:ext cx="347472" cy="16459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52" name="Box 52"/>
          <p:cNvSpPr/>
          <p:nvPr/>
        </p:nvSpPr>
        <p:spPr>
          <a:xfrm>
            <a:off x="10232136" y="2210562"/>
            <a:ext cx="91440" cy="2407157"/>
          </a:xfrm>
          <a:prstGeom prst="rect">
            <a:avLst/>
          </a:prstGeom>
          <a:solidFill>
            <a:srgbClr val="F97316"/>
          </a:solidFill>
          <a:ln w="12700">
            <a:solidFill>
              <a:srgbClr val="C2410C"/>
            </a:solidFill>
          </a:ln>
        </p:spPr>
      </p:sp>
      <p:sp>
        <p:nvSpPr>
          <p:cNvPr id="53" name="Ellipse 53"/>
          <p:cNvSpPr/>
          <p:nvPr/>
        </p:nvSpPr>
        <p:spPr>
          <a:xfrm>
            <a:off x="10158984" y="2091690"/>
            <a:ext cx="237744" cy="146304"/>
          </a:xfrm>
          <a:prstGeom prst="ellipse">
            <a:avLst/>
          </a:prstGeom>
          <a:solidFill>
            <a:srgbClr val="FED7AA"/>
          </a:solidFill>
          <a:ln w="12700">
            <a:solidFill>
              <a:srgbClr val="F97316"/>
            </a:solidFill>
          </a:ln>
        </p:spPr>
      </p:sp>
      <p:sp>
        <p:nvSpPr>
          <p:cNvPr id="54" name="Line 54"/>
          <p:cNvSpPr/>
          <p:nvPr/>
        </p:nvSpPr>
        <p:spPr>
          <a:xfrm flipH="0" flipV="0">
            <a:off x="10277856" y="1826514"/>
            <a:ext cx="1" cy="310895"/>
          </a:xfrm>
          <a:prstGeom prst="line">
            <a:avLst/>
          </a:prstGeom>
          <a:ln w="15240">
            <a:solidFill>
              <a:srgbClr val="334155"/>
            </a:solidFill>
            <a:headEnd type="triangle"/>
          </a:ln>
        </p:spPr>
      </p:sp>
      <p:sp>
        <p:nvSpPr>
          <p:cNvPr id="55" name="Box 55"/>
          <p:cNvSpPr/>
          <p:nvPr/>
        </p:nvSpPr>
        <p:spPr>
          <a:xfrm>
            <a:off x="5486400" y="1828800"/>
            <a:ext cx="164592" cy="320040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56" name="Box 56"/>
          <p:cNvSpPr/>
          <p:nvPr/>
        </p:nvSpPr>
        <p:spPr>
          <a:xfrm>
            <a:off x="10561320" y="1828800"/>
            <a:ext cx="164592" cy="320040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57" name="Box 57"/>
          <p:cNvSpPr/>
          <p:nvPr/>
        </p:nvSpPr>
        <p:spPr>
          <a:xfrm>
            <a:off x="5349240" y="1828800"/>
            <a:ext cx="5440680" cy="164592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58" name="TextBox 58"/>
          <p:cNvSpPr txBox="1"/>
          <p:nvPr/>
        </p:nvSpPr>
        <p:spPr>
          <a:xfrm>
            <a:off x="6583680" y="1618488"/>
            <a:ext cx="2560320" cy="164592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334155"/>
                </a:solidFill>
              </a:rPr>
              <a:t>adjustment screws + lock nuts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360920" y="489204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 b="1">
                <a:solidFill>
                  <a:srgbClr val="0369A1"/>
                </a:solidFill>
              </a:rPr>
              <a:t>Uneven/curved surface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486400" y="5623560"/>
            <a:ext cx="5577840" cy="4114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7F1D1D"/>
                </a:solidFill>
              </a:rPr>
              <a:t>Robotic hand equivalent: needs pose planning, force sensing, slip/contact detection, and recalibration for each geometry.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4. Constant camera feedback enables pixel-level HMI screen verification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57200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Vision checks the output, not just the input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57200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Camera feedback confirms what the HMI actually displayed after each touch, button press, or knob turn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Fixed camera position makes image comparison repeatable across units and test cycles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Can detect dead pixels, wrong colors, frozen screens, delayed transitions, flicker, missing icons, text errors, and brightness variation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A robotic hand still needs a camera system to verify display results; the static jig integrates it directly</a:t>
            </a:r>
          </a:p>
        </p:txBody>
      </p:sp>
      <p:sp>
        <p:nvSpPr>
          <p:cNvPr id="6" name="Box 6"/>
          <p:cNvSpPr/>
          <p:nvPr/>
        </p:nvSpPr>
        <p:spPr>
          <a:xfrm>
            <a:off x="5623560" y="1417320"/>
            <a:ext cx="5257800" cy="3246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</p:sp>
      <p:sp>
        <p:nvSpPr>
          <p:cNvPr id="7" name="Box 7"/>
          <p:cNvSpPr/>
          <p:nvPr/>
        </p:nvSpPr>
        <p:spPr>
          <a:xfrm>
            <a:off x="5806440" y="162763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8" name="Box 8"/>
          <p:cNvSpPr/>
          <p:nvPr/>
        </p:nvSpPr>
        <p:spPr>
          <a:xfrm>
            <a:off x="5806440" y="192938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9" name="Box 9"/>
          <p:cNvSpPr/>
          <p:nvPr/>
        </p:nvSpPr>
        <p:spPr>
          <a:xfrm>
            <a:off x="5806440" y="223113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" name="Box 10"/>
          <p:cNvSpPr/>
          <p:nvPr/>
        </p:nvSpPr>
        <p:spPr>
          <a:xfrm>
            <a:off x="5806440" y="2532888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1" name="Box 11"/>
          <p:cNvSpPr/>
          <p:nvPr/>
        </p:nvSpPr>
        <p:spPr>
          <a:xfrm>
            <a:off x="5806440" y="2834640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Box 12"/>
          <p:cNvSpPr/>
          <p:nvPr/>
        </p:nvSpPr>
        <p:spPr>
          <a:xfrm>
            <a:off x="5806440" y="313639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3" name="Box 13"/>
          <p:cNvSpPr/>
          <p:nvPr/>
        </p:nvSpPr>
        <p:spPr>
          <a:xfrm>
            <a:off x="5806440" y="343814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4" name="Box 14"/>
          <p:cNvSpPr/>
          <p:nvPr/>
        </p:nvSpPr>
        <p:spPr>
          <a:xfrm>
            <a:off x="5806440" y="373989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5" name="Box 15"/>
          <p:cNvSpPr/>
          <p:nvPr/>
        </p:nvSpPr>
        <p:spPr>
          <a:xfrm>
            <a:off x="6108192" y="1627632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6" name="Box 16"/>
          <p:cNvSpPr/>
          <p:nvPr/>
        </p:nvSpPr>
        <p:spPr>
          <a:xfrm>
            <a:off x="6108192" y="1929384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7" name="Box 17"/>
          <p:cNvSpPr/>
          <p:nvPr/>
        </p:nvSpPr>
        <p:spPr>
          <a:xfrm>
            <a:off x="6108192" y="2231136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8" name="Box 18"/>
          <p:cNvSpPr/>
          <p:nvPr/>
        </p:nvSpPr>
        <p:spPr>
          <a:xfrm>
            <a:off x="6108192" y="2532888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9" name="Box 19"/>
          <p:cNvSpPr/>
          <p:nvPr/>
        </p:nvSpPr>
        <p:spPr>
          <a:xfrm>
            <a:off x="6108192" y="2834640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20" name="Box 20"/>
          <p:cNvSpPr/>
          <p:nvPr/>
        </p:nvSpPr>
        <p:spPr>
          <a:xfrm>
            <a:off x="6108192" y="3136392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21" name="Box 21"/>
          <p:cNvSpPr/>
          <p:nvPr/>
        </p:nvSpPr>
        <p:spPr>
          <a:xfrm>
            <a:off x="6108192" y="3438144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2" name="Box 22"/>
          <p:cNvSpPr/>
          <p:nvPr/>
        </p:nvSpPr>
        <p:spPr>
          <a:xfrm>
            <a:off x="6108192" y="3739896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3" name="Box 23"/>
          <p:cNvSpPr/>
          <p:nvPr/>
        </p:nvSpPr>
        <p:spPr>
          <a:xfrm>
            <a:off x="6409944" y="1627632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4" name="Box 24"/>
          <p:cNvSpPr/>
          <p:nvPr/>
        </p:nvSpPr>
        <p:spPr>
          <a:xfrm>
            <a:off x="6409944" y="1929384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5" name="Box 25"/>
          <p:cNvSpPr/>
          <p:nvPr/>
        </p:nvSpPr>
        <p:spPr>
          <a:xfrm>
            <a:off x="6409944" y="2231136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6" name="Box 26"/>
          <p:cNvSpPr/>
          <p:nvPr/>
        </p:nvSpPr>
        <p:spPr>
          <a:xfrm>
            <a:off x="6409944" y="2532888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27" name="Box 27"/>
          <p:cNvSpPr/>
          <p:nvPr/>
        </p:nvSpPr>
        <p:spPr>
          <a:xfrm>
            <a:off x="6409944" y="2834640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28" name="Box 28"/>
          <p:cNvSpPr/>
          <p:nvPr/>
        </p:nvSpPr>
        <p:spPr>
          <a:xfrm>
            <a:off x="6409944" y="3136392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9" name="Box 29"/>
          <p:cNvSpPr/>
          <p:nvPr/>
        </p:nvSpPr>
        <p:spPr>
          <a:xfrm>
            <a:off x="6409944" y="3438144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0" name="Box 30"/>
          <p:cNvSpPr/>
          <p:nvPr/>
        </p:nvSpPr>
        <p:spPr>
          <a:xfrm>
            <a:off x="6409944" y="3739896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1" name="Box 31"/>
          <p:cNvSpPr/>
          <p:nvPr/>
        </p:nvSpPr>
        <p:spPr>
          <a:xfrm>
            <a:off x="6711696" y="1627632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2" name="Box 32"/>
          <p:cNvSpPr/>
          <p:nvPr/>
        </p:nvSpPr>
        <p:spPr>
          <a:xfrm>
            <a:off x="6711696" y="1929384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3" name="Box 33"/>
          <p:cNvSpPr/>
          <p:nvPr/>
        </p:nvSpPr>
        <p:spPr>
          <a:xfrm>
            <a:off x="6711696" y="2231136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34" name="Box 34"/>
          <p:cNvSpPr/>
          <p:nvPr/>
        </p:nvSpPr>
        <p:spPr>
          <a:xfrm>
            <a:off x="6711696" y="2532888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35" name="Box 35"/>
          <p:cNvSpPr/>
          <p:nvPr/>
        </p:nvSpPr>
        <p:spPr>
          <a:xfrm>
            <a:off x="6711696" y="2834640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36" name="Box 36"/>
          <p:cNvSpPr/>
          <p:nvPr/>
        </p:nvSpPr>
        <p:spPr>
          <a:xfrm>
            <a:off x="6711696" y="3136392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7" name="Box 37"/>
          <p:cNvSpPr/>
          <p:nvPr/>
        </p:nvSpPr>
        <p:spPr>
          <a:xfrm>
            <a:off x="6711696" y="3438144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8" name="Box 38"/>
          <p:cNvSpPr/>
          <p:nvPr/>
        </p:nvSpPr>
        <p:spPr>
          <a:xfrm>
            <a:off x="6711696" y="3739896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39" name="Box 39"/>
          <p:cNvSpPr/>
          <p:nvPr/>
        </p:nvSpPr>
        <p:spPr>
          <a:xfrm>
            <a:off x="7013448" y="1627632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40" name="Box 40"/>
          <p:cNvSpPr/>
          <p:nvPr/>
        </p:nvSpPr>
        <p:spPr>
          <a:xfrm>
            <a:off x="7013448" y="1929384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41" name="Box 41"/>
          <p:cNvSpPr/>
          <p:nvPr/>
        </p:nvSpPr>
        <p:spPr>
          <a:xfrm>
            <a:off x="7013448" y="2231136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42" name="Box 42"/>
          <p:cNvSpPr/>
          <p:nvPr/>
        </p:nvSpPr>
        <p:spPr>
          <a:xfrm>
            <a:off x="7013448" y="2532888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43" name="Box 43"/>
          <p:cNvSpPr/>
          <p:nvPr/>
        </p:nvSpPr>
        <p:spPr>
          <a:xfrm>
            <a:off x="7013448" y="2834640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4" name="Box 44"/>
          <p:cNvSpPr/>
          <p:nvPr/>
        </p:nvSpPr>
        <p:spPr>
          <a:xfrm>
            <a:off x="7013448" y="3136392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45" name="Box 45"/>
          <p:cNvSpPr/>
          <p:nvPr/>
        </p:nvSpPr>
        <p:spPr>
          <a:xfrm>
            <a:off x="7013448" y="3438144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46" name="Box 46"/>
          <p:cNvSpPr/>
          <p:nvPr/>
        </p:nvSpPr>
        <p:spPr>
          <a:xfrm>
            <a:off x="7013448" y="3739896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47" name="Box 47"/>
          <p:cNvSpPr/>
          <p:nvPr/>
        </p:nvSpPr>
        <p:spPr>
          <a:xfrm>
            <a:off x="7315200" y="162763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48" name="Box 48"/>
          <p:cNvSpPr/>
          <p:nvPr/>
        </p:nvSpPr>
        <p:spPr>
          <a:xfrm>
            <a:off x="7315200" y="192938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49" name="Box 49"/>
          <p:cNvSpPr/>
          <p:nvPr/>
        </p:nvSpPr>
        <p:spPr>
          <a:xfrm>
            <a:off x="7315200" y="223113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50" name="Box 50"/>
          <p:cNvSpPr/>
          <p:nvPr/>
        </p:nvSpPr>
        <p:spPr>
          <a:xfrm>
            <a:off x="7315200" y="2532888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1" name="Box 51"/>
          <p:cNvSpPr/>
          <p:nvPr/>
        </p:nvSpPr>
        <p:spPr>
          <a:xfrm>
            <a:off x="7315200" y="2834640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52" name="Box 52"/>
          <p:cNvSpPr/>
          <p:nvPr/>
        </p:nvSpPr>
        <p:spPr>
          <a:xfrm>
            <a:off x="7315200" y="313639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53" name="Box 53"/>
          <p:cNvSpPr/>
          <p:nvPr/>
        </p:nvSpPr>
        <p:spPr>
          <a:xfrm>
            <a:off x="7315200" y="343814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4" name="Box 54"/>
          <p:cNvSpPr/>
          <p:nvPr/>
        </p:nvSpPr>
        <p:spPr>
          <a:xfrm>
            <a:off x="7315200" y="373989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55" name="Box 55"/>
          <p:cNvSpPr/>
          <p:nvPr/>
        </p:nvSpPr>
        <p:spPr>
          <a:xfrm>
            <a:off x="7616952" y="1627632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6" name="Box 56"/>
          <p:cNvSpPr/>
          <p:nvPr/>
        </p:nvSpPr>
        <p:spPr>
          <a:xfrm>
            <a:off x="7616952" y="1929384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57" name="Box 57"/>
          <p:cNvSpPr/>
          <p:nvPr/>
        </p:nvSpPr>
        <p:spPr>
          <a:xfrm>
            <a:off x="7616952" y="2231136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8" name="Box 58"/>
          <p:cNvSpPr/>
          <p:nvPr/>
        </p:nvSpPr>
        <p:spPr>
          <a:xfrm>
            <a:off x="7616952" y="2532888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59" name="Box 59"/>
          <p:cNvSpPr/>
          <p:nvPr/>
        </p:nvSpPr>
        <p:spPr>
          <a:xfrm>
            <a:off x="7616952" y="2834640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60" name="Box 60"/>
          <p:cNvSpPr/>
          <p:nvPr/>
        </p:nvSpPr>
        <p:spPr>
          <a:xfrm>
            <a:off x="7616952" y="3136392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61" name="Box 61"/>
          <p:cNvSpPr/>
          <p:nvPr/>
        </p:nvSpPr>
        <p:spPr>
          <a:xfrm>
            <a:off x="7616952" y="3438144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62" name="Box 62"/>
          <p:cNvSpPr/>
          <p:nvPr/>
        </p:nvSpPr>
        <p:spPr>
          <a:xfrm>
            <a:off x="7616952" y="3739896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63" name="Box 63"/>
          <p:cNvSpPr/>
          <p:nvPr/>
        </p:nvSpPr>
        <p:spPr>
          <a:xfrm>
            <a:off x="7918704" y="1627632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64" name="Box 64"/>
          <p:cNvSpPr/>
          <p:nvPr/>
        </p:nvSpPr>
        <p:spPr>
          <a:xfrm>
            <a:off x="7918704" y="1929384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65" name="Box 65"/>
          <p:cNvSpPr/>
          <p:nvPr/>
        </p:nvSpPr>
        <p:spPr>
          <a:xfrm>
            <a:off x="7918704" y="2231136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66" name="Box 66"/>
          <p:cNvSpPr/>
          <p:nvPr/>
        </p:nvSpPr>
        <p:spPr>
          <a:xfrm>
            <a:off x="7918704" y="2532888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67" name="Box 67"/>
          <p:cNvSpPr/>
          <p:nvPr/>
        </p:nvSpPr>
        <p:spPr>
          <a:xfrm>
            <a:off x="7918704" y="2834640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68" name="Box 68"/>
          <p:cNvSpPr/>
          <p:nvPr/>
        </p:nvSpPr>
        <p:spPr>
          <a:xfrm>
            <a:off x="7918704" y="3136392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69" name="Box 69"/>
          <p:cNvSpPr/>
          <p:nvPr/>
        </p:nvSpPr>
        <p:spPr>
          <a:xfrm>
            <a:off x="7918704" y="3438144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70" name="Box 70"/>
          <p:cNvSpPr/>
          <p:nvPr/>
        </p:nvSpPr>
        <p:spPr>
          <a:xfrm>
            <a:off x="7918704" y="3739896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71" name="Box 71"/>
          <p:cNvSpPr/>
          <p:nvPr/>
        </p:nvSpPr>
        <p:spPr>
          <a:xfrm>
            <a:off x="8220456" y="1627632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72" name="Box 72"/>
          <p:cNvSpPr/>
          <p:nvPr/>
        </p:nvSpPr>
        <p:spPr>
          <a:xfrm>
            <a:off x="8220456" y="1929384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73" name="Box 73"/>
          <p:cNvSpPr/>
          <p:nvPr/>
        </p:nvSpPr>
        <p:spPr>
          <a:xfrm>
            <a:off x="8220456" y="2231136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74" name="Box 74"/>
          <p:cNvSpPr/>
          <p:nvPr/>
        </p:nvSpPr>
        <p:spPr>
          <a:xfrm>
            <a:off x="8220456" y="2532888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75" name="Box 75"/>
          <p:cNvSpPr/>
          <p:nvPr/>
        </p:nvSpPr>
        <p:spPr>
          <a:xfrm>
            <a:off x="8220456" y="2834640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76" name="Box 76"/>
          <p:cNvSpPr/>
          <p:nvPr/>
        </p:nvSpPr>
        <p:spPr>
          <a:xfrm>
            <a:off x="8220456" y="3136392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77" name="Box 77"/>
          <p:cNvSpPr/>
          <p:nvPr/>
        </p:nvSpPr>
        <p:spPr>
          <a:xfrm>
            <a:off x="8220456" y="3438144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78" name="Box 78"/>
          <p:cNvSpPr/>
          <p:nvPr/>
        </p:nvSpPr>
        <p:spPr>
          <a:xfrm>
            <a:off x="8220456" y="3739896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79" name="Box 79"/>
          <p:cNvSpPr/>
          <p:nvPr/>
        </p:nvSpPr>
        <p:spPr>
          <a:xfrm>
            <a:off x="8522208" y="1627632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0" name="Box 80"/>
          <p:cNvSpPr/>
          <p:nvPr/>
        </p:nvSpPr>
        <p:spPr>
          <a:xfrm>
            <a:off x="8522208" y="1929384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81" name="Box 81"/>
          <p:cNvSpPr/>
          <p:nvPr/>
        </p:nvSpPr>
        <p:spPr>
          <a:xfrm>
            <a:off x="8522208" y="2231136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82" name="Box 82"/>
          <p:cNvSpPr/>
          <p:nvPr/>
        </p:nvSpPr>
        <p:spPr>
          <a:xfrm>
            <a:off x="8522208" y="2532888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3" name="Box 83"/>
          <p:cNvSpPr/>
          <p:nvPr/>
        </p:nvSpPr>
        <p:spPr>
          <a:xfrm>
            <a:off x="8522208" y="2834640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84" name="Box 84"/>
          <p:cNvSpPr/>
          <p:nvPr/>
        </p:nvSpPr>
        <p:spPr>
          <a:xfrm>
            <a:off x="8522208" y="3136392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5" name="Box 85"/>
          <p:cNvSpPr/>
          <p:nvPr/>
        </p:nvSpPr>
        <p:spPr>
          <a:xfrm>
            <a:off x="8522208" y="3438144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86" name="Box 86"/>
          <p:cNvSpPr/>
          <p:nvPr/>
        </p:nvSpPr>
        <p:spPr>
          <a:xfrm>
            <a:off x="8522208" y="3739896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87" name="Box 87"/>
          <p:cNvSpPr/>
          <p:nvPr/>
        </p:nvSpPr>
        <p:spPr>
          <a:xfrm>
            <a:off x="8823960" y="162763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88" name="Box 88"/>
          <p:cNvSpPr/>
          <p:nvPr/>
        </p:nvSpPr>
        <p:spPr>
          <a:xfrm>
            <a:off x="8823960" y="192938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89" name="Box 89"/>
          <p:cNvSpPr/>
          <p:nvPr/>
        </p:nvSpPr>
        <p:spPr>
          <a:xfrm>
            <a:off x="8823960" y="223113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0" name="Box 90"/>
          <p:cNvSpPr/>
          <p:nvPr/>
        </p:nvSpPr>
        <p:spPr>
          <a:xfrm>
            <a:off x="8823960" y="2532888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91" name="Box 91"/>
          <p:cNvSpPr/>
          <p:nvPr/>
        </p:nvSpPr>
        <p:spPr>
          <a:xfrm>
            <a:off x="8823960" y="2834640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2" name="Box 92"/>
          <p:cNvSpPr/>
          <p:nvPr/>
        </p:nvSpPr>
        <p:spPr>
          <a:xfrm>
            <a:off x="8823960" y="313639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93" name="Box 93"/>
          <p:cNvSpPr/>
          <p:nvPr/>
        </p:nvSpPr>
        <p:spPr>
          <a:xfrm>
            <a:off x="8823960" y="343814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94" name="Box 94"/>
          <p:cNvSpPr/>
          <p:nvPr/>
        </p:nvSpPr>
        <p:spPr>
          <a:xfrm>
            <a:off x="8823960" y="373989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5" name="Box 95"/>
          <p:cNvSpPr/>
          <p:nvPr/>
        </p:nvSpPr>
        <p:spPr>
          <a:xfrm>
            <a:off x="9125712" y="1627632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96" name="Box 96"/>
          <p:cNvSpPr/>
          <p:nvPr/>
        </p:nvSpPr>
        <p:spPr>
          <a:xfrm>
            <a:off x="9125712" y="1929384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7" name="Box 97"/>
          <p:cNvSpPr/>
          <p:nvPr/>
        </p:nvSpPr>
        <p:spPr>
          <a:xfrm>
            <a:off x="9125712" y="2231136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98" name="Box 98"/>
          <p:cNvSpPr/>
          <p:nvPr/>
        </p:nvSpPr>
        <p:spPr>
          <a:xfrm>
            <a:off x="9125712" y="2532888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9" name="Box 99"/>
          <p:cNvSpPr/>
          <p:nvPr/>
        </p:nvSpPr>
        <p:spPr>
          <a:xfrm>
            <a:off x="9125712" y="2834640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00" name="Box 100"/>
          <p:cNvSpPr/>
          <p:nvPr/>
        </p:nvSpPr>
        <p:spPr>
          <a:xfrm>
            <a:off x="9125712" y="3136392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01" name="Box 101"/>
          <p:cNvSpPr/>
          <p:nvPr/>
        </p:nvSpPr>
        <p:spPr>
          <a:xfrm>
            <a:off x="9125712" y="3438144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2" name="Box 102"/>
          <p:cNvSpPr/>
          <p:nvPr/>
        </p:nvSpPr>
        <p:spPr>
          <a:xfrm>
            <a:off x="9125712" y="3739896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03" name="Box 103"/>
          <p:cNvSpPr/>
          <p:nvPr/>
        </p:nvSpPr>
        <p:spPr>
          <a:xfrm>
            <a:off x="9427463" y="1627632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4" name="Box 104"/>
          <p:cNvSpPr/>
          <p:nvPr/>
        </p:nvSpPr>
        <p:spPr>
          <a:xfrm>
            <a:off x="9427463" y="1929384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05" name="Box 105"/>
          <p:cNvSpPr/>
          <p:nvPr/>
        </p:nvSpPr>
        <p:spPr>
          <a:xfrm>
            <a:off x="9427463" y="2231136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06" name="Box 106"/>
          <p:cNvSpPr/>
          <p:nvPr/>
        </p:nvSpPr>
        <p:spPr>
          <a:xfrm>
            <a:off x="9427463" y="2532888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07" name="Box 107"/>
          <p:cNvSpPr/>
          <p:nvPr/>
        </p:nvSpPr>
        <p:spPr>
          <a:xfrm>
            <a:off x="9427463" y="2834640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08" name="Box 108"/>
          <p:cNvSpPr/>
          <p:nvPr/>
        </p:nvSpPr>
        <p:spPr>
          <a:xfrm>
            <a:off x="9427463" y="3136392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9" name="Box 109"/>
          <p:cNvSpPr/>
          <p:nvPr/>
        </p:nvSpPr>
        <p:spPr>
          <a:xfrm>
            <a:off x="9427463" y="3438144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10" name="Box 110"/>
          <p:cNvSpPr/>
          <p:nvPr/>
        </p:nvSpPr>
        <p:spPr>
          <a:xfrm>
            <a:off x="9427463" y="3739896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11" name="Box 111"/>
          <p:cNvSpPr/>
          <p:nvPr/>
        </p:nvSpPr>
        <p:spPr>
          <a:xfrm>
            <a:off x="9729216" y="1627632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12" name="Box 112"/>
          <p:cNvSpPr/>
          <p:nvPr/>
        </p:nvSpPr>
        <p:spPr>
          <a:xfrm>
            <a:off x="9729216" y="1929384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13" name="Box 113"/>
          <p:cNvSpPr/>
          <p:nvPr/>
        </p:nvSpPr>
        <p:spPr>
          <a:xfrm>
            <a:off x="9729216" y="2231136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14" name="Box 114"/>
          <p:cNvSpPr/>
          <p:nvPr/>
        </p:nvSpPr>
        <p:spPr>
          <a:xfrm>
            <a:off x="9729216" y="2532888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15" name="Box 115"/>
          <p:cNvSpPr/>
          <p:nvPr/>
        </p:nvSpPr>
        <p:spPr>
          <a:xfrm>
            <a:off x="9729216" y="2834640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16" name="Box 116"/>
          <p:cNvSpPr/>
          <p:nvPr/>
        </p:nvSpPr>
        <p:spPr>
          <a:xfrm>
            <a:off x="9729216" y="3136392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17" name="Box 117"/>
          <p:cNvSpPr/>
          <p:nvPr/>
        </p:nvSpPr>
        <p:spPr>
          <a:xfrm>
            <a:off x="9729216" y="3438144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18" name="Box 118"/>
          <p:cNvSpPr/>
          <p:nvPr/>
        </p:nvSpPr>
        <p:spPr>
          <a:xfrm>
            <a:off x="9729216" y="3739896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19" name="Box 119"/>
          <p:cNvSpPr/>
          <p:nvPr/>
        </p:nvSpPr>
        <p:spPr>
          <a:xfrm>
            <a:off x="10030967" y="1627632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0" name="Box 120"/>
          <p:cNvSpPr/>
          <p:nvPr/>
        </p:nvSpPr>
        <p:spPr>
          <a:xfrm>
            <a:off x="10030967" y="1929384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21" name="Box 121"/>
          <p:cNvSpPr/>
          <p:nvPr/>
        </p:nvSpPr>
        <p:spPr>
          <a:xfrm>
            <a:off x="10030967" y="2231136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22" name="Box 122"/>
          <p:cNvSpPr/>
          <p:nvPr/>
        </p:nvSpPr>
        <p:spPr>
          <a:xfrm>
            <a:off x="10030967" y="2532888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3" name="Box 123"/>
          <p:cNvSpPr/>
          <p:nvPr/>
        </p:nvSpPr>
        <p:spPr>
          <a:xfrm>
            <a:off x="10030967" y="2834640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24" name="Box 124"/>
          <p:cNvSpPr/>
          <p:nvPr/>
        </p:nvSpPr>
        <p:spPr>
          <a:xfrm>
            <a:off x="10030967" y="3136392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5" name="Box 125"/>
          <p:cNvSpPr/>
          <p:nvPr/>
        </p:nvSpPr>
        <p:spPr>
          <a:xfrm>
            <a:off x="10030967" y="3438144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26" name="Box 126"/>
          <p:cNvSpPr/>
          <p:nvPr/>
        </p:nvSpPr>
        <p:spPr>
          <a:xfrm>
            <a:off x="10030967" y="3739896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27" name="Box 127"/>
          <p:cNvSpPr/>
          <p:nvPr/>
        </p:nvSpPr>
        <p:spPr>
          <a:xfrm>
            <a:off x="10332720" y="162763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28" name="Box 128"/>
          <p:cNvSpPr/>
          <p:nvPr/>
        </p:nvSpPr>
        <p:spPr>
          <a:xfrm>
            <a:off x="10332720" y="192938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29" name="Box 129"/>
          <p:cNvSpPr/>
          <p:nvPr/>
        </p:nvSpPr>
        <p:spPr>
          <a:xfrm>
            <a:off x="10332720" y="223113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30" name="Box 130"/>
          <p:cNvSpPr/>
          <p:nvPr/>
        </p:nvSpPr>
        <p:spPr>
          <a:xfrm>
            <a:off x="10332720" y="2532888"/>
            <a:ext cx="246888" cy="219456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31" name="Box 131"/>
          <p:cNvSpPr/>
          <p:nvPr/>
        </p:nvSpPr>
        <p:spPr>
          <a:xfrm>
            <a:off x="10332720" y="2834640"/>
            <a:ext cx="246888" cy="219456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32" name="Box 132"/>
          <p:cNvSpPr/>
          <p:nvPr/>
        </p:nvSpPr>
        <p:spPr>
          <a:xfrm>
            <a:off x="10332720" y="3136392"/>
            <a:ext cx="246888" cy="219456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33" name="Box 133"/>
          <p:cNvSpPr/>
          <p:nvPr/>
        </p:nvSpPr>
        <p:spPr>
          <a:xfrm>
            <a:off x="10332720" y="3438144"/>
            <a:ext cx="246888" cy="219456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34" name="Box 134"/>
          <p:cNvSpPr/>
          <p:nvPr/>
        </p:nvSpPr>
        <p:spPr>
          <a:xfrm>
            <a:off x="10332720" y="3739896"/>
            <a:ext cx="246888" cy="219456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35" name="Ellipse 135"/>
          <p:cNvSpPr/>
          <p:nvPr/>
        </p:nvSpPr>
        <p:spPr>
          <a:xfrm>
            <a:off x="5669280" y="4892040"/>
            <a:ext cx="68580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15803D"/>
            </a:solidFill>
          </a:ln>
        </p:spPr>
      </p:sp>
      <p:sp>
        <p:nvSpPr>
          <p:cNvPr id="136" name="TextBox 136"/>
          <p:cNvSpPr txBox="1"/>
          <p:nvPr/>
        </p:nvSpPr>
        <p:spPr>
          <a:xfrm>
            <a:off x="5788152" y="5020056"/>
            <a:ext cx="411480" cy="9144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600" b="1">
                <a:solidFill>
                  <a:srgbClr val="052E16"/>
                </a:solidFill>
              </a:rPr>
              <a:t>CAM A</a:t>
            </a:r>
          </a:p>
        </p:txBody>
      </p:sp>
      <p:sp>
        <p:nvSpPr>
          <p:cNvPr id="137" name="Line 137"/>
          <p:cNvSpPr/>
          <p:nvPr/>
        </p:nvSpPr>
        <p:spPr>
          <a:xfrm flipH="0" flipV="1">
            <a:off x="5989320" y="4434840"/>
            <a:ext cx="594360" cy="457200"/>
          </a:xfrm>
          <a:prstGeom prst="line">
            <a:avLst/>
          </a:prstGeom>
          <a:ln w="19050">
            <a:solidFill>
              <a:srgbClr val="22C55E"/>
            </a:solidFill>
            <a:headEnd type="triangle"/>
          </a:ln>
        </p:spPr>
      </p:sp>
      <p:sp>
        <p:nvSpPr>
          <p:cNvPr id="138" name="Ellipse 138"/>
          <p:cNvSpPr/>
          <p:nvPr/>
        </p:nvSpPr>
        <p:spPr>
          <a:xfrm>
            <a:off x="7909560" y="4892040"/>
            <a:ext cx="68580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15803D"/>
            </a:solidFill>
          </a:ln>
        </p:spPr>
      </p:sp>
      <p:sp>
        <p:nvSpPr>
          <p:cNvPr id="139" name="TextBox 139"/>
          <p:cNvSpPr txBox="1"/>
          <p:nvPr/>
        </p:nvSpPr>
        <p:spPr>
          <a:xfrm>
            <a:off x="8028431" y="5020056"/>
            <a:ext cx="411480" cy="9144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600" b="1">
                <a:solidFill>
                  <a:srgbClr val="052E16"/>
                </a:solidFill>
              </a:rPr>
              <a:t>CAM B</a:t>
            </a:r>
          </a:p>
        </p:txBody>
      </p:sp>
      <p:sp>
        <p:nvSpPr>
          <p:cNvPr id="140" name="Line 140"/>
          <p:cNvSpPr/>
          <p:nvPr/>
        </p:nvSpPr>
        <p:spPr>
          <a:xfrm flipH="0" flipV="1">
            <a:off x="8229600" y="4434840"/>
            <a:ext cx="1" cy="457200"/>
          </a:xfrm>
          <a:prstGeom prst="line">
            <a:avLst/>
          </a:prstGeom>
          <a:ln w="19050">
            <a:solidFill>
              <a:srgbClr val="22C55E"/>
            </a:solidFill>
            <a:headEnd type="triangle"/>
          </a:ln>
        </p:spPr>
      </p:sp>
      <p:sp>
        <p:nvSpPr>
          <p:cNvPr id="141" name="Ellipse 141"/>
          <p:cNvSpPr/>
          <p:nvPr/>
        </p:nvSpPr>
        <p:spPr>
          <a:xfrm>
            <a:off x="10104120" y="4892040"/>
            <a:ext cx="68580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15803D"/>
            </a:solidFill>
          </a:ln>
        </p:spPr>
      </p:sp>
      <p:sp>
        <p:nvSpPr>
          <p:cNvPr id="142" name="TextBox 142"/>
          <p:cNvSpPr txBox="1"/>
          <p:nvPr/>
        </p:nvSpPr>
        <p:spPr>
          <a:xfrm>
            <a:off x="10222992" y="5020056"/>
            <a:ext cx="411480" cy="9144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600" b="1">
                <a:solidFill>
                  <a:srgbClr val="052E16"/>
                </a:solidFill>
              </a:rPr>
              <a:t>CAM C</a:t>
            </a:r>
          </a:p>
        </p:txBody>
      </p:sp>
      <p:sp>
        <p:nvSpPr>
          <p:cNvPr id="143" name="Line 143"/>
          <p:cNvSpPr/>
          <p:nvPr/>
        </p:nvSpPr>
        <p:spPr>
          <a:xfrm flipH="1" flipV="1">
            <a:off x="9875520" y="4434840"/>
            <a:ext cx="502919" cy="457200"/>
          </a:xfrm>
          <a:prstGeom prst="line">
            <a:avLst/>
          </a:prstGeom>
          <a:ln w="19050">
            <a:solidFill>
              <a:srgbClr val="22C55E"/>
            </a:solidFill>
            <a:headEnd type="triangle"/>
          </a:ln>
        </p:spPr>
      </p:sp>
      <p:sp>
        <p:nvSpPr>
          <p:cNvPr id="144" name="TextBox 144"/>
          <p:cNvSpPr txBox="1"/>
          <p:nvPr/>
        </p:nvSpPr>
        <p:spPr>
          <a:xfrm>
            <a:off x="5760720" y="5605272"/>
            <a:ext cx="493776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100" b="1">
                <a:solidFill>
                  <a:srgbClr val="0F172A"/>
                </a:solidFill>
              </a:rPr>
              <a:t>Every pixel / zone can be monitored continuously during the test sequence.</a:t>
            </a:r>
          </a:p>
        </p:txBody>
      </p:sp>
      <p:sp>
        <p:nvSpPr>
          <p:cNvPr id="145" name="TextBox 145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5. Lower power consumption: activate only the needed pins, cameras, and modules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846320" cy="32004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Static jig power behavior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84632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Most modules are idle between test steps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Small solenoids, servos, steppers, LEDs, cameras, and embedded controllers can be powered selectively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No need to hold a multi-finger posture or move a heavy arm through space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Lower heat, smaller power supplies, better battery/vehicle compatibility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43600" y="1143000"/>
            <a:ext cx="438912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400" b="1">
                <a:solidFill>
                  <a:srgbClr val="0F172A"/>
                </a:solidFill>
              </a:rPr>
              <a:t>Power comparison concept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897880" y="169164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334155"/>
                </a:solidFill>
              </a:rPr>
              <a:t>Idle</a:t>
            </a:r>
          </a:p>
        </p:txBody>
      </p:sp>
      <p:sp>
        <p:nvSpPr>
          <p:cNvPr id="8" name="Box 8"/>
          <p:cNvSpPr/>
          <p:nvPr/>
        </p:nvSpPr>
        <p:spPr>
          <a:xfrm>
            <a:off x="7589520" y="1691640"/>
            <a:ext cx="640080" cy="292608"/>
          </a:xfrm>
          <a:prstGeom prst="roundRect">
            <a:avLst/>
          </a:prstGeom>
          <a:solidFill>
            <a:srgbClr val="22C55E"/>
          </a:solidFill>
        </p:spPr>
      </p:sp>
      <p:sp>
        <p:nvSpPr>
          <p:cNvPr id="9" name="TextBox 9"/>
          <p:cNvSpPr txBox="1"/>
          <p:nvPr/>
        </p:nvSpPr>
        <p:spPr>
          <a:xfrm>
            <a:off x="5897880" y="237744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334155"/>
                </a:solidFill>
              </a:rPr>
              <a:t>Single press</a:t>
            </a:r>
          </a:p>
        </p:txBody>
      </p:sp>
      <p:sp>
        <p:nvSpPr>
          <p:cNvPr id="10" name="Box 10"/>
          <p:cNvSpPr/>
          <p:nvPr/>
        </p:nvSpPr>
        <p:spPr>
          <a:xfrm>
            <a:off x="7589520" y="2377440"/>
            <a:ext cx="1097280" cy="292608"/>
          </a:xfrm>
          <a:prstGeom prst="roundRect">
            <a:avLst/>
          </a:prstGeom>
          <a:solidFill>
            <a:srgbClr val="84CC16"/>
          </a:solidFill>
        </p:spPr>
      </p:sp>
      <p:sp>
        <p:nvSpPr>
          <p:cNvPr id="11" name="TextBox 11"/>
          <p:cNvSpPr txBox="1"/>
          <p:nvPr/>
        </p:nvSpPr>
        <p:spPr>
          <a:xfrm>
            <a:off x="5897880" y="306324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334155"/>
                </a:solidFill>
              </a:rPr>
              <a:t>Vision + press</a:t>
            </a:r>
          </a:p>
        </p:txBody>
      </p:sp>
      <p:sp>
        <p:nvSpPr>
          <p:cNvPr id="12" name="Box 12"/>
          <p:cNvSpPr/>
          <p:nvPr/>
        </p:nvSpPr>
        <p:spPr>
          <a:xfrm>
            <a:off x="7589520" y="3063240"/>
            <a:ext cx="1463040" cy="292608"/>
          </a:xfrm>
          <a:prstGeom prst="roundRect">
            <a:avLst/>
          </a:prstGeom>
          <a:solidFill>
            <a:srgbClr val="F59E0B"/>
          </a:solidFill>
        </p:spPr>
      </p:sp>
      <p:sp>
        <p:nvSpPr>
          <p:cNvPr id="13" name="TextBox 13"/>
          <p:cNvSpPr txBox="1"/>
          <p:nvPr/>
        </p:nvSpPr>
        <p:spPr>
          <a:xfrm>
            <a:off x="5897880" y="3749039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334155"/>
                </a:solidFill>
              </a:rPr>
              <a:t>Robotic hand posture</a:t>
            </a:r>
          </a:p>
        </p:txBody>
      </p:sp>
      <p:sp>
        <p:nvSpPr>
          <p:cNvPr id="14" name="Box 14"/>
          <p:cNvSpPr/>
          <p:nvPr/>
        </p:nvSpPr>
        <p:spPr>
          <a:xfrm>
            <a:off x="7589520" y="3749039"/>
            <a:ext cx="3474720" cy="292608"/>
          </a:xfrm>
          <a:prstGeom prst="roundRect">
            <a:avLst/>
          </a:prstGeom>
          <a:solidFill>
            <a:srgbClr val="EF4444"/>
          </a:solidFill>
        </p:spPr>
      </p:sp>
      <p:sp>
        <p:nvSpPr>
          <p:cNvPr id="15" name="TextBox 15"/>
          <p:cNvSpPr txBox="1"/>
          <p:nvPr/>
        </p:nvSpPr>
        <p:spPr>
          <a:xfrm>
            <a:off x="5897880" y="4434840"/>
            <a:ext cx="18288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900">
                <a:solidFill>
                  <a:srgbClr val="334155"/>
                </a:solidFill>
              </a:rPr>
              <a:t>Hand + arm motion</a:t>
            </a:r>
          </a:p>
        </p:txBody>
      </p:sp>
      <p:sp>
        <p:nvSpPr>
          <p:cNvPr id="16" name="Box 16"/>
          <p:cNvSpPr/>
          <p:nvPr/>
        </p:nvSpPr>
        <p:spPr>
          <a:xfrm>
            <a:off x="7589520" y="4434840"/>
            <a:ext cx="4480560" cy="292608"/>
          </a:xfrm>
          <a:prstGeom prst="roundRect">
            <a:avLst/>
          </a:prstGeom>
          <a:solidFill>
            <a:srgbClr val="DC2626"/>
          </a:solidFill>
        </p:spPr>
      </p:sp>
      <p:sp>
        <p:nvSpPr>
          <p:cNvPr id="17" name="TextBox 17"/>
          <p:cNvSpPr txBox="1"/>
          <p:nvPr/>
        </p:nvSpPr>
        <p:spPr>
          <a:xfrm>
            <a:off x="5943600" y="5440680"/>
            <a:ext cx="5029200" cy="384048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EAB308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100">
                <a:solidFill>
                  <a:srgbClr val="0F172A"/>
                </a:solidFill>
              </a:rPr>
              <a:t>Lower power is critical for compact field rigs and in-vehicle endurance testing.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6. Easy replacement of parts reduces downtime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38912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Service model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38912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Pins, tips, springs, screws, cameras, brackets, harnesses, and actuator modules are individually replaceable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A failed module can be removed without replacing the full jig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Technicians can stock inexpensive spare parts and restore operation quickly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Production downtime is lower because troubleshooting is localized and visible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77840" y="1143000"/>
            <a:ext cx="521208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300" b="1">
                <a:solidFill>
                  <a:srgbClr val="0F172A"/>
                </a:solidFill>
              </a:rPr>
              <a:t>Exploded replaceable module concept</a:t>
            </a:r>
          </a:p>
        </p:txBody>
      </p:sp>
      <p:sp>
        <p:nvSpPr>
          <p:cNvPr id="7" name="Box 7"/>
          <p:cNvSpPr/>
          <p:nvPr/>
        </p:nvSpPr>
        <p:spPr>
          <a:xfrm>
            <a:off x="5715000" y="2743200"/>
            <a:ext cx="594360" cy="457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334155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669280" y="3273552"/>
            <a:ext cx="73152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334155"/>
                </a:solidFill>
              </a:rPr>
              <a:t>tip</a:t>
            </a:r>
          </a:p>
        </p:txBody>
      </p:sp>
      <p:sp>
        <p:nvSpPr>
          <p:cNvPr id="9" name="Line 9"/>
          <p:cNvSpPr/>
          <p:nvPr/>
        </p:nvSpPr>
        <p:spPr>
          <a:xfrm flipH="0" flipV="0">
            <a:off x="6318504" y="2971800"/>
            <a:ext cx="146304" cy="1"/>
          </a:xfrm>
          <a:prstGeom prst="line">
            <a:avLst/>
          </a:prstGeom>
          <a:ln w="15240">
            <a:solidFill>
              <a:srgbClr val="64748B"/>
            </a:solidFill>
            <a:headEnd type="triangle"/>
          </a:ln>
        </p:spPr>
      </p:sp>
      <p:sp>
        <p:nvSpPr>
          <p:cNvPr id="10" name="Box 10"/>
          <p:cNvSpPr/>
          <p:nvPr/>
        </p:nvSpPr>
        <p:spPr>
          <a:xfrm>
            <a:off x="6492240" y="2971800"/>
            <a:ext cx="594360" cy="457200"/>
          </a:xfrm>
          <a:prstGeom prst="roundRect">
            <a:avLst/>
          </a:prstGeom>
          <a:solidFill>
            <a:srgbClr val="EAB308"/>
          </a:solidFill>
          <a:ln w="12700">
            <a:solidFill>
              <a:srgbClr val="334155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6446520" y="3502152"/>
            <a:ext cx="73152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334155"/>
                </a:solidFill>
              </a:rPr>
              <a:t>spring</a:t>
            </a:r>
          </a:p>
        </p:txBody>
      </p:sp>
      <p:sp>
        <p:nvSpPr>
          <p:cNvPr id="12" name="Line 12"/>
          <p:cNvSpPr/>
          <p:nvPr/>
        </p:nvSpPr>
        <p:spPr>
          <a:xfrm flipH="0" flipV="1">
            <a:off x="7095744" y="2971800"/>
            <a:ext cx="146304" cy="228600"/>
          </a:xfrm>
          <a:prstGeom prst="line">
            <a:avLst/>
          </a:prstGeom>
          <a:ln w="15240">
            <a:solidFill>
              <a:srgbClr val="64748B"/>
            </a:solidFill>
            <a:headEnd type="triangle"/>
          </a:ln>
        </p:spPr>
      </p:sp>
      <p:sp>
        <p:nvSpPr>
          <p:cNvPr id="13" name="Box 13"/>
          <p:cNvSpPr/>
          <p:nvPr/>
        </p:nvSpPr>
        <p:spPr>
          <a:xfrm>
            <a:off x="7269480" y="2743200"/>
            <a:ext cx="594360" cy="45720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334155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7223760" y="3273552"/>
            <a:ext cx="73152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334155"/>
                </a:solidFill>
              </a:rPr>
              <a:t>pin shaft</a:t>
            </a:r>
          </a:p>
        </p:txBody>
      </p:sp>
      <p:sp>
        <p:nvSpPr>
          <p:cNvPr id="15" name="Line 15"/>
          <p:cNvSpPr/>
          <p:nvPr/>
        </p:nvSpPr>
        <p:spPr>
          <a:xfrm flipH="0" flipV="0">
            <a:off x="7872983" y="2971800"/>
            <a:ext cx="146304" cy="1"/>
          </a:xfrm>
          <a:prstGeom prst="line">
            <a:avLst/>
          </a:prstGeom>
          <a:ln w="15240">
            <a:solidFill>
              <a:srgbClr val="64748B"/>
            </a:solidFill>
            <a:headEnd type="triangle"/>
          </a:ln>
        </p:spPr>
      </p:sp>
      <p:sp>
        <p:nvSpPr>
          <p:cNvPr id="16" name="Box 16"/>
          <p:cNvSpPr/>
          <p:nvPr/>
        </p:nvSpPr>
        <p:spPr>
          <a:xfrm>
            <a:off x="8046720" y="2971800"/>
            <a:ext cx="594360" cy="457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334155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001000" y="3502152"/>
            <a:ext cx="73152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334155"/>
                </a:solidFill>
              </a:rPr>
              <a:t>actuator</a:t>
            </a:r>
          </a:p>
        </p:txBody>
      </p:sp>
      <p:sp>
        <p:nvSpPr>
          <p:cNvPr id="18" name="Line 18"/>
          <p:cNvSpPr/>
          <p:nvPr/>
        </p:nvSpPr>
        <p:spPr>
          <a:xfrm flipH="0" flipV="1">
            <a:off x="8650224" y="2971800"/>
            <a:ext cx="146304" cy="228600"/>
          </a:xfrm>
          <a:prstGeom prst="line">
            <a:avLst/>
          </a:prstGeom>
          <a:ln w="15240">
            <a:solidFill>
              <a:srgbClr val="64748B"/>
            </a:solidFill>
            <a:headEnd type="triangle"/>
          </a:ln>
        </p:spPr>
      </p:sp>
      <p:sp>
        <p:nvSpPr>
          <p:cNvPr id="19" name="Box 19"/>
          <p:cNvSpPr/>
          <p:nvPr/>
        </p:nvSpPr>
        <p:spPr>
          <a:xfrm>
            <a:off x="8823960" y="2743200"/>
            <a:ext cx="594360" cy="457200"/>
          </a:xfrm>
          <a:prstGeom prst="roundRect">
            <a:avLst/>
          </a:prstGeom>
          <a:solidFill>
            <a:srgbClr val="22C55E"/>
          </a:solidFill>
          <a:ln w="12700">
            <a:solidFill>
              <a:srgbClr val="334155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8778240" y="3273552"/>
            <a:ext cx="73152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334155"/>
                </a:solidFill>
              </a:rPr>
              <a:t>connector</a:t>
            </a:r>
          </a:p>
        </p:txBody>
      </p:sp>
      <p:sp>
        <p:nvSpPr>
          <p:cNvPr id="21" name="Line 21"/>
          <p:cNvSpPr/>
          <p:nvPr/>
        </p:nvSpPr>
        <p:spPr>
          <a:xfrm flipH="0" flipV="0">
            <a:off x="9427464" y="2971800"/>
            <a:ext cx="146304" cy="1"/>
          </a:xfrm>
          <a:prstGeom prst="line">
            <a:avLst/>
          </a:prstGeom>
          <a:ln w="15240">
            <a:solidFill>
              <a:srgbClr val="64748B"/>
            </a:solidFill>
            <a:headEnd type="triangle"/>
          </a:ln>
        </p:spPr>
      </p:sp>
      <p:sp>
        <p:nvSpPr>
          <p:cNvPr id="22" name="Box 22"/>
          <p:cNvSpPr/>
          <p:nvPr/>
        </p:nvSpPr>
        <p:spPr>
          <a:xfrm>
            <a:off x="9601200" y="2971800"/>
            <a:ext cx="594360" cy="45720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334155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9555480" y="3502152"/>
            <a:ext cx="73152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00">
                <a:solidFill>
                  <a:srgbClr val="334155"/>
                </a:solidFill>
              </a:rPr>
              <a:t>mount plate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400800" y="4206240"/>
            <a:ext cx="3474720" cy="22860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200" b="1">
                <a:solidFill>
                  <a:srgbClr val="14532D"/>
                </a:solidFill>
              </a:rPr>
              <a:t>Replace only the worn/faulty component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577840" y="5074920"/>
            <a:ext cx="5394960" cy="53035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7F1D1D"/>
                </a:solidFill>
              </a:rPr>
              <a:t>Robotic hand repair often requires disassembling fingers, gears, tendons, encoders, and recalibrating the entire mechanism.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7. Customizable knob-turning modules are simpler than robotic gripping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754880" cy="32004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Knob module capabilities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75488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Dedicated servo/stepper module can rotate HVAC, volume, selector, and menu knobs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Adapters can be 3D printed or machined for different knob shapes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Can measure commanded angle, detent count, torque behavior, speed, direction, and end stops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Can support push-turn knobs by combining a linear press pin with rotary actuation</a:t>
            </a:r>
          </a:p>
        </p:txBody>
      </p:sp>
      <p:sp>
        <p:nvSpPr>
          <p:cNvPr id="6" name="Ellipse 6"/>
          <p:cNvSpPr/>
          <p:nvPr/>
        </p:nvSpPr>
        <p:spPr>
          <a:xfrm>
            <a:off x="6492240" y="1874519"/>
            <a:ext cx="1828800" cy="182880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334155"/>
            </a:solidFill>
          </a:ln>
        </p:spPr>
      </p:sp>
      <p:sp>
        <p:nvSpPr>
          <p:cNvPr id="7" name="Ellipse 7"/>
          <p:cNvSpPr/>
          <p:nvPr/>
        </p:nvSpPr>
        <p:spPr>
          <a:xfrm>
            <a:off x="6995160" y="2377440"/>
            <a:ext cx="822960" cy="8229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334155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7086600" y="2697480"/>
            <a:ext cx="594360" cy="13716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0F172A"/>
                </a:solidFill>
              </a:rPr>
              <a:t>KNOB</a:t>
            </a:r>
          </a:p>
        </p:txBody>
      </p:sp>
      <p:sp>
        <p:nvSpPr>
          <p:cNvPr id="9" name="Box 9"/>
          <p:cNvSpPr/>
          <p:nvPr/>
        </p:nvSpPr>
        <p:spPr>
          <a:xfrm>
            <a:off x="9144000" y="2148840"/>
            <a:ext cx="1051560" cy="6858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9326880" y="2331720"/>
            <a:ext cx="68580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stepper</a:t>
            </a:r>
          </a:p>
          <a:p>
            <a:pPr algn="l"/>
            <a:r>
              <a:rPr lang="en-US" sz="800" b="1">
                <a:solidFill>
                  <a:srgbClr val="FFFFFF"/>
                </a:solidFill>
              </a:rPr>
              <a:t>servo</a:t>
            </a:r>
          </a:p>
        </p:txBody>
      </p:sp>
      <p:sp>
        <p:nvSpPr>
          <p:cNvPr id="11" name="Line 11"/>
          <p:cNvSpPr/>
          <p:nvPr/>
        </p:nvSpPr>
        <p:spPr>
          <a:xfrm flipH="0" flipV="1">
            <a:off x="8321040" y="2496312"/>
            <a:ext cx="822960" cy="292607"/>
          </a:xfrm>
          <a:prstGeom prst="line">
            <a:avLst/>
          </a:prstGeom>
          <a:ln w="38100">
            <a:solidFill>
              <a:srgbClr val="2563EB"/>
            </a:solidFill>
            <a:headEnd type="triangle"/>
          </a:ln>
        </p:spPr>
      </p:sp>
      <p:sp>
        <p:nvSpPr>
          <p:cNvPr id="12" name="Line 12"/>
          <p:cNvSpPr/>
          <p:nvPr/>
        </p:nvSpPr>
        <p:spPr>
          <a:xfrm flipH="0" flipV="0">
            <a:off x="7406640" y="1554480"/>
            <a:ext cx="685800" cy="502920"/>
          </a:xfrm>
          <a:prstGeom prst="line">
            <a:avLst/>
          </a:prstGeom>
          <a:ln w="25400">
            <a:solidFill>
              <a:srgbClr val="F97316"/>
            </a:solidFill>
            <a:headEnd type="triangle"/>
          </a:ln>
        </p:spPr>
      </p:sp>
      <p:sp>
        <p:nvSpPr>
          <p:cNvPr id="13" name="TextBox 13"/>
          <p:cNvSpPr txBox="1"/>
          <p:nvPr/>
        </p:nvSpPr>
        <p:spPr>
          <a:xfrm>
            <a:off x="7955279" y="1307592"/>
            <a:ext cx="91440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9A3412"/>
                </a:solidFill>
              </a:rPr>
              <a:t>rotation</a:t>
            </a:r>
          </a:p>
          <a:p>
            <a:pPr algn="l"/>
            <a:r>
              <a:rPr lang="en-US" sz="800">
                <a:solidFill>
                  <a:srgbClr val="9A3412"/>
                </a:solidFill>
              </a:rPr>
              <a:t>feedback</a:t>
            </a:r>
          </a:p>
        </p:txBody>
      </p:sp>
      <p:sp>
        <p:nvSpPr>
          <p:cNvPr id="14" name="Line 14"/>
          <p:cNvSpPr/>
          <p:nvPr/>
        </p:nvSpPr>
        <p:spPr>
          <a:xfrm flipH="0" flipV="1">
            <a:off x="7406640" y="3337560"/>
            <a:ext cx="1" cy="411479"/>
          </a:xfrm>
          <a:prstGeom prst="line">
            <a:avLst/>
          </a:prstGeom>
          <a:ln w="25400">
            <a:solidFill>
              <a:srgbClr val="16A34A"/>
            </a:solidFill>
            <a:headEnd type="triangle"/>
          </a:ln>
        </p:spPr>
      </p:sp>
      <p:sp>
        <p:nvSpPr>
          <p:cNvPr id="15" name="TextBox 15"/>
          <p:cNvSpPr txBox="1"/>
          <p:nvPr/>
        </p:nvSpPr>
        <p:spPr>
          <a:xfrm>
            <a:off x="6876288" y="3822191"/>
            <a:ext cx="1188720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>
                <a:solidFill>
                  <a:srgbClr val="14532D"/>
                </a:solidFill>
              </a:rPr>
              <a:t>optional</a:t>
            </a:r>
          </a:p>
          <a:p>
            <a:pPr algn="l"/>
            <a:r>
              <a:rPr lang="en-US" sz="800">
                <a:solidFill>
                  <a:srgbClr val="14532D"/>
                </a:solidFill>
              </a:rPr>
              <a:t>push action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89320" y="5074920"/>
            <a:ext cx="5257800" cy="50292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C084FC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Purpose-built rotary modules are more repeatable than asking robotic fingers to grip, twist, avoid slip, and maintain force.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8. Compact and portable: can move between bench, lab, field, and production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663440" cy="3200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Portability benefits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66344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No large robot arm, safety cage, or heavy controller cabinet is required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Can be built as a bench-top or carry-case system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Faster setup at engineering desks, vehicle test bays, or field service locations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Smaller footprint improves usability in crowded cabins and production lines</a:t>
            </a:r>
          </a:p>
        </p:txBody>
      </p:sp>
      <p:sp>
        <p:nvSpPr>
          <p:cNvPr id="6" name="Box 6"/>
          <p:cNvSpPr/>
          <p:nvPr/>
        </p:nvSpPr>
        <p:spPr>
          <a:xfrm>
            <a:off x="6400800" y="1828800"/>
            <a:ext cx="3657600" cy="2377440"/>
          </a:xfrm>
          <a:prstGeom prst="roundRect">
            <a:avLst/>
          </a:prstGeom>
          <a:solidFill>
            <a:srgbClr val="E2E8F0"/>
          </a:solidFill>
          <a:ln w="12700">
            <a:solidFill>
              <a:srgbClr val="334155"/>
            </a:solidFill>
          </a:ln>
        </p:spPr>
      </p:sp>
      <p:sp>
        <p:nvSpPr>
          <p:cNvPr id="7" name="Box 7"/>
          <p:cNvSpPr/>
          <p:nvPr/>
        </p:nvSpPr>
        <p:spPr>
          <a:xfrm>
            <a:off x="7543800" y="1508760"/>
            <a:ext cx="1371600" cy="411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334155"/>
            </a:solidFill>
          </a:ln>
        </p:spPr>
      </p:sp>
      <p:sp>
        <p:nvSpPr>
          <p:cNvPr id="8" name="Box 8"/>
          <p:cNvSpPr/>
          <p:nvPr/>
        </p:nvSpPr>
        <p:spPr>
          <a:xfrm>
            <a:off x="6720840" y="2240280"/>
            <a:ext cx="3017520" cy="1143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64748B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7223760" y="2679192"/>
            <a:ext cx="210312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000" b="1">
                <a:solidFill>
                  <a:srgbClr val="FFFFFF"/>
                </a:solidFill>
              </a:rPr>
              <a:t>portable HMI test jig</a:t>
            </a:r>
          </a:p>
        </p:txBody>
      </p:sp>
      <p:sp>
        <p:nvSpPr>
          <p:cNvPr id="10" name="Line 10"/>
          <p:cNvSpPr/>
          <p:nvPr/>
        </p:nvSpPr>
        <p:spPr>
          <a:xfrm flipH="0" flipV="0">
            <a:off x="7040880" y="1965960"/>
            <a:ext cx="1" cy="274320"/>
          </a:xfrm>
          <a:prstGeom prst="line">
            <a:avLst/>
          </a:prstGeom>
          <a:ln w="25400">
            <a:solidFill>
              <a:srgbClr val="F97316"/>
            </a:solidFill>
            <a:headEnd type="triangle"/>
          </a:ln>
        </p:spPr>
      </p:sp>
      <p:sp>
        <p:nvSpPr>
          <p:cNvPr id="11" name="Line 11"/>
          <p:cNvSpPr/>
          <p:nvPr/>
        </p:nvSpPr>
        <p:spPr>
          <a:xfrm flipH="0" flipV="0">
            <a:off x="7589520" y="1965960"/>
            <a:ext cx="1" cy="274320"/>
          </a:xfrm>
          <a:prstGeom prst="line">
            <a:avLst/>
          </a:prstGeom>
          <a:ln w="25400">
            <a:solidFill>
              <a:srgbClr val="F97316"/>
            </a:solidFill>
            <a:headEnd type="triangle"/>
          </a:ln>
        </p:spPr>
      </p:sp>
      <p:sp>
        <p:nvSpPr>
          <p:cNvPr id="12" name="Line 12"/>
          <p:cNvSpPr/>
          <p:nvPr/>
        </p:nvSpPr>
        <p:spPr>
          <a:xfrm flipH="0" flipV="0">
            <a:off x="8138160" y="1965960"/>
            <a:ext cx="1" cy="274320"/>
          </a:xfrm>
          <a:prstGeom prst="line">
            <a:avLst/>
          </a:prstGeom>
          <a:ln w="25400">
            <a:solidFill>
              <a:srgbClr val="F97316"/>
            </a:solidFill>
            <a:headEnd type="triangle"/>
          </a:ln>
        </p:spPr>
      </p:sp>
      <p:sp>
        <p:nvSpPr>
          <p:cNvPr id="13" name="Line 13"/>
          <p:cNvSpPr/>
          <p:nvPr/>
        </p:nvSpPr>
        <p:spPr>
          <a:xfrm flipH="0" flipV="0">
            <a:off x="8686800" y="1965960"/>
            <a:ext cx="1" cy="274320"/>
          </a:xfrm>
          <a:prstGeom prst="line">
            <a:avLst/>
          </a:prstGeom>
          <a:ln w="25400">
            <a:solidFill>
              <a:srgbClr val="F97316"/>
            </a:solidFill>
            <a:headEnd type="triangle"/>
          </a:ln>
        </p:spPr>
      </p:sp>
      <p:sp>
        <p:nvSpPr>
          <p:cNvPr id="14" name="Line 14"/>
          <p:cNvSpPr/>
          <p:nvPr/>
        </p:nvSpPr>
        <p:spPr>
          <a:xfrm flipH="0" flipV="0">
            <a:off x="9235440" y="1965960"/>
            <a:ext cx="1" cy="274320"/>
          </a:xfrm>
          <a:prstGeom prst="line">
            <a:avLst/>
          </a:prstGeom>
          <a:ln w="25400">
            <a:solidFill>
              <a:srgbClr val="F97316"/>
            </a:solidFill>
            <a:headEnd type="triangle"/>
          </a:ln>
        </p:spPr>
      </p:sp>
      <p:sp>
        <p:nvSpPr>
          <p:cNvPr id="15" name="Ellipse 15"/>
          <p:cNvSpPr/>
          <p:nvPr/>
        </p:nvSpPr>
        <p:spPr>
          <a:xfrm>
            <a:off x="9372600" y="1901952"/>
            <a:ext cx="411480" cy="25603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15803D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6492240" y="4572000"/>
            <a:ext cx="3474720" cy="27432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300" b="1">
                <a:solidFill>
                  <a:srgbClr val="0F172A"/>
                </a:solidFill>
              </a:rPr>
              <a:t>Carry / mount / run automated tests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9. Lightweight and versatile enough for setup inside a moving vehicle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80060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In-vehicle testing advantage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80060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Can be clamped or mounted directly around a dashboard HMI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Lower mass and lower inertia are safer under vibration and road shock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Validates behavior under real cabin conditions: vibration, lighting, temperature, power fluctuations, and vehicle bus activity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Supports endurance testing while the vehicle is operating</a:t>
            </a:r>
          </a:p>
        </p:txBody>
      </p:sp>
      <p:sp>
        <p:nvSpPr>
          <p:cNvPr id="6" name="Box 6"/>
          <p:cNvSpPr/>
          <p:nvPr/>
        </p:nvSpPr>
        <p:spPr>
          <a:xfrm>
            <a:off x="5806440" y="3429000"/>
            <a:ext cx="5120640" cy="914400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111827"/>
            </a:solidFill>
          </a:ln>
        </p:spPr>
      </p:sp>
      <p:sp>
        <p:nvSpPr>
          <p:cNvPr id="7" name="Box 7"/>
          <p:cNvSpPr/>
          <p:nvPr/>
        </p:nvSpPr>
        <p:spPr>
          <a:xfrm>
            <a:off x="6537960" y="2331720"/>
            <a:ext cx="3474720" cy="1188720"/>
          </a:xfrm>
          <a:prstGeom prst="roundRect">
            <a:avLst/>
          </a:prstGeom>
          <a:solidFill>
            <a:srgbClr val="CBD5E1"/>
          </a:solidFill>
          <a:ln w="12700">
            <a:solidFill>
              <a:srgbClr val="64748B"/>
            </a:solidFill>
          </a:ln>
        </p:spPr>
      </p:sp>
      <p:sp>
        <p:nvSpPr>
          <p:cNvPr id="8" name="Box 8"/>
          <p:cNvSpPr/>
          <p:nvPr/>
        </p:nvSpPr>
        <p:spPr>
          <a:xfrm>
            <a:off x="7315200" y="2606040"/>
            <a:ext cx="1508760" cy="5029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369A1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7818120" y="2770632"/>
            <a:ext cx="45720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HMI</a:t>
            </a:r>
          </a:p>
        </p:txBody>
      </p:sp>
      <p:sp>
        <p:nvSpPr>
          <p:cNvPr id="10" name="Box 10"/>
          <p:cNvSpPr/>
          <p:nvPr/>
        </p:nvSpPr>
        <p:spPr>
          <a:xfrm>
            <a:off x="7086600" y="2240280"/>
            <a:ext cx="1920240" cy="9144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1" name="Box 11"/>
          <p:cNvSpPr/>
          <p:nvPr/>
        </p:nvSpPr>
        <p:spPr>
          <a:xfrm>
            <a:off x="7086600" y="3182112"/>
            <a:ext cx="1920240" cy="9144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2" name="Ellipse 12"/>
          <p:cNvSpPr/>
          <p:nvPr/>
        </p:nvSpPr>
        <p:spPr>
          <a:xfrm>
            <a:off x="6629400" y="4160520"/>
            <a:ext cx="685800" cy="68580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64748B"/>
            </a:solidFill>
          </a:ln>
        </p:spPr>
      </p:sp>
      <p:sp>
        <p:nvSpPr>
          <p:cNvPr id="13" name="Ellipse 13"/>
          <p:cNvSpPr/>
          <p:nvPr/>
        </p:nvSpPr>
        <p:spPr>
          <a:xfrm>
            <a:off x="9738360" y="4160520"/>
            <a:ext cx="685800" cy="68580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64748B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675120" y="5166360"/>
            <a:ext cx="3474720" cy="228600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100" b="1">
                <a:solidFill>
                  <a:srgbClr val="0F172A"/>
                </a:solidFill>
              </a:rPr>
              <a:t>Vehicle cabin + mounted test jig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10. Real-time data output to cloud improves traceability and analytics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489204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Data captured during tests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489204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Actuator command timing, press/hold/release states, knob angle, detent count, and torque proxy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Camera screenshots, pixel pass/fail maps, OCR/icon recognition, brightness and flicker observations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Voltage/current readings, communication bus status, serial number, operator, timestamp, and failure step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Cloud dashboards allow remote monitoring, production yield tracking, fleet test comparison, and automatic reports</a:t>
            </a:r>
          </a:p>
        </p:txBody>
      </p:sp>
      <p:sp>
        <p:nvSpPr>
          <p:cNvPr id="6" name="Box 6"/>
          <p:cNvSpPr/>
          <p:nvPr/>
        </p:nvSpPr>
        <p:spPr>
          <a:xfrm>
            <a:off x="5852160" y="2286000"/>
            <a:ext cx="914400" cy="73152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33415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925312" y="2487168"/>
            <a:ext cx="768096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Sensors</a:t>
            </a:r>
          </a:p>
          <a:p>
            <a:pPr algn="l"/>
            <a:r>
              <a:rPr lang="en-US" sz="800" b="1">
                <a:solidFill>
                  <a:srgbClr val="FFFFFF"/>
                </a:solidFill>
              </a:rPr>
              <a:t>Actuators</a:t>
            </a:r>
          </a:p>
        </p:txBody>
      </p:sp>
      <p:sp>
        <p:nvSpPr>
          <p:cNvPr id="8" name="Line 8"/>
          <p:cNvSpPr/>
          <p:nvPr/>
        </p:nvSpPr>
        <p:spPr>
          <a:xfrm flipH="0" flipV="0">
            <a:off x="6766560" y="2651760"/>
            <a:ext cx="137160" cy="1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9" name="Box 9"/>
          <p:cNvSpPr/>
          <p:nvPr/>
        </p:nvSpPr>
        <p:spPr>
          <a:xfrm>
            <a:off x="6903720" y="2286000"/>
            <a:ext cx="914400" cy="731520"/>
          </a:xfrm>
          <a:prstGeom prst="roundRect">
            <a:avLst/>
          </a:prstGeom>
          <a:solidFill>
            <a:srgbClr val="22C55E"/>
          </a:solidFill>
          <a:ln w="12700">
            <a:solidFill>
              <a:srgbClr val="334155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6976872" y="2487168"/>
            <a:ext cx="768096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11" name="Line 11"/>
          <p:cNvSpPr/>
          <p:nvPr/>
        </p:nvSpPr>
        <p:spPr>
          <a:xfrm flipH="0" flipV="0">
            <a:off x="7818120" y="2651760"/>
            <a:ext cx="137160" cy="1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12" name="Box 12"/>
          <p:cNvSpPr/>
          <p:nvPr/>
        </p:nvSpPr>
        <p:spPr>
          <a:xfrm>
            <a:off x="7955279" y="2286000"/>
            <a:ext cx="914400" cy="7315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334155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028431" y="2487168"/>
            <a:ext cx="768096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Local log</a:t>
            </a:r>
          </a:p>
        </p:txBody>
      </p:sp>
      <p:sp>
        <p:nvSpPr>
          <p:cNvPr id="14" name="Line 14"/>
          <p:cNvSpPr/>
          <p:nvPr/>
        </p:nvSpPr>
        <p:spPr>
          <a:xfrm flipH="0" flipV="0">
            <a:off x="8869680" y="2651760"/>
            <a:ext cx="137160" cy="1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15" name="Box 15"/>
          <p:cNvSpPr/>
          <p:nvPr/>
        </p:nvSpPr>
        <p:spPr>
          <a:xfrm>
            <a:off x="9006840" y="2286000"/>
            <a:ext cx="914400" cy="73152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334155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9079992" y="2487168"/>
            <a:ext cx="768096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Cloud</a:t>
            </a:r>
          </a:p>
        </p:txBody>
      </p:sp>
      <p:sp>
        <p:nvSpPr>
          <p:cNvPr id="17" name="Line 17"/>
          <p:cNvSpPr/>
          <p:nvPr/>
        </p:nvSpPr>
        <p:spPr>
          <a:xfrm flipH="0" flipV="0">
            <a:off x="9921240" y="2651760"/>
            <a:ext cx="137160" cy="1"/>
          </a:xfrm>
          <a:prstGeom prst="line">
            <a:avLst/>
          </a:prstGeom>
          <a:ln w="25400">
            <a:solidFill>
              <a:srgbClr val="2563EB"/>
            </a:solidFill>
            <a:headEnd type="triangle"/>
          </a:ln>
        </p:spPr>
      </p:sp>
      <p:sp>
        <p:nvSpPr>
          <p:cNvPr id="18" name="Box 18"/>
          <p:cNvSpPr/>
          <p:nvPr/>
        </p:nvSpPr>
        <p:spPr>
          <a:xfrm>
            <a:off x="10058400" y="2286000"/>
            <a:ext cx="914400" cy="731520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0131552" y="2487168"/>
            <a:ext cx="768096" cy="2286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20" name="Box 20"/>
          <p:cNvSpPr/>
          <p:nvPr/>
        </p:nvSpPr>
        <p:spPr>
          <a:xfrm>
            <a:off x="9875520" y="3657600"/>
            <a:ext cx="1325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</p:spPr>
      </p:sp>
      <p:sp>
        <p:nvSpPr>
          <p:cNvPr id="21" name="Box 21"/>
          <p:cNvSpPr/>
          <p:nvPr/>
        </p:nvSpPr>
        <p:spPr>
          <a:xfrm>
            <a:off x="10058400" y="4251960"/>
            <a:ext cx="164592" cy="2286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2" name="Box 22"/>
          <p:cNvSpPr/>
          <p:nvPr/>
        </p:nvSpPr>
        <p:spPr>
          <a:xfrm>
            <a:off x="10058400" y="3977640"/>
            <a:ext cx="164592" cy="5029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3" name="Box 23"/>
          <p:cNvSpPr/>
          <p:nvPr/>
        </p:nvSpPr>
        <p:spPr>
          <a:xfrm>
            <a:off x="10058400" y="3749040"/>
            <a:ext cx="164592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4" name="TextBox 24"/>
          <p:cNvSpPr txBox="1"/>
          <p:nvPr/>
        </p:nvSpPr>
        <p:spPr>
          <a:xfrm>
            <a:off x="10378440" y="3977639"/>
            <a:ext cx="54864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800" b="1">
                <a:solidFill>
                  <a:srgbClr val="334155"/>
                </a:solidFill>
              </a:rPr>
              <a:t>quality</a:t>
            </a:r>
          </a:p>
          <a:p>
            <a:pPr algn="l"/>
            <a:r>
              <a:rPr lang="en-US" sz="800" b="1">
                <a:solidFill>
                  <a:srgbClr val="334155"/>
                </a:solidFill>
              </a:rPr>
              <a:t>trends</a:t>
            </a:r>
          </a:p>
        </p:txBody>
      </p:sp>
      <p:sp>
        <p:nvSpPr>
          <p:cNvPr id="25" name="Line 25"/>
          <p:cNvSpPr/>
          <p:nvPr/>
        </p:nvSpPr>
        <p:spPr>
          <a:xfrm flipH="0" flipV="0">
            <a:off x="10058400" y="3017520"/>
            <a:ext cx="411479" cy="640080"/>
          </a:xfrm>
          <a:prstGeom prst="line">
            <a:avLst/>
          </a:prstGeom>
          <a:ln w="25400">
            <a:solidFill>
              <a:srgbClr val="7C3AED"/>
            </a:solidFill>
            <a:headEnd type="triangle"/>
          </a:ln>
        </p:spPr>
      </p:sp>
      <p:sp>
        <p:nvSpPr>
          <p:cNvPr id="26" name="TextBox 26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Comparison matrix: static jig vs. robotic hand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078992"/>
            <a:ext cx="2834640" cy="3200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100" b="1">
                <a:solidFill>
                  <a:srgbClr val="FFFFFF"/>
                </a:solidFill>
              </a:rPr>
              <a:t>Criterion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474720" y="1078992"/>
            <a:ext cx="3977639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100" b="1">
                <a:solidFill>
                  <a:srgbClr val="FFFFFF"/>
                </a:solidFill>
              </a:rPr>
              <a:t>Static Robo HMI Test Jig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35240" y="1078992"/>
            <a:ext cx="3977639" cy="3200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100" b="1">
                <a:solidFill>
                  <a:srgbClr val="FFFFFF"/>
                </a:solidFill>
              </a:rPr>
              <a:t>Robotic Hand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" y="1463040"/>
            <a:ext cx="283464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Cost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474720" y="1463040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Low to moderate: commodity parts and targeted actuators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635240" y="1463040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High: dexterous mechanics, sensors, drivers, and arm/wrist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2834640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Scalability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74720" y="1965960"/>
            <a:ext cx="3977639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Modular rails and panels scale to screen size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35240" y="1965960"/>
            <a:ext cx="3977639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Flexible but requires more reprogramming/recalibration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2920" y="2468880"/>
            <a:ext cx="283464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Curved surfaces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474720" y="2468880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Screw-adjustable pins match local height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35240" y="2468880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Needs complex pose and force control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02920" y="2971800"/>
            <a:ext cx="2834640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Verification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74720" y="2971800"/>
            <a:ext cx="3977639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Fixed cameras can monitor every pixel continuously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635240" y="2971800"/>
            <a:ext cx="3977639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Needs separate vision system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02920" y="3474720"/>
            <a:ext cx="283464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Power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474720" y="3474720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Low: only active modules consume power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35240" y="3474720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Higher: many motors and holding torque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2920" y="3977639"/>
            <a:ext cx="2834640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Serviceability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474720" y="3977639"/>
            <a:ext cx="3977639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Replace individual pins/cameras/modules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635240" y="3977639"/>
            <a:ext cx="3977639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Specialized repairs and recalibration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02920" y="4480559"/>
            <a:ext cx="283464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Vehicle use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474720" y="4480559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Compact, light, mountable in cabin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635240" y="4480559"/>
            <a:ext cx="3977639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780">
                <a:solidFill>
                  <a:srgbClr val="0F172A"/>
                </a:solidFill>
              </a:rPr>
              <a:t>Bulky and vibration-sensitive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Recommended test workflow enabled by the static jig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Ellipse 4"/>
          <p:cNvSpPr/>
          <p:nvPr/>
        </p:nvSpPr>
        <p:spPr>
          <a:xfrm>
            <a:off x="685800" y="1828800"/>
            <a:ext cx="658368" cy="6583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914400" y="2029968"/>
            <a:ext cx="22860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7200" y="2697480"/>
            <a:ext cx="11430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ctr"/>
            <a:r>
              <a:rPr lang="en-US" sz="1000" b="1">
                <a:solidFill>
                  <a:srgbClr val="0F172A"/>
                </a:solidFill>
              </a:rPr>
              <a:t>Load HMI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2879" y="3017520"/>
            <a:ext cx="169164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750">
                <a:solidFill>
                  <a:srgbClr val="334155"/>
                </a:solidFill>
              </a:rPr>
              <a:t>Align housing in nest, clamp if needed</a:t>
            </a:r>
          </a:p>
        </p:txBody>
      </p:sp>
      <p:sp>
        <p:nvSpPr>
          <p:cNvPr id="8" name="Line 8"/>
          <p:cNvSpPr/>
          <p:nvPr/>
        </p:nvSpPr>
        <p:spPr>
          <a:xfrm flipH="0" flipV="0">
            <a:off x="1344168" y="2157984"/>
            <a:ext cx="548640" cy="1"/>
          </a:xfrm>
          <a:prstGeom prst="line">
            <a:avLst/>
          </a:prstGeom>
          <a:ln w="25400">
            <a:solidFill>
              <a:srgbClr val="64748B"/>
            </a:solidFill>
            <a:headEnd type="triangle"/>
          </a:ln>
        </p:spPr>
      </p:sp>
      <p:sp>
        <p:nvSpPr>
          <p:cNvPr id="9" name="Ellipse 9"/>
          <p:cNvSpPr/>
          <p:nvPr/>
        </p:nvSpPr>
        <p:spPr>
          <a:xfrm>
            <a:off x="2560320" y="1828800"/>
            <a:ext cx="658368" cy="6583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2788920" y="2029968"/>
            <a:ext cx="22860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31720" y="2697480"/>
            <a:ext cx="11430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ctr"/>
            <a:r>
              <a:rPr lang="en-US" sz="1000" b="1">
                <a:solidFill>
                  <a:srgbClr val="0F172A"/>
                </a:solidFill>
              </a:rPr>
              <a:t>Auto-calibrate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57400" y="3017520"/>
            <a:ext cx="169164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750">
                <a:solidFill>
                  <a:srgbClr val="334155"/>
                </a:solidFill>
              </a:rPr>
              <a:t>Check pin home, camera focus, reference image</a:t>
            </a:r>
          </a:p>
        </p:txBody>
      </p:sp>
      <p:sp>
        <p:nvSpPr>
          <p:cNvPr id="13" name="Line 13"/>
          <p:cNvSpPr/>
          <p:nvPr/>
        </p:nvSpPr>
        <p:spPr>
          <a:xfrm flipH="0" flipV="0">
            <a:off x="3218687" y="2157984"/>
            <a:ext cx="548640" cy="1"/>
          </a:xfrm>
          <a:prstGeom prst="line">
            <a:avLst/>
          </a:prstGeom>
          <a:ln w="25400">
            <a:solidFill>
              <a:srgbClr val="64748B"/>
            </a:solidFill>
            <a:headEnd type="triangle"/>
          </a:ln>
        </p:spPr>
      </p:sp>
      <p:sp>
        <p:nvSpPr>
          <p:cNvPr id="14" name="Ellipse 14"/>
          <p:cNvSpPr/>
          <p:nvPr/>
        </p:nvSpPr>
        <p:spPr>
          <a:xfrm>
            <a:off x="4434840" y="1828800"/>
            <a:ext cx="658368" cy="6583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4663440" y="2029968"/>
            <a:ext cx="22860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206240" y="2697480"/>
            <a:ext cx="11430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ctr"/>
            <a:r>
              <a:rPr lang="en-US" sz="1000" b="1">
                <a:solidFill>
                  <a:srgbClr val="0F172A"/>
                </a:solidFill>
              </a:rPr>
              <a:t>Actuate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931920" y="3017520"/>
            <a:ext cx="169164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750">
                <a:solidFill>
                  <a:srgbClr val="334155"/>
                </a:solidFill>
              </a:rPr>
              <a:t>Press screen zones, buttons, switches; rotate knobs</a:t>
            </a:r>
          </a:p>
        </p:txBody>
      </p:sp>
      <p:sp>
        <p:nvSpPr>
          <p:cNvPr id="18" name="Line 18"/>
          <p:cNvSpPr/>
          <p:nvPr/>
        </p:nvSpPr>
        <p:spPr>
          <a:xfrm flipH="0" flipV="0">
            <a:off x="5093207" y="2157984"/>
            <a:ext cx="548640" cy="1"/>
          </a:xfrm>
          <a:prstGeom prst="line">
            <a:avLst/>
          </a:prstGeom>
          <a:ln w="25400">
            <a:solidFill>
              <a:srgbClr val="64748B"/>
            </a:solidFill>
            <a:headEnd type="triangle"/>
          </a:ln>
        </p:spPr>
      </p:sp>
      <p:sp>
        <p:nvSpPr>
          <p:cNvPr id="19" name="Ellipse 19"/>
          <p:cNvSpPr/>
          <p:nvPr/>
        </p:nvSpPr>
        <p:spPr>
          <a:xfrm>
            <a:off x="6309359" y="1828800"/>
            <a:ext cx="658368" cy="6583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6537959" y="2029968"/>
            <a:ext cx="22860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80759" y="2697480"/>
            <a:ext cx="11430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ctr"/>
            <a:r>
              <a:rPr lang="en-US" sz="1000" b="1">
                <a:solidFill>
                  <a:srgbClr val="0F172A"/>
                </a:solidFill>
              </a:rPr>
              <a:t>Observe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806440" y="3017520"/>
            <a:ext cx="169164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750">
                <a:solidFill>
                  <a:srgbClr val="334155"/>
                </a:solidFill>
              </a:rPr>
              <a:t>Capture camera frames and electrical/communication responses</a:t>
            </a:r>
          </a:p>
        </p:txBody>
      </p:sp>
      <p:sp>
        <p:nvSpPr>
          <p:cNvPr id="23" name="Line 23"/>
          <p:cNvSpPr/>
          <p:nvPr/>
        </p:nvSpPr>
        <p:spPr>
          <a:xfrm flipH="0" flipV="0">
            <a:off x="6967727" y="2157984"/>
            <a:ext cx="548639" cy="1"/>
          </a:xfrm>
          <a:prstGeom prst="line">
            <a:avLst/>
          </a:prstGeom>
          <a:ln w="25400">
            <a:solidFill>
              <a:srgbClr val="64748B"/>
            </a:solidFill>
            <a:headEnd type="triangle"/>
          </a:ln>
        </p:spPr>
      </p:sp>
      <p:sp>
        <p:nvSpPr>
          <p:cNvPr id="24" name="Ellipse 24"/>
          <p:cNvSpPr/>
          <p:nvPr/>
        </p:nvSpPr>
        <p:spPr>
          <a:xfrm>
            <a:off x="8183879" y="1828800"/>
            <a:ext cx="658368" cy="6583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8412480" y="2029968"/>
            <a:ext cx="22860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955279" y="2697480"/>
            <a:ext cx="11430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ctr"/>
            <a:r>
              <a:rPr lang="en-US" sz="1000" b="1">
                <a:solidFill>
                  <a:srgbClr val="0F172A"/>
                </a:solidFill>
              </a:rPr>
              <a:t>Decide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680959" y="3017520"/>
            <a:ext cx="169164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750">
                <a:solidFill>
                  <a:srgbClr val="334155"/>
                </a:solidFill>
              </a:rPr>
              <a:t>Compare against pixel, timing, voltage, current, and bus limits</a:t>
            </a:r>
          </a:p>
        </p:txBody>
      </p:sp>
      <p:sp>
        <p:nvSpPr>
          <p:cNvPr id="28" name="Line 28"/>
          <p:cNvSpPr/>
          <p:nvPr/>
        </p:nvSpPr>
        <p:spPr>
          <a:xfrm flipH="0" flipV="0">
            <a:off x="8842248" y="2157984"/>
            <a:ext cx="548639" cy="1"/>
          </a:xfrm>
          <a:prstGeom prst="line">
            <a:avLst/>
          </a:prstGeom>
          <a:ln w="25400">
            <a:solidFill>
              <a:srgbClr val="64748B"/>
            </a:solidFill>
            <a:headEnd type="triangle"/>
          </a:ln>
        </p:spPr>
      </p:sp>
      <p:sp>
        <p:nvSpPr>
          <p:cNvPr id="29" name="Ellipse 29"/>
          <p:cNvSpPr/>
          <p:nvPr/>
        </p:nvSpPr>
        <p:spPr>
          <a:xfrm>
            <a:off x="10058400" y="1828800"/>
            <a:ext cx="658368" cy="6583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10287000" y="2029968"/>
            <a:ext cx="228600" cy="10972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829800" y="2697480"/>
            <a:ext cx="1143000" cy="201168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ctr"/>
            <a:r>
              <a:rPr lang="en-US" sz="1000" b="1">
                <a:solidFill>
                  <a:srgbClr val="0F172A"/>
                </a:solidFill>
              </a:rPr>
              <a:t>Report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555480" y="3017520"/>
            <a:ext cx="169164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750">
                <a:solidFill>
                  <a:srgbClr val="334155"/>
                </a:solidFill>
              </a:rPr>
              <a:t>Store result locally and push record to cloud dashboard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5166360"/>
            <a:ext cx="1024128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300" b="1">
                <a:solidFill>
                  <a:srgbClr val="0F172A"/>
                </a:solidFill>
              </a:rPr>
              <a:t>This workflow links physical action, visual proof, electrical data, and cloud traceability in a single repeatable cycle.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Practical bill-of-materials strategy keeps the design affordable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5212080" cy="32004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Use standard, replaceable components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521208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T-slot aluminum extrusion, corner brackets, T-nuts, base plates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Removable aluminum/Delrin panels, dowel pins, captive screws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Spring/pogo pins, threaded adjusters, rubber/stylus tips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Small solenoids, servos, or stepper modules for press/turn actions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USB/MIPI/IP cameras, LED lighting, Raspberry Pi/industrial PC/PLC/DAQ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Panel connectors, terminal blocks, fuses, relays, harness labels, strain reliefs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400800" y="1234440"/>
            <a:ext cx="4297680" cy="2743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1600" b="1">
                <a:solidFill>
                  <a:srgbClr val="0F172A"/>
                </a:solidFill>
              </a:rPr>
              <a:t>Design principle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00800" y="1737360"/>
            <a:ext cx="4434840" cy="114300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EAB308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>
                <a:solidFill>
                  <a:srgbClr val="0F172A"/>
                </a:solidFill>
              </a:rPr>
              <a:t>Spend money only on the parts that directly improve repeatability, measurement quality, uptime, or safety. Avoid paying for robotic dexterity that the HMI test does not need.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00800" y="3337560"/>
            <a:ext cx="443484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Where to invest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00800" y="3685032"/>
            <a:ext cx="4434840" cy="1892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Good alignment hardware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Reliable connectors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Stable camera mounting and lighting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Safe power distribution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Clear labels and service loops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Cloud-ready logging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Balanced view: limitations and mitigations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502920" y="1143000"/>
            <a:ext cx="5074920" cy="3200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Potential limitation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1490472"/>
            <a:ext cx="507492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Less general-purpose than a robotic hand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Requires initial fixture setup for each HMI family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Pin locations must be updated when the product layout changes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Very complex gestures may need additional modules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72200" y="1143000"/>
            <a:ext cx="507492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Mitigation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172200" y="1490472"/>
            <a:ext cx="507492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Use modular rails, removable panels, and reusable controller/camera architecture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Maintain product-specific pin plates and knob adapters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Use screw-adjustable pins and calibration templates for geometry changes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Add specialized modules only where needed: swipe, long press, push-turn, rotary, lighting, or environmental sensors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Important points to highlight in presentations or proposals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640080" y="107899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43000" y="107899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Cost-effective: avoids unnecessary robotic hand complexity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263640" y="107899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766560" y="107899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Modular: scalable for big and small HMI screens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0080" y="203911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43000" y="203911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Adjustable: screw-height pins work on curved/uneven surfaces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63640" y="203911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766560" y="203911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Vision-rich: constant camera feedback for pixel-level validation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0080" y="299923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43000" y="299923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Low power: suitable for portable and vehicle-powered operation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263640" y="299923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66560" y="299923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Serviceable: parts are simple, cheap, and easy to replace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080" y="395935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43000" y="395935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Customizable: dedicated modules for knobs, buttons, switches, touch, and push-turn controls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263640" y="395935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66560" y="395935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Compact: carryable and bench/field/vehicle deployable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0080" y="491947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3000" y="491947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Lightweight: can be installed inside moving vehicles for real-world testing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263640" y="4919472"/>
            <a:ext cx="41148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D4ED8"/>
            </a:solidFill>
          </a:ln>
        </p:spPr>
        <p:txBody>
          <a:bodyPr wrap="square" lIns="91440" tIns="45720" rIns="91440" bIns="45720"/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66560" y="4919472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00">
                <a:solidFill>
                  <a:srgbClr val="0F172A"/>
                </a:solidFill>
              </a:rPr>
              <a:t>Connected: real-time data logging and cloud output for traceability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" y="201168"/>
            <a:ext cx="11567160" cy="50292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3000" b="1">
                <a:solidFill>
                  <a:srgbClr val="0F172A"/>
                </a:solidFill>
              </a:rPr>
              <a:t>Final conclusion</a:t>
            </a:r>
          </a:p>
        </p:txBody>
      </p:sp>
      <p:sp>
        <p:nvSpPr>
          <p:cNvPr id="3" name="Box 3"/>
          <p:cNvSpPr/>
          <p:nvPr/>
        </p:nvSpPr>
        <p:spPr>
          <a:xfrm>
            <a:off x="320040" y="777240"/>
            <a:ext cx="11521440" cy="36576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TextBox 4"/>
          <p:cNvSpPr txBox="1"/>
          <p:nvPr/>
        </p:nvSpPr>
        <p:spPr>
          <a:xfrm>
            <a:off x="685800" y="1234440"/>
            <a:ext cx="106070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2200" b="1">
                <a:solidFill>
                  <a:srgbClr val="0F172A"/>
                </a:solidFill>
              </a:rPr>
              <a:t>The static Robo HMI test jig is the better solution when the job is repeatable HMI validation.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2148840"/>
            <a:ext cx="1024128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Why it wins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496312"/>
            <a:ext cx="10241280" cy="2624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pPr algn="l"/>
            <a:r>
              <a:rPr lang="en-US" sz="1050">
                <a:solidFill>
                  <a:srgbClr val="0F172A"/>
                </a:solidFill>
              </a:rPr>
              <a:t>• It directly targets the required actions: press, touch, turn, observe, measure, record, and report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It provides stronger repeatability than human-like manipulation for known HMI layouts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It integrates fixed visual feedback and cloud data more naturally than a robotic hand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It is cheaper to build, cheaper to power, easier to repair, and easier to deploy inside vehicles</a:t>
            </a:r>
          </a:p>
          <a:p>
            <a:pPr algn="l"/>
            <a:r>
              <a:rPr lang="en-US" sz="1050">
                <a:solidFill>
                  <a:srgbClr val="0F172A"/>
                </a:solidFill>
              </a:rPr>
              <a:t>• It remains versatile through modular panels, adjustable pins, swappable actuators, and configurable software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5486400"/>
            <a:ext cx="10241280" cy="43891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91440" tIns="45720" rIns="91440" bIns="45720"/>
          <a:lstStyle/>
          <a:p>
            <a:pPr algn="True"/>
            <a:r>
              <a:rPr lang="en-US" sz="1300" b="1">
                <a:solidFill>
                  <a:srgbClr val="FFFFFF"/>
                </a:solidFill>
              </a:rPr>
              <a:t>Recommendation: position the jig as a purpose-built, modular, cloud-connected HMI validation platform—not as a general robot substitute.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20040" y="6510528"/>
            <a:ext cx="7315200" cy="18288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pPr algn="l"/>
            <a:r>
              <a:rPr lang="en-US" sz="750">
                <a:solidFill>
                  <a:srgbClr val="64748B"/>
                </a:solidFill>
              </a:rPr>
              <a:t>Static Robo HMI Test Jig research report • slide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tic Robo HMI Theme">
  <a:themeElements>
    <a:clrScheme name="Office">
      <a:dk1>
        <a:srgbClr val="0F172A"/>
      </a:dk1>
      <a:lt1>
        <a:srgbClr val="FFFFFF"/>
      </a:lt1>
      <a:dk2>
        <a:srgbClr val="334155"/>
      </a:dk2>
      <a:lt2>
        <a:srgbClr val="F8FAFC"/>
      </a:lt2>
      <a:accent1>
        <a:srgbClr val="2563EB"/>
      </a:accent1>
      <a:accent2>
        <a:srgbClr val="16A34A"/>
      </a:accent2>
      <a:accent3>
        <a:srgbClr val="EA580C"/>
      </a:accent3>
      <a:accent4>
        <a:srgbClr val="7C3AED"/>
      </a:accent4>
      <a:accent5>
        <a:srgbClr val="0EA5E9"/>
      </a:accent5>
      <a:accent6>
        <a:srgbClr val="DC2626"/>
      </a:accent6>
      <a:hlink>
        <a:srgbClr val="2563EB"/>
      </a:hlink>
      <a:folHlink>
        <a:srgbClr val="7C3AED"/>
      </a:folHlink>
    </a:clrScheme>
    <a:fontScheme name="Office">
      <a:majorFont>
        <a:latin typeface="Aptos Display"/>
      </a:majorFont>
      <a:minorFont>
        <a:latin typeface="Aptos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